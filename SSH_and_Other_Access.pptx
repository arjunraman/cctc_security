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Lst>
  <p:sldSz cy="5143500" cx="9144000"/>
  <p:notesSz cx="6858000" cy="9144000"/>
  <p:embeddedFontLst>
    <p:embeddedFont>
      <p:font typeface="Raleway"/>
      <p:regular r:id="rId72"/>
      <p:bold r:id="rId73"/>
      <p:italic r:id="rId74"/>
      <p:boldItalic r:id="rId75"/>
    </p:embeddedFont>
    <p:embeddedFont>
      <p:font typeface="Lato"/>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Raleway-bold.fntdata"/><Relationship Id="rId72" Type="http://schemas.openxmlformats.org/officeDocument/2006/relationships/font" Target="fonts/Raleway-regular.fntdata"/><Relationship Id="rId31" Type="http://schemas.openxmlformats.org/officeDocument/2006/relationships/slide" Target="slides/slide27.xml"/><Relationship Id="rId75" Type="http://schemas.openxmlformats.org/officeDocument/2006/relationships/font" Target="fonts/Raleway-boldItalic.fntdata"/><Relationship Id="rId30" Type="http://schemas.openxmlformats.org/officeDocument/2006/relationships/slide" Target="slides/slide26.xml"/><Relationship Id="rId74" Type="http://schemas.openxmlformats.org/officeDocument/2006/relationships/font" Target="fonts/Raleway-italic.fntdata"/><Relationship Id="rId33" Type="http://schemas.openxmlformats.org/officeDocument/2006/relationships/slide" Target="slides/slide29.xml"/><Relationship Id="rId77" Type="http://schemas.openxmlformats.org/officeDocument/2006/relationships/font" Target="fonts/Lato-bold.fntdata"/><Relationship Id="rId32" Type="http://schemas.openxmlformats.org/officeDocument/2006/relationships/slide" Target="slides/slide28.xml"/><Relationship Id="rId76" Type="http://schemas.openxmlformats.org/officeDocument/2006/relationships/font" Target="fonts/Lato-regular.fntdata"/><Relationship Id="rId35" Type="http://schemas.openxmlformats.org/officeDocument/2006/relationships/slide" Target="slides/slide31.xml"/><Relationship Id="rId79" Type="http://schemas.openxmlformats.org/officeDocument/2006/relationships/font" Target="fonts/Lato-boldItalic.fntdata"/><Relationship Id="rId34" Type="http://schemas.openxmlformats.org/officeDocument/2006/relationships/slide" Target="slides/slide30.xml"/><Relationship Id="rId78" Type="http://schemas.openxmlformats.org/officeDocument/2006/relationships/font" Target="fonts/Lato-italic.fntdata"/><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708ebc31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708ebc31e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8219a844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8219a844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8219a84420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8219a84420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8219a8442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8219a8442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8a859ec5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28a859ec53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8219a84420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8219a8442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a87a29b3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2a87a29b3a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8219a84420_0_1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28219a84420_0_15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8219a8442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8219a8442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8219a84420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8219a84420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8219a84420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8219a84420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8219a84420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8219a84420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8219a84420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8219a84420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8219a84420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28219a84420_0_5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8219a84420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8219a84420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8219a84420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8219a84420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8219a84420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g28219a84420_0_7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7c609abb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g27c609abb8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8219a84420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8219a84420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7c609abb8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27c609abb8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8219a84420_0_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8219a84420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7c609abb8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g27c609abb8f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8219a84420_0_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8219a84420_0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8219a84420_0_1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28219a84420_0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28219a84420_0_1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9" name="Google Shape;519;g28219a84420_0_10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8219a84420_0_1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28219a84420_0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“4” actually refers to the remote computer’s listening port in this example. However, when we start to tunnel, this becomes the port listening on local loopback.</a:t>
            </a:r>
            <a:br>
              <a:rPr lang="en"/>
            </a:br>
            <a:br>
              <a:rPr lang="en"/>
            </a:br>
            <a:r>
              <a:rPr lang="en"/>
              <a:t>You can also before your operation just to be safe run “cat /dev/null &gt; ~/.ssh/known_hosts” to overwrite your existing known hosts file as an additional precaution.</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8219a84420_0_1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g28219a84420_0_1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8219a84420_0_1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g28219a84420_0_1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8219a84420_0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g28219a84420_0_1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8219a84420_0_1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g28219a84420_0_1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87dc65521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g287dc65521a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95d37e09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g295d37e092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a87e32ed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g2a87e32ed9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28219a84420_0_1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9" name="Google Shape;599;g28219a84420_0_13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879dbbba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879dbbba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2879dbbba6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2879dbbba6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879dbbba6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2879dbbba6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879dbbba6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879dbbba6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879dbbba6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2879dbbba6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879dbbba65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879dbbba65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2879dbbba65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2879dbbba65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7" name="Google Shape;6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3" name="Google Shape;70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Source: https://www.linode.com/docs/networking/diagnostics/netcat/netcat/</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9" name="Google Shape;70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Source: https://www.linode.com/docs/networking/diagnostics/netcat/netcat/</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5" name="Google Shape;71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82" name="Shape 82"/>
        <p:cNvGrpSpPr/>
        <p:nvPr/>
      </p:nvGrpSpPr>
      <p:grpSpPr>
        <a:xfrm>
          <a:off x="0" y="0"/>
          <a:ext cx="0" cy="0"/>
          <a:chOff x="0" y="0"/>
          <a:chExt cx="0" cy="0"/>
        </a:xfrm>
      </p:grpSpPr>
      <p:sp>
        <p:nvSpPr>
          <p:cNvPr id="83" name="Google Shape;83;p13"/>
          <p:cNvSpPr txBox="1"/>
          <p:nvPr>
            <p:ph type="title"/>
          </p:nvPr>
        </p:nvSpPr>
        <p:spPr>
          <a:xfrm>
            <a:off x="623888" y="996555"/>
            <a:ext cx="7886700" cy="2139600"/>
          </a:xfrm>
          <a:prstGeom prst="rect">
            <a:avLst/>
          </a:prstGeom>
          <a:noFill/>
          <a:ln>
            <a:noFill/>
          </a:ln>
        </p:spPr>
        <p:txBody>
          <a:bodyPr anchorCtr="0" anchor="b" bIns="91425" lIns="91425" spcFirstLastPara="1" rIns="91425" wrap="square" tIns="91425">
            <a:noAutofit/>
          </a:bodyPr>
          <a:lstStyle>
            <a:lvl1pPr lvl="0" marR="0" rtl="0" algn="ctr">
              <a:lnSpc>
                <a:spcPct val="90000"/>
              </a:lnSpc>
              <a:spcBef>
                <a:spcPts val="0"/>
              </a:spcBef>
              <a:spcAft>
                <a:spcPts val="0"/>
              </a:spcAft>
              <a:buClr>
                <a:schemeClr val="dk1"/>
              </a:buClr>
              <a:buSzPts val="1100"/>
              <a:buFont typeface="Arial"/>
              <a:buNone/>
              <a:defRPr b="1" i="0" sz="3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84" name="Google Shape;84;p13"/>
          <p:cNvSpPr txBox="1"/>
          <p:nvPr>
            <p:ph idx="1" type="body"/>
          </p:nvPr>
        </p:nvSpPr>
        <p:spPr>
          <a:xfrm>
            <a:off x="623888" y="3156349"/>
            <a:ext cx="7886700" cy="15963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90000"/>
              </a:lnSpc>
              <a:spcBef>
                <a:spcPts val="600"/>
              </a:spcBef>
              <a:spcAft>
                <a:spcPts val="0"/>
              </a:spcAft>
              <a:buClr>
                <a:srgbClr val="888888"/>
              </a:buClr>
              <a:buSzPts val="1600"/>
              <a:buFont typeface="Arial"/>
              <a:buNone/>
              <a:defRPr b="0" i="0" sz="1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300"/>
              </a:spcBef>
              <a:spcAft>
                <a:spcPts val="0"/>
              </a:spcAft>
              <a:buClr>
                <a:srgbClr val="888888"/>
              </a:buClr>
              <a:buSzPts val="1400"/>
              <a:buFont typeface="Arial"/>
              <a:buNone/>
              <a:defRPr b="0" i="0" sz="11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300"/>
              </a:spcBef>
              <a:spcAft>
                <a:spcPts val="0"/>
              </a:spcAft>
              <a:buClr>
                <a:srgbClr val="888888"/>
              </a:buClr>
              <a:buSzPts val="1100"/>
              <a:buFont typeface="Arial"/>
              <a:buNone/>
              <a:defRPr b="0" i="0" sz="10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300"/>
              </a:spcBef>
              <a:spcAft>
                <a:spcPts val="0"/>
              </a:spcAft>
              <a:buClr>
                <a:srgbClr val="888888"/>
              </a:buClr>
              <a:buSzPts val="1000"/>
              <a:buFont typeface="Arial"/>
              <a:buNone/>
              <a:defRPr b="0" i="0" sz="9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300"/>
              </a:spcBef>
              <a:spcAft>
                <a:spcPts val="0"/>
              </a:spcAft>
              <a:buClr>
                <a:srgbClr val="888888"/>
              </a:buClr>
              <a:buSzPts val="1000"/>
              <a:buFont typeface="Arial"/>
              <a:buNone/>
              <a:defRPr b="0" i="0" sz="9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300"/>
              </a:spcBef>
              <a:spcAft>
                <a:spcPts val="0"/>
              </a:spcAft>
              <a:buClr>
                <a:srgbClr val="888888"/>
              </a:buClr>
              <a:buSzPts val="1000"/>
              <a:buFont typeface="Arial"/>
              <a:buNone/>
              <a:defRPr b="0" i="0" sz="9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300"/>
              </a:spcBef>
              <a:spcAft>
                <a:spcPts val="0"/>
              </a:spcAft>
              <a:buClr>
                <a:srgbClr val="888888"/>
              </a:buClr>
              <a:buSzPts val="1000"/>
              <a:buFont typeface="Arial"/>
              <a:buNone/>
              <a:defRPr b="0" i="0" sz="9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300"/>
              </a:spcBef>
              <a:spcAft>
                <a:spcPts val="0"/>
              </a:spcAft>
              <a:buClr>
                <a:srgbClr val="888888"/>
              </a:buClr>
              <a:buSzPts val="1000"/>
              <a:buFont typeface="Arial"/>
              <a:buNone/>
              <a:defRPr b="0" i="0" sz="9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300"/>
              </a:spcBef>
              <a:spcAft>
                <a:spcPts val="0"/>
              </a:spcAft>
              <a:buClr>
                <a:srgbClr val="888888"/>
              </a:buClr>
              <a:buSzPts val="1000"/>
              <a:buFont typeface="Arial"/>
              <a:buNone/>
              <a:defRPr b="0" i="0" sz="900" u="none" cap="none" strike="noStrike">
                <a:solidFill>
                  <a:srgbClr val="888888"/>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spd="slow" p14:dur="1000">
        <p14:prism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ph type="title"/>
          </p:nvPr>
        </p:nvSpPr>
        <p:spPr>
          <a:xfrm>
            <a:off x="623888" y="996555"/>
            <a:ext cx="7886700" cy="2139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lang="en"/>
              <a:t>SSH</a:t>
            </a:r>
            <a:endParaRPr b="1" i="0" sz="3400" u="none" cap="none" strike="noStrike">
              <a:solidFill>
                <a:schemeClr val="dk1"/>
              </a:solidFill>
              <a:latin typeface="Arial"/>
              <a:ea typeface="Arial"/>
              <a:cs typeface="Arial"/>
              <a:sym typeface="Arial"/>
            </a:endParaRPr>
          </a:p>
        </p:txBody>
      </p:sp>
      <p:sp>
        <p:nvSpPr>
          <p:cNvPr id="90" name="Google Shape;90;p14"/>
          <p:cNvSpPr txBox="1"/>
          <p:nvPr>
            <p:ph idx="1" type="body"/>
          </p:nvPr>
        </p:nvSpPr>
        <p:spPr>
          <a:xfrm>
            <a:off x="623888" y="3156349"/>
            <a:ext cx="7886700" cy="1596300"/>
          </a:xfrm>
          <a:prstGeom prst="rect">
            <a:avLst/>
          </a:prstGeom>
          <a:noFill/>
          <a:ln>
            <a:noFill/>
          </a:ln>
        </p:spPr>
        <p:txBody>
          <a:bodyPr anchorCtr="0" anchor="t" bIns="68575" lIns="68575" spcFirstLastPara="1" rIns="68575" wrap="square" tIns="68575">
            <a:noAutofit/>
          </a:bodyPr>
          <a:lstStyle/>
          <a:p>
            <a:pPr indent="0" lvl="0" marL="0" marR="0" rtl="0" algn="ctr">
              <a:lnSpc>
                <a:spcPct val="90000"/>
              </a:lnSpc>
              <a:spcBef>
                <a:spcPts val="600"/>
              </a:spcBef>
              <a:spcAft>
                <a:spcPts val="0"/>
              </a:spcAft>
              <a:buClr>
                <a:srgbClr val="888888"/>
              </a:buClr>
              <a:buSzPts val="1600"/>
              <a:buFont typeface="Arial"/>
              <a:buNone/>
            </a:pPr>
            <a:r>
              <a:rPr lang="en"/>
              <a:t>Basics, Master Control Sockets</a:t>
            </a:r>
            <a:endParaRPr b="0" i="0" sz="1400" u="none" cap="none" strike="noStrike">
              <a:solidFill>
                <a:srgbClr val="88888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5"/>
          <p:cNvSpPr txBox="1"/>
          <p:nvPr/>
        </p:nvSpPr>
        <p:spPr>
          <a:xfrm>
            <a:off x="537075" y="1697563"/>
            <a:ext cx="7611900" cy="66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SSH’s Home - Where this ssh instance will be executed</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9900FF"/>
              </a:buClr>
              <a:buSzPts val="1600"/>
              <a:buFont typeface="Calibri"/>
              <a:buAutoNum type="arabicPeriod"/>
            </a:pPr>
            <a:r>
              <a:rPr b="0" i="0" lang="en" sz="1600" u="none" cap="none" strike="noStrike">
                <a:solidFill>
                  <a:srgbClr val="9900FF"/>
                </a:solidFill>
                <a:latin typeface="Calibri"/>
                <a:ea typeface="Calibri"/>
                <a:cs typeface="Calibri"/>
                <a:sym typeface="Calibri"/>
              </a:rPr>
              <a:t>Calls ssh command binary to execute on the current host</a:t>
            </a:r>
            <a:endParaRPr b="0" i="0" sz="1600" u="none" cap="none" strike="noStrike">
              <a:solidFill>
                <a:srgbClr val="99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6"/>
              </a:solidFill>
              <a:latin typeface="Calibri"/>
              <a:ea typeface="Calibri"/>
              <a:cs typeface="Calibri"/>
              <a:sym typeface="Calibri"/>
            </a:endParaRPr>
          </a:p>
        </p:txBody>
      </p:sp>
      <p:sp>
        <p:nvSpPr>
          <p:cNvPr id="96" name="Google Shape;96;p15"/>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Most Basic Syntax</a:t>
            </a:r>
            <a:endParaRPr b="0" i="0" sz="3000" u="none" cap="none" strike="noStrike">
              <a:solidFill>
                <a:schemeClr val="dk1"/>
              </a:solidFill>
              <a:latin typeface="Calibri"/>
              <a:ea typeface="Calibri"/>
              <a:cs typeface="Calibri"/>
              <a:sym typeface="Calibri"/>
            </a:endParaRPr>
          </a:p>
        </p:txBody>
      </p:sp>
      <p:sp>
        <p:nvSpPr>
          <p:cNvPr id="97" name="Google Shape;97;p15"/>
          <p:cNvSpPr txBox="1"/>
          <p:nvPr/>
        </p:nvSpPr>
        <p:spPr>
          <a:xfrm>
            <a:off x="537075" y="2437775"/>
            <a:ext cx="7588500" cy="120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Present Connection - Where we are pointing our connection attempt right now</a:t>
            </a:r>
            <a:endParaRPr b="0" i="0" sz="1400" u="none" cap="none" strike="noStrike">
              <a:solidFill>
                <a:srgbClr val="FF0000"/>
              </a:solidFill>
              <a:latin typeface="Calibri"/>
              <a:ea typeface="Calibri"/>
              <a:cs typeface="Calibri"/>
              <a:sym typeface="Calibri"/>
            </a:endParaRPr>
          </a:p>
          <a:p>
            <a:pPr indent="-317500" lvl="0" marL="457200" marR="0" rtl="0" algn="l">
              <a:lnSpc>
                <a:spcPct val="100000"/>
              </a:lnSpc>
              <a:spcBef>
                <a:spcPts val="0"/>
              </a:spcBef>
              <a:spcAft>
                <a:spcPts val="0"/>
              </a:spcAft>
              <a:buClr>
                <a:srgbClr val="980000"/>
              </a:buClr>
              <a:buSzPts val="1400"/>
              <a:buFont typeface="Calibri"/>
              <a:buAutoNum type="arabicPeriod"/>
            </a:pPr>
            <a:r>
              <a:rPr b="0" i="0" lang="en" sz="1400" u="none" cap="none" strike="noStrike">
                <a:solidFill>
                  <a:srgbClr val="980000"/>
                </a:solidFill>
                <a:latin typeface="Calibri"/>
                <a:ea typeface="Calibri"/>
                <a:cs typeface="Calibri"/>
                <a:sym typeface="Calibri"/>
              </a:rPr>
              <a:t>IP - Where is our connection attempt going to right now? In this example, we are sending our connection to </a:t>
            </a:r>
            <a:r>
              <a:rPr lang="en">
                <a:solidFill>
                  <a:srgbClr val="980000"/>
                </a:solidFill>
                <a:latin typeface="Calibri"/>
                <a:ea typeface="Calibri"/>
                <a:cs typeface="Calibri"/>
                <a:sym typeface="Calibri"/>
              </a:rPr>
              <a:t>12.34.56.78</a:t>
            </a:r>
            <a:endParaRPr b="0" i="0" sz="1400" u="none" cap="none" strike="noStrike">
              <a:solidFill>
                <a:srgbClr val="000000"/>
              </a:solidFill>
              <a:latin typeface="Arial"/>
              <a:ea typeface="Arial"/>
              <a:cs typeface="Arial"/>
              <a:sym typeface="Arial"/>
            </a:endParaRPr>
          </a:p>
        </p:txBody>
      </p:sp>
      <p:sp>
        <p:nvSpPr>
          <p:cNvPr id="98" name="Google Shape;98;p15"/>
          <p:cNvSpPr txBox="1"/>
          <p:nvPr/>
        </p:nvSpPr>
        <p:spPr>
          <a:xfrm>
            <a:off x="537075" y="77737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Barest Bones SSH command: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900FF"/>
                </a:solidFill>
                <a:latin typeface="Calibri"/>
                <a:ea typeface="Calibri"/>
                <a:cs typeface="Calibri"/>
                <a:sym typeface="Calibri"/>
              </a:rPr>
              <a:t>ssh</a:t>
            </a:r>
            <a:r>
              <a:rPr b="0" i="0" lang="en" sz="1600" u="none" cap="none" strike="noStrike">
                <a:solidFill>
                  <a:schemeClr val="dk1"/>
                </a:solidFill>
                <a:latin typeface="Calibri"/>
                <a:ea typeface="Calibri"/>
                <a:cs typeface="Calibri"/>
                <a:sym typeface="Calibri"/>
              </a:rPr>
              <a:t> </a:t>
            </a:r>
            <a:r>
              <a:rPr lang="en" sz="1600">
                <a:solidFill>
                  <a:srgbClr val="980000"/>
                </a:solidFill>
                <a:latin typeface="Calibri"/>
                <a:ea typeface="Calibri"/>
                <a:cs typeface="Calibri"/>
                <a:sym typeface="Calibri"/>
              </a:rPr>
              <a:t>12.34.56.78</a:t>
            </a:r>
            <a:endParaRPr b="0" i="0" sz="1600" u="none" cap="none" strike="noStrike">
              <a:solidFill>
                <a:srgbClr val="000000"/>
              </a:solidFill>
              <a:latin typeface="Arial"/>
              <a:ea typeface="Arial"/>
              <a:cs typeface="Arial"/>
              <a:sym typeface="Arial"/>
            </a:endParaRPr>
          </a:p>
        </p:txBody>
      </p:sp>
      <p:sp>
        <p:nvSpPr>
          <p:cNvPr id="99" name="Google Shape;99;p15"/>
          <p:cNvSpPr txBox="1"/>
          <p:nvPr/>
        </p:nvSpPr>
        <p:spPr>
          <a:xfrm>
            <a:off x="569625" y="3420975"/>
            <a:ext cx="7546800" cy="130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But wait! Who am I logging in as? I should probably know that before I</a:t>
            </a:r>
            <a:r>
              <a:rPr lang="en"/>
              <a:t> hit enter so I can know which password to 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With SSH, any default value can be left out, and ssh will automatically insert its defaults. In this case, </a:t>
            </a:r>
            <a:r>
              <a:rPr b="0" i="0" lang="en" sz="1400" u="none" cap="none" strike="noStrike">
                <a:solidFill>
                  <a:srgbClr val="000000"/>
                </a:solidFill>
                <a:highlight>
                  <a:srgbClr val="FFFF00"/>
                </a:highlight>
                <a:latin typeface="Arial"/>
                <a:ea typeface="Arial"/>
                <a:cs typeface="Arial"/>
                <a:sym typeface="Arial"/>
              </a:rPr>
              <a:t>the default user is whoever you are currently logged in as</a:t>
            </a:r>
            <a:r>
              <a:rPr b="0" i="0" lang="en" sz="1400" u="none" cap="none" strike="noStrike">
                <a:solidFill>
                  <a:srgbClr val="000000"/>
                </a:solidFill>
                <a:latin typeface="Arial"/>
                <a:ea typeface="Arial"/>
                <a:cs typeface="Arial"/>
                <a:sym typeface="Arial"/>
              </a:rPr>
              <a:t>. In that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nvSpPr>
        <p:spPr>
          <a:xfrm>
            <a:off x="537075" y="1697563"/>
            <a:ext cx="7611900" cy="66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SSH’s Home - Where this ssh instance will be executed</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9900FF"/>
              </a:buClr>
              <a:buSzPts val="1600"/>
              <a:buFont typeface="Calibri"/>
              <a:buAutoNum type="arabicPeriod"/>
            </a:pPr>
            <a:r>
              <a:rPr b="0" i="0" lang="en" sz="1600" u="none" cap="none" strike="noStrike">
                <a:solidFill>
                  <a:srgbClr val="9900FF"/>
                </a:solidFill>
                <a:latin typeface="Calibri"/>
                <a:ea typeface="Calibri"/>
                <a:cs typeface="Calibri"/>
                <a:sym typeface="Calibri"/>
              </a:rPr>
              <a:t>Calls ssh command binary to execute on the current host</a:t>
            </a:r>
            <a:endParaRPr b="0" i="0" sz="1600" u="none" cap="none" strike="noStrike">
              <a:solidFill>
                <a:srgbClr val="99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6"/>
              </a:solidFill>
              <a:latin typeface="Calibri"/>
              <a:ea typeface="Calibri"/>
              <a:cs typeface="Calibri"/>
              <a:sym typeface="Calibri"/>
            </a:endParaRPr>
          </a:p>
        </p:txBody>
      </p:sp>
      <p:sp>
        <p:nvSpPr>
          <p:cNvPr id="105" name="Google Shape;105;p16"/>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Almost As Basic Syntax</a:t>
            </a:r>
            <a:endParaRPr b="0" i="0" sz="3000" u="none" cap="none" strike="noStrike">
              <a:solidFill>
                <a:schemeClr val="dk1"/>
              </a:solidFill>
              <a:latin typeface="Calibri"/>
              <a:ea typeface="Calibri"/>
              <a:cs typeface="Calibri"/>
              <a:sym typeface="Calibri"/>
            </a:endParaRPr>
          </a:p>
        </p:txBody>
      </p:sp>
      <p:sp>
        <p:nvSpPr>
          <p:cNvPr id="106" name="Google Shape;106;p16"/>
          <p:cNvSpPr txBox="1"/>
          <p:nvPr/>
        </p:nvSpPr>
        <p:spPr>
          <a:xfrm>
            <a:off x="537075" y="2437775"/>
            <a:ext cx="7588500" cy="120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Present Connection - Where we are pointing our connection attempt right now</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FF0000"/>
              </a:buClr>
              <a:buSzPts val="1400"/>
              <a:buFont typeface="Calibri"/>
              <a:buAutoNum type="arabicPeriod"/>
            </a:pPr>
            <a:r>
              <a:rPr b="0" i="0" lang="en" sz="1400" u="none" cap="none" strike="noStrike">
                <a:solidFill>
                  <a:srgbClr val="FF0000"/>
                </a:solidFill>
                <a:latin typeface="Calibri"/>
                <a:ea typeface="Calibri"/>
                <a:cs typeface="Calibri"/>
                <a:sym typeface="Calibri"/>
              </a:rPr>
              <a:t>Username - What user do you intend to authenticate as when you land on target? Here, that’s root.</a:t>
            </a:r>
            <a:endParaRPr b="0" i="0" sz="1400" u="none" cap="none" strike="noStrike">
              <a:solidFill>
                <a:srgbClr val="FF0000"/>
              </a:solidFill>
              <a:latin typeface="Calibri"/>
              <a:ea typeface="Calibri"/>
              <a:cs typeface="Calibri"/>
              <a:sym typeface="Calibri"/>
            </a:endParaRPr>
          </a:p>
          <a:p>
            <a:pPr indent="-317500" lvl="0" marL="457200" marR="0" rtl="0" algn="l">
              <a:lnSpc>
                <a:spcPct val="100000"/>
              </a:lnSpc>
              <a:spcBef>
                <a:spcPts val="0"/>
              </a:spcBef>
              <a:spcAft>
                <a:spcPts val="0"/>
              </a:spcAft>
              <a:buClr>
                <a:srgbClr val="980000"/>
              </a:buClr>
              <a:buSzPts val="1400"/>
              <a:buFont typeface="Calibri"/>
              <a:buAutoNum type="arabicPeriod"/>
            </a:pPr>
            <a:r>
              <a:rPr b="0" i="0" lang="en" sz="1400" u="none" cap="none" strike="noStrike">
                <a:solidFill>
                  <a:srgbClr val="980000"/>
                </a:solidFill>
                <a:latin typeface="Calibri"/>
                <a:ea typeface="Calibri"/>
                <a:cs typeface="Calibri"/>
                <a:sym typeface="Calibri"/>
              </a:rPr>
              <a:t>IP - Where is our connection attempt going to right now? In this example, we are sending our connection to </a:t>
            </a:r>
            <a:r>
              <a:rPr lang="en">
                <a:solidFill>
                  <a:srgbClr val="980000"/>
                </a:solidFill>
                <a:latin typeface="Calibri"/>
                <a:ea typeface="Calibri"/>
                <a:cs typeface="Calibri"/>
                <a:sym typeface="Calibri"/>
              </a:rPr>
              <a:t>12.34.56.78</a:t>
            </a:r>
            <a:endParaRPr b="0" i="0" sz="1400" u="none" cap="none" strike="noStrike">
              <a:solidFill>
                <a:srgbClr val="000000"/>
              </a:solidFill>
              <a:latin typeface="Arial"/>
              <a:ea typeface="Arial"/>
              <a:cs typeface="Arial"/>
              <a:sym typeface="Arial"/>
            </a:endParaRPr>
          </a:p>
        </p:txBody>
      </p:sp>
      <p:sp>
        <p:nvSpPr>
          <p:cNvPr id="107" name="Google Shape;107;p16"/>
          <p:cNvSpPr txBox="1"/>
          <p:nvPr/>
        </p:nvSpPr>
        <p:spPr>
          <a:xfrm>
            <a:off x="537075" y="77737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Bare Bones SSH command: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900FF"/>
                </a:solidFill>
                <a:latin typeface="Calibri"/>
                <a:ea typeface="Calibri"/>
                <a:cs typeface="Calibri"/>
                <a:sym typeface="Calibri"/>
              </a:rPr>
              <a:t>ssh</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00"/>
                </a:solidFill>
                <a:latin typeface="Calibri"/>
                <a:ea typeface="Calibri"/>
                <a:cs typeface="Calibri"/>
                <a:sym typeface="Calibri"/>
              </a:rPr>
              <a:t>root</a:t>
            </a:r>
            <a:r>
              <a:rPr b="0" i="0" lang="en" sz="1600" u="none" cap="none" strike="noStrike">
                <a:solidFill>
                  <a:srgbClr val="980000"/>
                </a:solidFill>
                <a:latin typeface="Calibri"/>
                <a:ea typeface="Calibri"/>
                <a:cs typeface="Calibri"/>
                <a:sym typeface="Calibri"/>
              </a:rPr>
              <a:t>@</a:t>
            </a:r>
            <a:r>
              <a:rPr lang="en" sz="1600">
                <a:solidFill>
                  <a:srgbClr val="980000"/>
                </a:solidFill>
                <a:latin typeface="Calibri"/>
                <a:ea typeface="Calibri"/>
                <a:cs typeface="Calibri"/>
                <a:sym typeface="Calibri"/>
              </a:rPr>
              <a:t>12.34.56.78</a:t>
            </a:r>
            <a:endParaRPr b="0" i="0" sz="1600" u="none" cap="none" strike="noStrike">
              <a:solidFill>
                <a:srgbClr val="000000"/>
              </a:solidFill>
              <a:latin typeface="Arial"/>
              <a:ea typeface="Arial"/>
              <a:cs typeface="Arial"/>
              <a:sym typeface="Arial"/>
            </a:endParaRPr>
          </a:p>
        </p:txBody>
      </p:sp>
      <p:sp>
        <p:nvSpPr>
          <p:cNvPr id="108" name="Google Shape;108;p16"/>
          <p:cNvSpPr txBox="1"/>
          <p:nvPr/>
        </p:nvSpPr>
        <p:spPr>
          <a:xfrm>
            <a:off x="578625" y="3642425"/>
            <a:ext cx="7546800" cy="130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Yes, now </a:t>
            </a:r>
            <a:r>
              <a:rPr b="0" i="0" lang="en" sz="1400" u="none" cap="none" strike="noStrike">
                <a:solidFill>
                  <a:srgbClr val="000000"/>
                </a:solidFill>
                <a:latin typeface="Arial"/>
                <a:ea typeface="Arial"/>
                <a:cs typeface="Arial"/>
                <a:sym typeface="Arial"/>
              </a:rPr>
              <a:t>I’m in! But wait! Where’s my port? How </a:t>
            </a:r>
            <a:r>
              <a:rPr lang="en"/>
              <a:t>did</a:t>
            </a:r>
            <a:r>
              <a:rPr b="0" i="0" lang="en" sz="1400" u="none" cap="none" strike="noStrike">
                <a:solidFill>
                  <a:srgbClr val="000000"/>
                </a:solidFill>
                <a:latin typeface="Arial"/>
                <a:ea typeface="Arial"/>
                <a:cs typeface="Arial"/>
                <a:sym typeface="Arial"/>
              </a:rPr>
              <a:t> this work without a port?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With SSH, any default value can be left out, and ssh will automatically insert its defaults. In this case, </a:t>
            </a:r>
            <a:r>
              <a:rPr b="0" i="0" lang="en" sz="1400" u="none" cap="none" strike="noStrike">
                <a:solidFill>
                  <a:srgbClr val="000000"/>
                </a:solidFill>
                <a:highlight>
                  <a:srgbClr val="FFFF00"/>
                </a:highlight>
                <a:latin typeface="Arial"/>
                <a:ea typeface="Arial"/>
                <a:cs typeface="Arial"/>
                <a:sym typeface="Arial"/>
              </a:rPr>
              <a:t>the default ssh port is 22</a:t>
            </a:r>
            <a:r>
              <a:rPr b="0" i="0" lang="en" sz="1400" u="none" cap="none" strike="noStrike">
                <a:solidFill>
                  <a:srgbClr val="000000"/>
                </a:solidFill>
                <a:latin typeface="Arial"/>
                <a:ea typeface="Arial"/>
                <a:cs typeface="Arial"/>
                <a:sym typeface="Arial"/>
              </a:rPr>
              <a:t>, but this can be configured to something else for security purposes. </a:t>
            </a:r>
            <a:r>
              <a:rPr b="0" i="0" lang="en" sz="1400" u="none" cap="none" strike="noStrike">
                <a:solidFill>
                  <a:srgbClr val="000000"/>
                </a:solidFill>
                <a:latin typeface="Arial"/>
                <a:ea typeface="Arial"/>
                <a:cs typeface="Arial"/>
                <a:sym typeface="Arial"/>
              </a:rPr>
              <a:t>In that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7"/>
          <p:cNvPicPr preferRelativeResize="0"/>
          <p:nvPr/>
        </p:nvPicPr>
        <p:blipFill>
          <a:blip r:embed="rId3">
            <a:alphaModFix/>
          </a:blip>
          <a:stretch>
            <a:fillRect/>
          </a:stretch>
        </p:blipFill>
        <p:spPr>
          <a:xfrm>
            <a:off x="766150" y="232788"/>
            <a:ext cx="7611699" cy="4677930"/>
          </a:xfrm>
          <a:prstGeom prst="rect">
            <a:avLst/>
          </a:prstGeom>
          <a:noFill/>
          <a:ln>
            <a:noFill/>
          </a:ln>
        </p:spPr>
      </p:pic>
      <p:sp>
        <p:nvSpPr>
          <p:cNvPr id="114" name="Google Shape;114;p17"/>
          <p:cNvSpPr txBox="1"/>
          <p:nvPr/>
        </p:nvSpPr>
        <p:spPr>
          <a:xfrm>
            <a:off x="1014050" y="1716600"/>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900FF"/>
                </a:solidFill>
              </a:rPr>
              <a:t>You are here</a:t>
            </a:r>
            <a:endParaRPr>
              <a:solidFill>
                <a:srgbClr val="9900FF"/>
              </a:solidFill>
            </a:endParaRPr>
          </a:p>
        </p:txBody>
      </p:sp>
      <p:sp>
        <p:nvSpPr>
          <p:cNvPr id="115" name="Google Shape;115;p17"/>
          <p:cNvSpPr txBox="1"/>
          <p:nvPr/>
        </p:nvSpPr>
        <p:spPr>
          <a:xfrm>
            <a:off x="2695175" y="1605450"/>
            <a:ext cx="818400" cy="7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80000"/>
                </a:solidFill>
              </a:rPr>
              <a:t>You want to be here</a:t>
            </a:r>
            <a:endParaRPr>
              <a:solidFill>
                <a:srgbClr val="98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nvSpPr>
        <p:spPr>
          <a:xfrm>
            <a:off x="537075" y="1697563"/>
            <a:ext cx="7611900" cy="66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Here - The host where this ssh instance will be executed</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9900FF"/>
              </a:buClr>
              <a:buSzPts val="1600"/>
              <a:buFont typeface="Calibri"/>
              <a:buAutoNum type="arabicPeriod"/>
            </a:pPr>
            <a:r>
              <a:rPr b="0" i="0" lang="en" sz="1600" u="none" cap="none" strike="noStrike">
                <a:solidFill>
                  <a:srgbClr val="9900FF"/>
                </a:solidFill>
                <a:latin typeface="Calibri"/>
                <a:ea typeface="Calibri"/>
                <a:cs typeface="Calibri"/>
                <a:sym typeface="Calibri"/>
              </a:rPr>
              <a:t>Calls ssh command binary to execute on the current host</a:t>
            </a:r>
            <a:endParaRPr b="0" i="0" sz="1600" u="none" cap="none" strike="noStrike">
              <a:solidFill>
                <a:srgbClr val="99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6"/>
              </a:solidFill>
              <a:latin typeface="Calibri"/>
              <a:ea typeface="Calibri"/>
              <a:cs typeface="Calibri"/>
              <a:sym typeface="Calibri"/>
            </a:endParaRPr>
          </a:p>
        </p:txBody>
      </p:sp>
      <p:sp>
        <p:nvSpPr>
          <p:cNvPr id="121" name="Google Shape;121;p18"/>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Basic Syntax</a:t>
            </a:r>
            <a:endParaRPr b="0" i="0" sz="3000" u="none" cap="none" strike="noStrike">
              <a:solidFill>
                <a:schemeClr val="dk1"/>
              </a:solidFill>
              <a:latin typeface="Calibri"/>
              <a:ea typeface="Calibri"/>
              <a:cs typeface="Calibri"/>
              <a:sym typeface="Calibri"/>
            </a:endParaRPr>
          </a:p>
        </p:txBody>
      </p:sp>
      <p:sp>
        <p:nvSpPr>
          <p:cNvPr id="122" name="Google Shape;122;p18"/>
          <p:cNvSpPr txBox="1"/>
          <p:nvPr/>
        </p:nvSpPr>
        <p:spPr>
          <a:xfrm>
            <a:off x="537075" y="2510375"/>
            <a:ext cx="7588500" cy="92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Present Connection - Where we are pointing our connection attempt right now</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FF9900"/>
              </a:buClr>
              <a:buSzPts val="1400"/>
              <a:buFont typeface="Calibri"/>
              <a:buAutoNum type="arabicPeriod"/>
            </a:pPr>
            <a:r>
              <a:rPr b="0" i="0" lang="en" sz="1400" u="none" cap="none" strike="noStrike">
                <a:solidFill>
                  <a:srgbClr val="FF9900"/>
                </a:solidFill>
                <a:latin typeface="Calibri"/>
                <a:ea typeface="Calibri"/>
                <a:cs typeface="Calibri"/>
                <a:sym typeface="Calibri"/>
              </a:rPr>
              <a:t>Port - The specific port listening for an ssh connection. Here, ssh is listening on port 2022</a:t>
            </a:r>
            <a:endParaRPr b="0" i="0" sz="1400" u="none" cap="none" strike="noStrike">
              <a:solidFill>
                <a:srgbClr val="FF9900"/>
              </a:solidFill>
              <a:latin typeface="Calibri"/>
              <a:ea typeface="Calibri"/>
              <a:cs typeface="Calibri"/>
              <a:sym typeface="Calibri"/>
            </a:endParaRPr>
          </a:p>
          <a:p>
            <a:pPr indent="-317500" lvl="0" marL="457200" marR="0" rtl="0" algn="l">
              <a:lnSpc>
                <a:spcPct val="100000"/>
              </a:lnSpc>
              <a:spcBef>
                <a:spcPts val="0"/>
              </a:spcBef>
              <a:spcAft>
                <a:spcPts val="0"/>
              </a:spcAft>
              <a:buClr>
                <a:srgbClr val="FF0000"/>
              </a:buClr>
              <a:buSzPts val="1400"/>
              <a:buFont typeface="Calibri"/>
              <a:buAutoNum type="arabicPeriod"/>
            </a:pPr>
            <a:r>
              <a:rPr b="0" i="0" lang="en" sz="1400" u="none" cap="none" strike="noStrike">
                <a:solidFill>
                  <a:srgbClr val="FF0000"/>
                </a:solidFill>
                <a:latin typeface="Calibri"/>
                <a:ea typeface="Calibri"/>
                <a:cs typeface="Calibri"/>
                <a:sym typeface="Calibri"/>
              </a:rPr>
              <a:t>Username - What user do you intend to authenticate as when you land on target?</a:t>
            </a:r>
            <a:endParaRPr b="0" i="0" sz="1400" u="none" cap="none" strike="noStrike">
              <a:solidFill>
                <a:srgbClr val="FF0000"/>
              </a:solidFill>
              <a:latin typeface="Calibri"/>
              <a:ea typeface="Calibri"/>
              <a:cs typeface="Calibri"/>
              <a:sym typeface="Calibri"/>
            </a:endParaRPr>
          </a:p>
          <a:p>
            <a:pPr indent="-317500" lvl="0" marL="457200" marR="0" rtl="0" algn="l">
              <a:lnSpc>
                <a:spcPct val="100000"/>
              </a:lnSpc>
              <a:spcBef>
                <a:spcPts val="0"/>
              </a:spcBef>
              <a:spcAft>
                <a:spcPts val="0"/>
              </a:spcAft>
              <a:buClr>
                <a:srgbClr val="980000"/>
              </a:buClr>
              <a:buSzPts val="1400"/>
              <a:buFont typeface="Calibri"/>
              <a:buAutoNum type="arabicPeriod"/>
            </a:pPr>
            <a:r>
              <a:rPr b="0" i="0" lang="en" sz="1400" u="none" cap="none" strike="noStrike">
                <a:solidFill>
                  <a:srgbClr val="980000"/>
                </a:solidFill>
                <a:latin typeface="Calibri"/>
                <a:ea typeface="Calibri"/>
                <a:cs typeface="Calibri"/>
                <a:sym typeface="Calibri"/>
              </a:rPr>
              <a:t>IP - Where are we sending our connection request to right now?</a:t>
            </a:r>
            <a:endParaRPr b="0" i="0" sz="1400" u="none" cap="none" strike="noStrike">
              <a:solidFill>
                <a:srgbClr val="000000"/>
              </a:solidFill>
              <a:latin typeface="Arial"/>
              <a:ea typeface="Arial"/>
              <a:cs typeface="Arial"/>
              <a:sym typeface="Arial"/>
            </a:endParaRPr>
          </a:p>
        </p:txBody>
      </p:sp>
      <p:sp>
        <p:nvSpPr>
          <p:cNvPr id="123" name="Google Shape;123;p18"/>
          <p:cNvSpPr txBox="1"/>
          <p:nvPr/>
        </p:nvSpPr>
        <p:spPr>
          <a:xfrm>
            <a:off x="537075" y="77737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Basic SSH command: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900FF"/>
                </a:solidFill>
                <a:latin typeface="Calibri"/>
                <a:ea typeface="Calibri"/>
                <a:cs typeface="Calibri"/>
                <a:sym typeface="Calibri"/>
              </a:rPr>
              <a:t>ssh</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9900"/>
                </a:solidFill>
                <a:latin typeface="Calibri"/>
                <a:ea typeface="Calibri"/>
                <a:cs typeface="Calibri"/>
                <a:sym typeface="Calibri"/>
              </a:rPr>
              <a:t>-p 2022</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00"/>
                </a:solidFill>
                <a:latin typeface="Calibri"/>
                <a:ea typeface="Calibri"/>
                <a:cs typeface="Calibri"/>
                <a:sym typeface="Calibri"/>
              </a:rPr>
              <a:t>root</a:t>
            </a:r>
            <a:r>
              <a:rPr b="0" i="0" lang="en" sz="1600" u="none" cap="none" strike="noStrike">
                <a:solidFill>
                  <a:srgbClr val="980000"/>
                </a:solidFill>
                <a:latin typeface="Calibri"/>
                <a:ea typeface="Calibri"/>
                <a:cs typeface="Calibri"/>
                <a:sym typeface="Calibri"/>
              </a:rPr>
              <a:t>@</a:t>
            </a:r>
            <a:r>
              <a:rPr lang="en" sz="1600">
                <a:solidFill>
                  <a:srgbClr val="980000"/>
                </a:solidFill>
                <a:latin typeface="Calibri"/>
                <a:ea typeface="Calibri"/>
                <a:cs typeface="Calibri"/>
                <a:sym typeface="Calibri"/>
              </a:rPr>
              <a:t>12.34.56.78</a:t>
            </a:r>
            <a:endParaRPr b="0" i="0" sz="1600" u="none" cap="none" strike="noStrike">
              <a:solidFill>
                <a:srgbClr val="000000"/>
              </a:solidFill>
              <a:latin typeface="Arial"/>
              <a:ea typeface="Arial"/>
              <a:cs typeface="Arial"/>
              <a:sym typeface="Arial"/>
            </a:endParaRPr>
          </a:p>
        </p:txBody>
      </p:sp>
      <p:sp>
        <p:nvSpPr>
          <p:cNvPr id="124" name="Google Shape;124;p18"/>
          <p:cNvSpPr txBox="1"/>
          <p:nvPr/>
        </p:nvSpPr>
        <p:spPr>
          <a:xfrm>
            <a:off x="578625" y="3642425"/>
            <a:ext cx="7546800" cy="130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Awesome! Time to get all the windows on target! Let’s open up five windows!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9"/>
          <p:cNvPicPr preferRelativeResize="0"/>
          <p:nvPr/>
        </p:nvPicPr>
        <p:blipFill>
          <a:blip r:embed="rId3">
            <a:alphaModFix/>
          </a:blip>
          <a:stretch>
            <a:fillRect/>
          </a:stretch>
        </p:blipFill>
        <p:spPr>
          <a:xfrm>
            <a:off x="766150" y="232788"/>
            <a:ext cx="7611699" cy="4677930"/>
          </a:xfrm>
          <a:prstGeom prst="rect">
            <a:avLst/>
          </a:prstGeom>
          <a:noFill/>
          <a:ln>
            <a:noFill/>
          </a:ln>
        </p:spPr>
      </p:pic>
      <p:sp>
        <p:nvSpPr>
          <p:cNvPr id="130" name="Google Shape;130;p19"/>
          <p:cNvSpPr txBox="1"/>
          <p:nvPr/>
        </p:nvSpPr>
        <p:spPr>
          <a:xfrm>
            <a:off x="1014050" y="1716600"/>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900FF"/>
                </a:solidFill>
              </a:rPr>
              <a:t>You are here</a:t>
            </a:r>
            <a:endParaRPr>
              <a:solidFill>
                <a:srgbClr val="9900FF"/>
              </a:solidFill>
            </a:endParaRPr>
          </a:p>
        </p:txBody>
      </p:sp>
      <p:sp>
        <p:nvSpPr>
          <p:cNvPr id="131" name="Google Shape;131;p19"/>
          <p:cNvSpPr txBox="1"/>
          <p:nvPr/>
        </p:nvSpPr>
        <p:spPr>
          <a:xfrm>
            <a:off x="2738100" y="1881275"/>
            <a:ext cx="818400" cy="7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80000"/>
                </a:solidFill>
              </a:rPr>
              <a:t>You are here</a:t>
            </a:r>
            <a:endParaRPr>
              <a:solidFill>
                <a:srgbClr val="980000"/>
              </a:solidFill>
            </a:endParaRPr>
          </a:p>
        </p:txBody>
      </p:sp>
      <p:sp>
        <p:nvSpPr>
          <p:cNvPr id="132" name="Google Shape;132;p19"/>
          <p:cNvSpPr/>
          <p:nvPr/>
        </p:nvSpPr>
        <p:spPr>
          <a:xfrm>
            <a:off x="1873325" y="964475"/>
            <a:ext cx="818400" cy="204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9"/>
          <p:cNvSpPr/>
          <p:nvPr/>
        </p:nvSpPr>
        <p:spPr>
          <a:xfrm>
            <a:off x="1873325" y="1218875"/>
            <a:ext cx="818400" cy="204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9"/>
          <p:cNvSpPr/>
          <p:nvPr/>
        </p:nvSpPr>
        <p:spPr>
          <a:xfrm>
            <a:off x="1873325" y="1473275"/>
            <a:ext cx="818400" cy="204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9"/>
          <p:cNvSpPr/>
          <p:nvPr/>
        </p:nvSpPr>
        <p:spPr>
          <a:xfrm>
            <a:off x="1873325" y="1677275"/>
            <a:ext cx="818400" cy="204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9"/>
          <p:cNvSpPr/>
          <p:nvPr/>
        </p:nvSpPr>
        <p:spPr>
          <a:xfrm>
            <a:off x="1873325" y="760475"/>
            <a:ext cx="818400" cy="204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9"/>
          <p:cNvSpPr/>
          <p:nvPr/>
        </p:nvSpPr>
        <p:spPr>
          <a:xfrm>
            <a:off x="3088175" y="760475"/>
            <a:ext cx="417300" cy="2040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log!</a:t>
            </a:r>
            <a:endParaRPr sz="1100"/>
          </a:p>
        </p:txBody>
      </p:sp>
      <p:sp>
        <p:nvSpPr>
          <p:cNvPr id="138" name="Google Shape;138;p19"/>
          <p:cNvSpPr/>
          <p:nvPr/>
        </p:nvSpPr>
        <p:spPr>
          <a:xfrm>
            <a:off x="3088175" y="1014875"/>
            <a:ext cx="417300" cy="2040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log!</a:t>
            </a:r>
            <a:endParaRPr sz="1100"/>
          </a:p>
        </p:txBody>
      </p:sp>
      <p:sp>
        <p:nvSpPr>
          <p:cNvPr id="139" name="Google Shape;139;p19"/>
          <p:cNvSpPr/>
          <p:nvPr/>
        </p:nvSpPr>
        <p:spPr>
          <a:xfrm>
            <a:off x="3088175" y="1269275"/>
            <a:ext cx="417300" cy="2040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log!</a:t>
            </a:r>
            <a:endParaRPr sz="1100"/>
          </a:p>
        </p:txBody>
      </p:sp>
      <p:sp>
        <p:nvSpPr>
          <p:cNvPr id="140" name="Google Shape;140;p19"/>
          <p:cNvSpPr/>
          <p:nvPr/>
        </p:nvSpPr>
        <p:spPr>
          <a:xfrm>
            <a:off x="3088175" y="1523675"/>
            <a:ext cx="417300" cy="2040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log!</a:t>
            </a:r>
            <a:endParaRPr sz="1100"/>
          </a:p>
        </p:txBody>
      </p:sp>
      <p:sp>
        <p:nvSpPr>
          <p:cNvPr id="141" name="Google Shape;141;p19"/>
          <p:cNvSpPr/>
          <p:nvPr/>
        </p:nvSpPr>
        <p:spPr>
          <a:xfrm>
            <a:off x="3088175" y="1727675"/>
            <a:ext cx="417300" cy="2040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log!</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0"/>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Basic Syntax</a:t>
            </a:r>
            <a:endParaRPr b="0" i="0" sz="3000" u="none" cap="none" strike="noStrike">
              <a:solidFill>
                <a:schemeClr val="dk1"/>
              </a:solidFill>
              <a:latin typeface="Calibri"/>
              <a:ea typeface="Calibri"/>
              <a:cs typeface="Calibri"/>
              <a:sym typeface="Calibri"/>
            </a:endParaRPr>
          </a:p>
        </p:txBody>
      </p:sp>
      <p:sp>
        <p:nvSpPr>
          <p:cNvPr id="147" name="Google Shape;147;p20"/>
          <p:cNvSpPr txBox="1"/>
          <p:nvPr/>
        </p:nvSpPr>
        <p:spPr>
          <a:xfrm>
            <a:off x="537075" y="63747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Now to take a look at our netstat…</a:t>
            </a:r>
            <a:endParaRPr b="0" i="0" sz="1600" u="none" cap="none" strike="noStrike">
              <a:solidFill>
                <a:srgbClr val="000000"/>
              </a:solidFill>
              <a:latin typeface="Arial"/>
              <a:ea typeface="Arial"/>
              <a:cs typeface="Arial"/>
              <a:sym typeface="Arial"/>
            </a:endParaRPr>
          </a:p>
        </p:txBody>
      </p:sp>
      <p:sp>
        <p:nvSpPr>
          <p:cNvPr id="148" name="Google Shape;148;p20"/>
          <p:cNvSpPr txBox="1"/>
          <p:nvPr/>
        </p:nvSpPr>
        <p:spPr>
          <a:xfrm>
            <a:off x="578625" y="4202075"/>
            <a:ext cx="7546800" cy="74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Hmmm… That sticks that out a bit.</a:t>
            </a:r>
            <a:endParaRPr b="0" i="0" sz="1400" u="none" cap="none" strike="noStrike">
              <a:solidFill>
                <a:srgbClr val="000000"/>
              </a:solidFill>
              <a:latin typeface="Arial"/>
              <a:ea typeface="Arial"/>
              <a:cs typeface="Arial"/>
              <a:sym typeface="Arial"/>
            </a:endParaRPr>
          </a:p>
        </p:txBody>
      </p:sp>
      <p:pic>
        <p:nvPicPr>
          <p:cNvPr id="149" name="Google Shape;149;p20"/>
          <p:cNvPicPr preferRelativeResize="0"/>
          <p:nvPr/>
        </p:nvPicPr>
        <p:blipFill rotWithShape="1">
          <a:blip r:embed="rId3">
            <a:alphaModFix/>
          </a:blip>
          <a:srcRect b="0" l="0" r="0" t="0"/>
          <a:stretch/>
        </p:blipFill>
        <p:spPr>
          <a:xfrm>
            <a:off x="152400" y="1244375"/>
            <a:ext cx="8839199" cy="2477321"/>
          </a:xfrm>
          <a:prstGeom prst="rect">
            <a:avLst/>
          </a:prstGeom>
          <a:noFill/>
          <a:ln>
            <a:noFill/>
          </a:ln>
        </p:spPr>
      </p:pic>
      <p:sp>
        <p:nvSpPr>
          <p:cNvPr id="150" name="Google Shape;150;p20"/>
          <p:cNvSpPr txBox="1"/>
          <p:nvPr/>
        </p:nvSpPr>
        <p:spPr>
          <a:xfrm>
            <a:off x="1826950" y="1891850"/>
            <a:ext cx="4043400" cy="955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urier New"/>
                <a:ea typeface="Courier New"/>
                <a:cs typeface="Courier New"/>
                <a:sym typeface="Courier New"/>
              </a:rPr>
              <a:t>12.34.56.78:2022           31.3.3.7:48436</a:t>
            </a:r>
            <a:endParaRPr sz="1100">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12.34.56.78:2022           31.3.3.7:48440</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12.34.56.78:2022           31.3.3.7:48438</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12.34.56.78:2022           31.3.3.7:48422</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solidFill>
                  <a:schemeClr val="dk1"/>
                </a:solidFill>
                <a:latin typeface="Courier New"/>
                <a:ea typeface="Courier New"/>
                <a:cs typeface="Courier New"/>
                <a:sym typeface="Courier New"/>
              </a:rPr>
              <a:t>12.34.56.78:2022           31.3.3.7:48430</a:t>
            </a:r>
            <a:endParaRPr sz="1100">
              <a:solidFill>
                <a:schemeClr val="dk1"/>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Basic Syntax</a:t>
            </a:r>
            <a:endParaRPr b="0" i="0" sz="3000" u="none" cap="none" strike="noStrike">
              <a:solidFill>
                <a:schemeClr val="dk1"/>
              </a:solidFill>
              <a:latin typeface="Calibri"/>
              <a:ea typeface="Calibri"/>
              <a:cs typeface="Calibri"/>
              <a:sym typeface="Calibri"/>
            </a:endParaRPr>
          </a:p>
        </p:txBody>
      </p:sp>
      <p:sp>
        <p:nvSpPr>
          <p:cNvPr id="156" name="Google Shape;156;p21"/>
          <p:cNvSpPr txBox="1"/>
          <p:nvPr/>
        </p:nvSpPr>
        <p:spPr>
          <a:xfrm>
            <a:off x="537075" y="63747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Now to take a look at our process list…</a:t>
            </a:r>
            <a:endParaRPr b="0" i="0" sz="1600" u="none" cap="none" strike="noStrike">
              <a:solidFill>
                <a:srgbClr val="000000"/>
              </a:solidFill>
              <a:latin typeface="Arial"/>
              <a:ea typeface="Arial"/>
              <a:cs typeface="Arial"/>
              <a:sym typeface="Arial"/>
            </a:endParaRPr>
          </a:p>
        </p:txBody>
      </p:sp>
      <p:sp>
        <p:nvSpPr>
          <p:cNvPr id="157" name="Google Shape;157;p21"/>
          <p:cNvSpPr txBox="1"/>
          <p:nvPr/>
        </p:nvSpPr>
        <p:spPr>
          <a:xfrm>
            <a:off x="578625" y="4202075"/>
            <a:ext cx="7546800" cy="74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That doesn’t look better at all.</a:t>
            </a:r>
            <a:endParaRPr b="0" i="0" sz="1400" u="none" cap="none" strike="noStrike">
              <a:solidFill>
                <a:srgbClr val="000000"/>
              </a:solidFill>
              <a:latin typeface="Arial"/>
              <a:ea typeface="Arial"/>
              <a:cs typeface="Arial"/>
              <a:sym typeface="Arial"/>
            </a:endParaRPr>
          </a:p>
        </p:txBody>
      </p:sp>
      <p:pic>
        <p:nvPicPr>
          <p:cNvPr id="158" name="Google Shape;158;p21"/>
          <p:cNvPicPr preferRelativeResize="0"/>
          <p:nvPr/>
        </p:nvPicPr>
        <p:blipFill rotWithShape="1">
          <a:blip r:embed="rId3">
            <a:alphaModFix/>
          </a:blip>
          <a:srcRect b="0" l="0" r="0" t="0"/>
          <a:stretch/>
        </p:blipFill>
        <p:spPr>
          <a:xfrm>
            <a:off x="152400" y="1244375"/>
            <a:ext cx="8839200" cy="179768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Basic Syntax</a:t>
            </a:r>
            <a:endParaRPr b="0" i="0" sz="3000" u="none" cap="none" strike="noStrike">
              <a:solidFill>
                <a:schemeClr val="dk1"/>
              </a:solidFill>
              <a:latin typeface="Calibri"/>
              <a:ea typeface="Calibri"/>
              <a:cs typeface="Calibri"/>
              <a:sym typeface="Calibri"/>
            </a:endParaRPr>
          </a:p>
        </p:txBody>
      </p:sp>
      <p:sp>
        <p:nvSpPr>
          <p:cNvPr id="164" name="Google Shape;164;p22"/>
          <p:cNvSpPr txBox="1"/>
          <p:nvPr/>
        </p:nvSpPr>
        <p:spPr>
          <a:xfrm>
            <a:off x="537075" y="63747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Maybe our authentication logs will be better…</a:t>
            </a:r>
            <a:endParaRPr b="0" i="0" sz="1600" u="none" cap="none" strike="noStrike">
              <a:solidFill>
                <a:srgbClr val="000000"/>
              </a:solidFill>
              <a:latin typeface="Arial"/>
              <a:ea typeface="Arial"/>
              <a:cs typeface="Arial"/>
              <a:sym typeface="Arial"/>
            </a:endParaRPr>
          </a:p>
        </p:txBody>
      </p:sp>
      <p:sp>
        <p:nvSpPr>
          <p:cNvPr id="165" name="Google Shape;165;p22"/>
          <p:cNvSpPr txBox="1"/>
          <p:nvPr/>
        </p:nvSpPr>
        <p:spPr>
          <a:xfrm>
            <a:off x="578625" y="4202075"/>
            <a:ext cx="7546800" cy="74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Huh… five windows on target can be pretty noisy. What can I 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You can… MULTIPLEX! Recycle that existing connection for additional windows!</a:t>
            </a:r>
            <a:endParaRPr b="0" i="0" sz="1400" u="none" cap="none" strike="noStrike">
              <a:solidFill>
                <a:srgbClr val="000000"/>
              </a:solidFill>
              <a:latin typeface="Arial"/>
              <a:ea typeface="Arial"/>
              <a:cs typeface="Arial"/>
              <a:sym typeface="Arial"/>
            </a:endParaRPr>
          </a:p>
        </p:txBody>
      </p:sp>
      <p:pic>
        <p:nvPicPr>
          <p:cNvPr id="166" name="Google Shape;166;p22"/>
          <p:cNvPicPr preferRelativeResize="0"/>
          <p:nvPr/>
        </p:nvPicPr>
        <p:blipFill rotWithShape="1">
          <a:blip r:embed="rId3">
            <a:alphaModFix/>
          </a:blip>
          <a:srcRect b="0" l="0" r="0" t="0"/>
          <a:stretch/>
        </p:blipFill>
        <p:spPr>
          <a:xfrm>
            <a:off x="152400" y="1244375"/>
            <a:ext cx="8839200" cy="2674929"/>
          </a:xfrm>
          <a:prstGeom prst="rect">
            <a:avLst/>
          </a:prstGeom>
          <a:noFill/>
          <a:ln>
            <a:noFill/>
          </a:ln>
        </p:spPr>
      </p:pic>
      <p:sp>
        <p:nvSpPr>
          <p:cNvPr id="167" name="Google Shape;167;p22"/>
          <p:cNvSpPr/>
          <p:nvPr/>
        </p:nvSpPr>
        <p:spPr>
          <a:xfrm>
            <a:off x="5976375" y="1905200"/>
            <a:ext cx="1266600" cy="15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2"/>
          <p:cNvSpPr/>
          <p:nvPr/>
        </p:nvSpPr>
        <p:spPr>
          <a:xfrm>
            <a:off x="5976375" y="1244375"/>
            <a:ext cx="1266600" cy="15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2"/>
          <p:cNvSpPr/>
          <p:nvPr/>
        </p:nvSpPr>
        <p:spPr>
          <a:xfrm>
            <a:off x="5976375" y="2395475"/>
            <a:ext cx="1266600" cy="15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2"/>
          <p:cNvSpPr/>
          <p:nvPr/>
        </p:nvSpPr>
        <p:spPr>
          <a:xfrm>
            <a:off x="5976375" y="2928125"/>
            <a:ext cx="1266600" cy="15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2"/>
          <p:cNvSpPr/>
          <p:nvPr/>
        </p:nvSpPr>
        <p:spPr>
          <a:xfrm>
            <a:off x="5976375" y="3405075"/>
            <a:ext cx="1266600" cy="15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nvSpPr>
        <p:spPr>
          <a:xfrm>
            <a:off x="537075" y="1697583"/>
            <a:ext cx="7611900" cy="110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Calibri"/>
                <a:ea typeface="Calibri"/>
                <a:cs typeface="Calibri"/>
                <a:sym typeface="Calibri"/>
              </a:rPr>
              <a:t>Here - The host where this ssh instance will be executed</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9900FF"/>
              </a:buClr>
              <a:buSzPts val="1600"/>
              <a:buFont typeface="Calibri"/>
              <a:buAutoNum type="arabicPeriod"/>
            </a:pPr>
            <a:r>
              <a:rPr b="0" i="0" lang="en" sz="1600" u="none" cap="none" strike="noStrike">
                <a:solidFill>
                  <a:srgbClr val="9900FF"/>
                </a:solidFill>
                <a:latin typeface="Calibri"/>
                <a:ea typeface="Calibri"/>
                <a:cs typeface="Calibri"/>
                <a:sym typeface="Calibri"/>
              </a:rPr>
              <a:t>Calls ssh command binary to execute on the current host</a:t>
            </a:r>
            <a:endParaRPr b="0" i="0" sz="1600" u="none" cap="none" strike="noStrike">
              <a:solidFill>
                <a:srgbClr val="9900FF"/>
              </a:solidFill>
              <a:latin typeface="Calibri"/>
              <a:ea typeface="Calibri"/>
              <a:cs typeface="Calibri"/>
              <a:sym typeface="Calibri"/>
            </a:endParaRPr>
          </a:p>
          <a:p>
            <a:pPr indent="-330200" lvl="0" marL="457200" marR="0" rtl="0" algn="l">
              <a:lnSpc>
                <a:spcPct val="100000"/>
              </a:lnSpc>
              <a:spcBef>
                <a:spcPts val="0"/>
              </a:spcBef>
              <a:spcAft>
                <a:spcPts val="0"/>
              </a:spcAft>
              <a:buClr>
                <a:srgbClr val="FF00FF"/>
              </a:buClr>
              <a:buSzPts val="1600"/>
              <a:buFont typeface="Calibri"/>
              <a:buAutoNum type="arabicPeriod"/>
            </a:pPr>
            <a:r>
              <a:rPr b="0" i="0" lang="en" sz="1600" u="none" cap="none" strike="noStrike">
                <a:solidFill>
                  <a:srgbClr val="FF00FF"/>
                </a:solidFill>
                <a:latin typeface="Calibri"/>
                <a:ea typeface="Calibri"/>
                <a:cs typeface="Calibri"/>
                <a:sym typeface="Calibri"/>
              </a:rPr>
              <a:t>Multiplex Information - -M </a:t>
            </a:r>
            <a:r>
              <a:rPr b="0" i="1" lang="en" sz="1600" u="none" cap="none" strike="noStrike">
                <a:solidFill>
                  <a:srgbClr val="FF00FF"/>
                </a:solidFill>
                <a:latin typeface="Calibri"/>
                <a:ea typeface="Calibri"/>
                <a:cs typeface="Calibri"/>
                <a:sym typeface="Calibri"/>
              </a:rPr>
              <a:t>makes</a:t>
            </a:r>
            <a:r>
              <a:rPr b="0" i="0" lang="en" sz="1600" u="none" cap="none" strike="noStrike">
                <a:solidFill>
                  <a:srgbClr val="FF00FF"/>
                </a:solidFill>
                <a:latin typeface="Calibri"/>
                <a:ea typeface="Calibri"/>
                <a:cs typeface="Calibri"/>
                <a:sym typeface="Calibri"/>
              </a:rPr>
              <a:t> a new socket and -S </a:t>
            </a:r>
            <a:r>
              <a:rPr b="0" i="1" lang="en" sz="1600" u="none" cap="none" strike="noStrike">
                <a:solidFill>
                  <a:srgbClr val="FF00FF"/>
                </a:solidFill>
                <a:latin typeface="Calibri"/>
                <a:ea typeface="Calibri"/>
                <a:cs typeface="Calibri"/>
                <a:sym typeface="Calibri"/>
              </a:rPr>
              <a:t>saves</a:t>
            </a:r>
            <a:r>
              <a:rPr b="0" i="0" lang="en" sz="1600" u="none" cap="none" strike="noStrike">
                <a:solidFill>
                  <a:srgbClr val="FF00FF"/>
                </a:solidFill>
                <a:latin typeface="Calibri"/>
                <a:ea typeface="Calibri"/>
                <a:cs typeface="Calibri"/>
                <a:sym typeface="Calibri"/>
              </a:rPr>
              <a:t> the socket information for future use. </a:t>
            </a:r>
            <a:endParaRPr b="0" i="0" sz="1600" u="none" cap="none" strike="noStrike">
              <a:solidFill>
                <a:srgbClr val="FF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6"/>
              </a:solidFill>
              <a:latin typeface="Calibri"/>
              <a:ea typeface="Calibri"/>
              <a:cs typeface="Calibri"/>
              <a:sym typeface="Calibri"/>
            </a:endParaRPr>
          </a:p>
        </p:txBody>
      </p:sp>
      <p:sp>
        <p:nvSpPr>
          <p:cNvPr id="177" name="Google Shape;177;p23"/>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Basic Multiplexed Syntax</a:t>
            </a:r>
            <a:endParaRPr b="0" i="0" sz="3000" u="none" cap="none" strike="noStrike">
              <a:solidFill>
                <a:schemeClr val="dk1"/>
              </a:solidFill>
              <a:latin typeface="Calibri"/>
              <a:ea typeface="Calibri"/>
              <a:cs typeface="Calibri"/>
              <a:sym typeface="Calibri"/>
            </a:endParaRPr>
          </a:p>
        </p:txBody>
      </p:sp>
      <p:sp>
        <p:nvSpPr>
          <p:cNvPr id="178" name="Google Shape;178;p23"/>
          <p:cNvSpPr txBox="1"/>
          <p:nvPr/>
        </p:nvSpPr>
        <p:spPr>
          <a:xfrm>
            <a:off x="537075" y="2918225"/>
            <a:ext cx="7588500" cy="92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Present Connection - Where we are pointing our connection attempt right now</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FF9900"/>
              </a:buClr>
              <a:buSzPts val="1400"/>
              <a:buFont typeface="Calibri"/>
              <a:buAutoNum type="arabicPeriod"/>
            </a:pPr>
            <a:r>
              <a:rPr b="0" i="0" lang="en" sz="1400" u="none" cap="none" strike="noStrike">
                <a:solidFill>
                  <a:srgbClr val="FF9900"/>
                </a:solidFill>
                <a:latin typeface="Calibri"/>
                <a:ea typeface="Calibri"/>
                <a:cs typeface="Calibri"/>
                <a:sym typeface="Calibri"/>
              </a:rPr>
              <a:t>Port - The specific port listening for an ssh connection. Here, ssh is listening on port 2022</a:t>
            </a:r>
            <a:endParaRPr b="0" i="0" sz="1400" u="none" cap="none" strike="noStrike">
              <a:solidFill>
                <a:srgbClr val="FF9900"/>
              </a:solidFill>
              <a:latin typeface="Calibri"/>
              <a:ea typeface="Calibri"/>
              <a:cs typeface="Calibri"/>
              <a:sym typeface="Calibri"/>
            </a:endParaRPr>
          </a:p>
          <a:p>
            <a:pPr indent="-317500" lvl="0" marL="457200" marR="0" rtl="0" algn="l">
              <a:lnSpc>
                <a:spcPct val="100000"/>
              </a:lnSpc>
              <a:spcBef>
                <a:spcPts val="0"/>
              </a:spcBef>
              <a:spcAft>
                <a:spcPts val="0"/>
              </a:spcAft>
              <a:buClr>
                <a:srgbClr val="FF0000"/>
              </a:buClr>
              <a:buSzPts val="1400"/>
              <a:buFont typeface="Calibri"/>
              <a:buAutoNum type="arabicPeriod"/>
            </a:pPr>
            <a:r>
              <a:rPr b="0" i="0" lang="en" sz="1400" u="none" cap="none" strike="noStrike">
                <a:solidFill>
                  <a:srgbClr val="FF0000"/>
                </a:solidFill>
                <a:latin typeface="Calibri"/>
                <a:ea typeface="Calibri"/>
                <a:cs typeface="Calibri"/>
                <a:sym typeface="Calibri"/>
              </a:rPr>
              <a:t>Username - What user do you intend to authenticate as when you land on target?</a:t>
            </a:r>
            <a:endParaRPr b="0" i="0" sz="1400" u="none" cap="none" strike="noStrike">
              <a:solidFill>
                <a:srgbClr val="FF0000"/>
              </a:solidFill>
              <a:latin typeface="Calibri"/>
              <a:ea typeface="Calibri"/>
              <a:cs typeface="Calibri"/>
              <a:sym typeface="Calibri"/>
            </a:endParaRPr>
          </a:p>
          <a:p>
            <a:pPr indent="-317500" lvl="0" marL="457200" marR="0" rtl="0" algn="l">
              <a:lnSpc>
                <a:spcPct val="100000"/>
              </a:lnSpc>
              <a:spcBef>
                <a:spcPts val="0"/>
              </a:spcBef>
              <a:spcAft>
                <a:spcPts val="0"/>
              </a:spcAft>
              <a:buClr>
                <a:srgbClr val="980000"/>
              </a:buClr>
              <a:buSzPts val="1400"/>
              <a:buFont typeface="Calibri"/>
              <a:buAutoNum type="arabicPeriod"/>
            </a:pPr>
            <a:r>
              <a:rPr b="0" i="0" lang="en" sz="1400" u="none" cap="none" strike="noStrike">
                <a:solidFill>
                  <a:srgbClr val="980000"/>
                </a:solidFill>
                <a:latin typeface="Calibri"/>
                <a:ea typeface="Calibri"/>
                <a:cs typeface="Calibri"/>
                <a:sym typeface="Calibri"/>
              </a:rPr>
              <a:t>IP - Where are we sending our connection request to right now?</a:t>
            </a:r>
            <a:endParaRPr b="0" i="0" sz="1400" u="none" cap="none" strike="noStrike">
              <a:solidFill>
                <a:srgbClr val="000000"/>
              </a:solidFill>
              <a:latin typeface="Arial"/>
              <a:ea typeface="Arial"/>
              <a:cs typeface="Arial"/>
              <a:sym typeface="Arial"/>
            </a:endParaRPr>
          </a:p>
        </p:txBody>
      </p:sp>
      <p:sp>
        <p:nvSpPr>
          <p:cNvPr id="179" name="Google Shape;179;p23"/>
          <p:cNvSpPr txBox="1"/>
          <p:nvPr/>
        </p:nvSpPr>
        <p:spPr>
          <a:xfrm>
            <a:off x="537075" y="77737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Basic multiplexed SSH command: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900FF"/>
                </a:solidFill>
                <a:latin typeface="Calibri"/>
                <a:ea typeface="Calibri"/>
                <a:cs typeface="Calibri"/>
                <a:sym typeface="Calibri"/>
              </a:rPr>
              <a:t>ssh</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FF"/>
                </a:solidFill>
                <a:latin typeface="Calibri"/>
                <a:ea typeface="Calibri"/>
                <a:cs typeface="Calibri"/>
                <a:sym typeface="Calibri"/>
              </a:rPr>
              <a:t>-M -S /tmp/T1 </a:t>
            </a:r>
            <a:r>
              <a:rPr b="0" i="0" lang="en" sz="1600" u="none" cap="none" strike="noStrike">
                <a:solidFill>
                  <a:srgbClr val="FF9900"/>
                </a:solidFill>
                <a:latin typeface="Calibri"/>
                <a:ea typeface="Calibri"/>
                <a:cs typeface="Calibri"/>
                <a:sym typeface="Calibri"/>
              </a:rPr>
              <a:t>-p 2022</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00"/>
                </a:solidFill>
                <a:latin typeface="Calibri"/>
                <a:ea typeface="Calibri"/>
                <a:cs typeface="Calibri"/>
                <a:sym typeface="Calibri"/>
              </a:rPr>
              <a:t>root</a:t>
            </a:r>
            <a:r>
              <a:rPr b="0" i="0" lang="en" sz="1600" u="none" cap="none" strike="noStrike">
                <a:solidFill>
                  <a:srgbClr val="980000"/>
                </a:solidFill>
                <a:latin typeface="Calibri"/>
                <a:ea typeface="Calibri"/>
                <a:cs typeface="Calibri"/>
                <a:sym typeface="Calibri"/>
              </a:rPr>
              <a:t>@</a:t>
            </a:r>
            <a:r>
              <a:rPr lang="en" sz="1600">
                <a:solidFill>
                  <a:srgbClr val="980000"/>
                </a:solidFill>
                <a:latin typeface="Calibri"/>
                <a:ea typeface="Calibri"/>
                <a:cs typeface="Calibri"/>
                <a:sym typeface="Calibri"/>
              </a:rPr>
              <a:t>12.34.56.78</a:t>
            </a:r>
            <a:endParaRPr b="0" i="0" sz="1600" u="none" cap="none" strike="noStrike">
              <a:solidFill>
                <a:srgbClr val="000000"/>
              </a:solidFill>
              <a:latin typeface="Arial"/>
              <a:ea typeface="Arial"/>
              <a:cs typeface="Arial"/>
              <a:sym typeface="Arial"/>
            </a:endParaRPr>
          </a:p>
        </p:txBody>
      </p:sp>
      <p:sp>
        <p:nvSpPr>
          <p:cNvPr id="180" name="Google Shape;180;p23"/>
          <p:cNvSpPr txBox="1"/>
          <p:nvPr/>
        </p:nvSpPr>
        <p:spPr>
          <a:xfrm>
            <a:off x="557925" y="3967875"/>
            <a:ext cx="7546800" cy="90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Awesome! </a:t>
            </a:r>
            <a:r>
              <a:rPr b="0" i="1" lang="en" sz="1400" u="none" cap="none" strike="noStrike">
                <a:solidFill>
                  <a:srgbClr val="000000"/>
                </a:solidFill>
                <a:latin typeface="Arial"/>
                <a:ea typeface="Arial"/>
                <a:cs typeface="Arial"/>
                <a:sym typeface="Arial"/>
              </a:rPr>
              <a:t>Now </a:t>
            </a:r>
            <a:r>
              <a:rPr b="0" i="0" lang="en" sz="1400" u="none" cap="none" strike="noStrike">
                <a:solidFill>
                  <a:srgbClr val="000000"/>
                </a:solidFill>
                <a:latin typeface="Arial"/>
                <a:ea typeface="Arial"/>
                <a:cs typeface="Arial"/>
                <a:sym typeface="Arial"/>
              </a:rPr>
              <a:t>it’s time to get all the windows on target! Let’s open up five windows!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Establish </a:t>
            </a:r>
            <a:r>
              <a:rPr b="0" i="1" lang="en" sz="1400" u="none" cap="none" strike="noStrike">
                <a:solidFill>
                  <a:srgbClr val="000000"/>
                </a:solidFill>
                <a:latin typeface="Arial"/>
                <a:ea typeface="Arial"/>
                <a:cs typeface="Arial"/>
                <a:sym typeface="Arial"/>
              </a:rPr>
              <a:t>Secondary</a:t>
            </a:r>
            <a:r>
              <a:rPr b="0" i="0" lang="en" sz="1400" u="none" cap="none" strike="noStrike">
                <a:solidFill>
                  <a:srgbClr val="000000"/>
                </a:solidFill>
                <a:latin typeface="Arial"/>
                <a:ea typeface="Arial"/>
                <a:cs typeface="Arial"/>
                <a:sym typeface="Arial"/>
              </a:rPr>
              <a:t> windows by running </a:t>
            </a:r>
            <a:r>
              <a:rPr b="0" i="0" lang="en" sz="1600" u="none" cap="none" strike="noStrike">
                <a:solidFill>
                  <a:srgbClr val="9900FF"/>
                </a:solidFill>
                <a:latin typeface="Calibri"/>
                <a:ea typeface="Calibri"/>
                <a:cs typeface="Calibri"/>
                <a:sym typeface="Calibri"/>
              </a:rPr>
              <a:t>ssh</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FF"/>
                </a:solidFill>
                <a:latin typeface="Calibri"/>
                <a:ea typeface="Calibri"/>
                <a:cs typeface="Calibri"/>
                <a:sym typeface="Calibri"/>
              </a:rPr>
              <a:t>-S /tmp/T1 </a:t>
            </a:r>
            <a:r>
              <a:rPr b="0" i="0" lang="en" sz="1600" u="none" cap="none" strike="noStrike">
                <a:solidFill>
                  <a:srgbClr val="FF9900"/>
                </a:solidFill>
                <a:latin typeface="Calibri"/>
                <a:ea typeface="Calibri"/>
                <a:cs typeface="Calibri"/>
                <a:sym typeface="Calibri"/>
              </a:rPr>
              <a:t>-p 2022</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00"/>
                </a:solidFill>
                <a:latin typeface="Calibri"/>
                <a:ea typeface="Calibri"/>
                <a:cs typeface="Calibri"/>
                <a:sym typeface="Calibri"/>
              </a:rPr>
              <a:t>root</a:t>
            </a:r>
            <a:r>
              <a:rPr b="0" i="0" lang="en" sz="1600" u="none" cap="none" strike="noStrike">
                <a:solidFill>
                  <a:srgbClr val="980000"/>
                </a:solidFill>
                <a:latin typeface="Calibri"/>
                <a:ea typeface="Calibri"/>
                <a:cs typeface="Calibri"/>
                <a:sym typeface="Calibri"/>
              </a:rPr>
              <a:t>@192.168.0.1</a:t>
            </a:r>
            <a:br>
              <a:rPr b="0" i="0" lang="en" sz="1600" u="none" cap="none" strike="noStrike">
                <a:solidFill>
                  <a:srgbClr val="980000"/>
                </a:solidFill>
                <a:latin typeface="Calibri"/>
                <a:ea typeface="Calibri"/>
                <a:cs typeface="Calibri"/>
                <a:sym typeface="Calibri"/>
              </a:rPr>
            </a:br>
            <a:r>
              <a:rPr b="0" i="0" lang="en" sz="1600" u="none" cap="none" strike="noStrike">
                <a:solidFill>
                  <a:srgbClr val="FF0000"/>
                </a:solidFill>
                <a:latin typeface="Calibri"/>
                <a:ea typeface="Calibri"/>
                <a:cs typeface="Calibri"/>
                <a:sym typeface="Calibri"/>
              </a:rPr>
              <a:t>Note: If you include the -M on your secondary, you will overwrite your original socket.</a:t>
            </a:r>
            <a:endParaRPr b="0" i="0" sz="1400" u="none" cap="none" strike="noStrike">
              <a:solidFill>
                <a:srgbClr val="FF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Basic Syntax</a:t>
            </a:r>
            <a:endParaRPr b="0" i="0" sz="3000" u="none" cap="none" strike="noStrike">
              <a:solidFill>
                <a:schemeClr val="dk1"/>
              </a:solidFill>
              <a:latin typeface="Calibri"/>
              <a:ea typeface="Calibri"/>
              <a:cs typeface="Calibri"/>
              <a:sym typeface="Calibri"/>
            </a:endParaRPr>
          </a:p>
        </p:txBody>
      </p:sp>
      <p:sp>
        <p:nvSpPr>
          <p:cNvPr id="186" name="Google Shape;186;p24"/>
          <p:cNvSpPr txBox="1"/>
          <p:nvPr/>
        </p:nvSpPr>
        <p:spPr>
          <a:xfrm>
            <a:off x="578625" y="60592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Now to take a look at our netstat… </a:t>
            </a:r>
            <a:endParaRPr b="0" i="0" sz="1600" u="none" cap="none" strike="noStrike">
              <a:solidFill>
                <a:srgbClr val="000000"/>
              </a:solidFill>
              <a:latin typeface="Arial"/>
              <a:ea typeface="Arial"/>
              <a:cs typeface="Arial"/>
              <a:sym typeface="Arial"/>
            </a:endParaRPr>
          </a:p>
        </p:txBody>
      </p:sp>
      <p:sp>
        <p:nvSpPr>
          <p:cNvPr id="187" name="Google Shape;187;p24"/>
          <p:cNvSpPr txBox="1"/>
          <p:nvPr/>
        </p:nvSpPr>
        <p:spPr>
          <a:xfrm>
            <a:off x="578625" y="4202075"/>
            <a:ext cx="7546800" cy="74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Well that looks better! Still shouldn’t open too many windows if I don’t need to, though. All those bash instances look pretty suspicious.</a:t>
            </a:r>
            <a:endParaRPr b="0" i="0" sz="1400" u="none" cap="none" strike="noStrike">
              <a:solidFill>
                <a:srgbClr val="000000"/>
              </a:solidFill>
              <a:latin typeface="Arial"/>
              <a:ea typeface="Arial"/>
              <a:cs typeface="Arial"/>
              <a:sym typeface="Arial"/>
            </a:endParaRPr>
          </a:p>
        </p:txBody>
      </p:sp>
      <p:sp>
        <p:nvSpPr>
          <p:cNvPr id="188" name="Google Shape;188;p24"/>
          <p:cNvSpPr txBox="1"/>
          <p:nvPr/>
        </p:nvSpPr>
        <p:spPr>
          <a:xfrm>
            <a:off x="537075" y="2344500"/>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And our authentication logs… </a:t>
            </a:r>
            <a:endParaRPr b="0" i="0" sz="1600" u="none" cap="none" strike="noStrike">
              <a:solidFill>
                <a:srgbClr val="000000"/>
              </a:solidFill>
              <a:latin typeface="Arial"/>
              <a:ea typeface="Arial"/>
              <a:cs typeface="Arial"/>
              <a:sym typeface="Arial"/>
            </a:endParaRPr>
          </a:p>
        </p:txBody>
      </p:sp>
      <p:sp>
        <p:nvSpPr>
          <p:cNvPr id="189" name="Google Shape;189;p24"/>
          <p:cNvSpPr txBox="1"/>
          <p:nvPr/>
        </p:nvSpPr>
        <p:spPr>
          <a:xfrm>
            <a:off x="578625" y="3121438"/>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And our process list… </a:t>
            </a:r>
            <a:endParaRPr b="0" i="0" sz="1600" u="none" cap="none" strike="noStrike">
              <a:solidFill>
                <a:srgbClr val="000000"/>
              </a:solidFill>
              <a:latin typeface="Arial"/>
              <a:ea typeface="Arial"/>
              <a:cs typeface="Arial"/>
              <a:sym typeface="Arial"/>
            </a:endParaRPr>
          </a:p>
        </p:txBody>
      </p:sp>
      <p:pic>
        <p:nvPicPr>
          <p:cNvPr id="190" name="Google Shape;190;p24"/>
          <p:cNvPicPr preferRelativeResize="0"/>
          <p:nvPr/>
        </p:nvPicPr>
        <p:blipFill rotWithShape="1">
          <a:blip r:embed="rId3">
            <a:alphaModFix/>
          </a:blip>
          <a:srcRect b="0" l="0" r="0" t="0"/>
          <a:stretch/>
        </p:blipFill>
        <p:spPr>
          <a:xfrm>
            <a:off x="578625" y="2675100"/>
            <a:ext cx="6368764" cy="487950"/>
          </a:xfrm>
          <a:prstGeom prst="rect">
            <a:avLst/>
          </a:prstGeom>
          <a:noFill/>
          <a:ln>
            <a:noFill/>
          </a:ln>
        </p:spPr>
      </p:pic>
      <p:pic>
        <p:nvPicPr>
          <p:cNvPr id="191" name="Google Shape;191;p24"/>
          <p:cNvPicPr preferRelativeResize="0"/>
          <p:nvPr/>
        </p:nvPicPr>
        <p:blipFill rotWithShape="1">
          <a:blip r:embed="rId4">
            <a:alphaModFix/>
          </a:blip>
          <a:srcRect b="0" l="0" r="0" t="0"/>
          <a:stretch/>
        </p:blipFill>
        <p:spPr>
          <a:xfrm>
            <a:off x="578613" y="3449025"/>
            <a:ext cx="8319376" cy="791000"/>
          </a:xfrm>
          <a:prstGeom prst="rect">
            <a:avLst/>
          </a:prstGeom>
          <a:noFill/>
          <a:ln>
            <a:noFill/>
          </a:ln>
        </p:spPr>
      </p:pic>
      <p:pic>
        <p:nvPicPr>
          <p:cNvPr id="192" name="Google Shape;192;p24"/>
          <p:cNvPicPr preferRelativeResize="0"/>
          <p:nvPr/>
        </p:nvPicPr>
        <p:blipFill rotWithShape="1">
          <a:blip r:embed="rId5">
            <a:alphaModFix/>
          </a:blip>
          <a:srcRect b="0" l="0" r="0" t="0"/>
          <a:stretch/>
        </p:blipFill>
        <p:spPr>
          <a:xfrm>
            <a:off x="537074" y="1023787"/>
            <a:ext cx="6330401" cy="1265000"/>
          </a:xfrm>
          <a:prstGeom prst="rect">
            <a:avLst/>
          </a:prstGeom>
          <a:noFill/>
          <a:ln>
            <a:noFill/>
          </a:ln>
        </p:spPr>
      </p:pic>
      <p:sp>
        <p:nvSpPr>
          <p:cNvPr id="193" name="Google Shape;193;p24"/>
          <p:cNvSpPr/>
          <p:nvPr/>
        </p:nvSpPr>
        <p:spPr>
          <a:xfrm>
            <a:off x="1747500" y="1478275"/>
            <a:ext cx="876900" cy="15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4"/>
          <p:cNvSpPr/>
          <p:nvPr/>
        </p:nvSpPr>
        <p:spPr>
          <a:xfrm>
            <a:off x="3292200" y="1478275"/>
            <a:ext cx="1043400" cy="15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4"/>
          <p:cNvSpPr/>
          <p:nvPr/>
        </p:nvSpPr>
        <p:spPr>
          <a:xfrm>
            <a:off x="4778800" y="2626225"/>
            <a:ext cx="924600" cy="15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25"/>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201" name="Google Shape;201;p25"/>
          <p:cNvSpPr txBox="1"/>
          <p:nvPr/>
        </p:nvSpPr>
        <p:spPr>
          <a:xfrm>
            <a:off x="1654325" y="16810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a:t>
            </a:r>
            <a:endParaRPr sz="1200">
              <a:solidFill>
                <a:srgbClr val="9900FF"/>
              </a:solidFill>
            </a:endParaRPr>
          </a:p>
        </p:txBody>
      </p:sp>
      <p:sp>
        <p:nvSpPr>
          <p:cNvPr id="202" name="Google Shape;202;p25"/>
          <p:cNvSpPr/>
          <p:nvPr/>
        </p:nvSpPr>
        <p:spPr>
          <a:xfrm>
            <a:off x="2517125" y="960575"/>
            <a:ext cx="907500" cy="204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5"/>
          <p:cNvSpPr txBox="1"/>
          <p:nvPr/>
        </p:nvSpPr>
        <p:spPr>
          <a:xfrm>
            <a:off x="3301100" y="16810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also here</a:t>
            </a:r>
            <a:endParaRPr sz="1200">
              <a:solidFill>
                <a:srgbClr val="99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Host Checking</a:t>
            </a:r>
            <a:endParaRPr b="0" i="0" sz="3000" u="none" cap="none" strike="noStrike">
              <a:solidFill>
                <a:schemeClr val="dk1"/>
              </a:solidFill>
              <a:latin typeface="Calibri"/>
              <a:ea typeface="Calibri"/>
              <a:cs typeface="Calibri"/>
              <a:sym typeface="Calibri"/>
            </a:endParaRPr>
          </a:p>
        </p:txBody>
      </p:sp>
      <p:sp>
        <p:nvSpPr>
          <p:cNvPr id="209" name="Google Shape;209;p26"/>
          <p:cNvSpPr txBox="1"/>
          <p:nvPr/>
        </p:nvSpPr>
        <p:spPr>
          <a:xfrm>
            <a:off x="537075" y="815300"/>
            <a:ext cx="79734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Awesome! I’m on target and I can have all the windows I want (within reason). It’s asking if I want to save this host.</a:t>
            </a:r>
            <a:endParaRPr b="0" i="0" sz="1600" u="none" cap="none" strike="noStrike">
              <a:solidFill>
                <a:srgbClr val="000000"/>
              </a:solidFill>
              <a:latin typeface="Arial"/>
              <a:ea typeface="Arial"/>
              <a:cs typeface="Arial"/>
              <a:sym typeface="Arial"/>
            </a:endParaRPr>
          </a:p>
        </p:txBody>
      </p:sp>
      <p:sp>
        <p:nvSpPr>
          <p:cNvPr id="210" name="Google Shape;210;p26"/>
          <p:cNvSpPr txBox="1"/>
          <p:nvPr/>
        </p:nvSpPr>
        <p:spPr>
          <a:xfrm>
            <a:off x="537075" y="3367550"/>
            <a:ext cx="79734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I’m just going to blindly accept “Yes” like I do with all of my End User License Agreements. I’m sure there will be no problems down the road.</a:t>
            </a:r>
            <a:endParaRPr b="0" i="0" sz="1600" u="none" cap="none" strike="noStrike">
              <a:solidFill>
                <a:srgbClr val="000000"/>
              </a:solidFill>
              <a:latin typeface="Arial"/>
              <a:ea typeface="Arial"/>
              <a:cs typeface="Arial"/>
              <a:sym typeface="Arial"/>
            </a:endParaRPr>
          </a:p>
        </p:txBody>
      </p:sp>
      <p:pic>
        <p:nvPicPr>
          <p:cNvPr id="211" name="Google Shape;211;p26"/>
          <p:cNvPicPr preferRelativeResize="0"/>
          <p:nvPr/>
        </p:nvPicPr>
        <p:blipFill rotWithShape="1">
          <a:blip r:embed="rId3">
            <a:alphaModFix/>
          </a:blip>
          <a:srcRect b="0" l="0" r="0" t="0"/>
          <a:stretch/>
        </p:blipFill>
        <p:spPr>
          <a:xfrm>
            <a:off x="199825" y="2029275"/>
            <a:ext cx="8839201" cy="87393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623888" y="996555"/>
            <a:ext cx="7886700" cy="2139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lang="en"/>
              <a:t>Tunneling</a:t>
            </a:r>
            <a:endParaRPr b="1" i="0" sz="3400" u="none" cap="none" strike="noStrike">
              <a:solidFill>
                <a:schemeClr val="dk1"/>
              </a:solidFill>
              <a:latin typeface="Arial"/>
              <a:ea typeface="Arial"/>
              <a:cs typeface="Arial"/>
              <a:sym typeface="Arial"/>
            </a:endParaRPr>
          </a:p>
        </p:txBody>
      </p:sp>
      <p:sp>
        <p:nvSpPr>
          <p:cNvPr id="217" name="Google Shape;217;p27"/>
          <p:cNvSpPr txBox="1"/>
          <p:nvPr>
            <p:ph idx="1" type="body"/>
          </p:nvPr>
        </p:nvSpPr>
        <p:spPr>
          <a:xfrm>
            <a:off x="623888" y="3156349"/>
            <a:ext cx="7886700" cy="1596300"/>
          </a:xfrm>
          <a:prstGeom prst="rect">
            <a:avLst/>
          </a:prstGeom>
          <a:noFill/>
          <a:ln>
            <a:noFill/>
          </a:ln>
        </p:spPr>
        <p:txBody>
          <a:bodyPr anchorCtr="0" anchor="t" bIns="68575" lIns="68575" spcFirstLastPara="1" rIns="68575" wrap="square" tIns="68575">
            <a:noAutofit/>
          </a:bodyPr>
          <a:lstStyle/>
          <a:p>
            <a:pPr indent="0" lvl="0" marL="0" marR="0" rtl="0" algn="ctr">
              <a:lnSpc>
                <a:spcPct val="90000"/>
              </a:lnSpc>
              <a:spcBef>
                <a:spcPts val="600"/>
              </a:spcBef>
              <a:spcAft>
                <a:spcPts val="0"/>
              </a:spcAft>
              <a:buClr>
                <a:srgbClr val="888888"/>
              </a:buClr>
              <a:buSzPts val="1600"/>
              <a:buFont typeface="Arial"/>
              <a:buNone/>
            </a:pPr>
            <a:r>
              <a:rPr lang="en"/>
              <a:t>SSH local and remote tunnels; Adding SSH Tunnels after connection</a:t>
            </a:r>
            <a:endParaRPr/>
          </a:p>
          <a:p>
            <a:pPr indent="0" lvl="0" marL="0" marR="0" rtl="0" algn="ctr">
              <a:lnSpc>
                <a:spcPct val="90000"/>
              </a:lnSpc>
              <a:spcBef>
                <a:spcPts val="600"/>
              </a:spcBef>
              <a:spcAft>
                <a:spcPts val="0"/>
              </a:spcAft>
              <a:buClr>
                <a:srgbClr val="888888"/>
              </a:buClr>
              <a:buSzPts val="1600"/>
              <a:buFont typeface="Arial"/>
              <a:buNone/>
            </a:pPr>
            <a:r>
              <a:rPr lang="en"/>
              <a:t>iptables/netsh</a:t>
            </a:r>
            <a:endParaRPr b="0" i="0" sz="1400" u="none" cap="none" strike="noStrike">
              <a:solidFill>
                <a:srgbClr val="888888"/>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Tunneling</a:t>
            </a:r>
            <a:endParaRPr b="0" i="0" sz="3000" u="none" cap="none" strike="noStrike">
              <a:solidFill>
                <a:schemeClr val="dk1"/>
              </a:solidFill>
              <a:latin typeface="Calibri"/>
              <a:ea typeface="Calibri"/>
              <a:cs typeface="Calibri"/>
              <a:sym typeface="Calibri"/>
            </a:endParaRPr>
          </a:p>
        </p:txBody>
      </p:sp>
      <p:sp>
        <p:nvSpPr>
          <p:cNvPr id="223" name="Google Shape;223;p28"/>
          <p:cNvSpPr txBox="1"/>
          <p:nvPr/>
        </p:nvSpPr>
        <p:spPr>
          <a:xfrm>
            <a:off x="537075" y="815300"/>
            <a:ext cx="6940500" cy="308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We’re on T1. Let’s take a look at our plan and see what comes next.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3C47D"/>
                </a:solidFill>
                <a:latin typeface="Arial"/>
                <a:ea typeface="Arial"/>
                <a:cs typeface="Arial"/>
                <a:sym typeface="Arial"/>
              </a:rPr>
              <a:t>&gt; T1: </a:t>
            </a:r>
            <a:r>
              <a:rPr lang="en" sz="1600">
                <a:solidFill>
                  <a:srgbClr val="93C47D"/>
                </a:solidFill>
              </a:rPr>
              <a:t>12.34.56.78</a:t>
            </a:r>
            <a:r>
              <a:rPr b="0" i="0" lang="en" sz="1600" u="none" cap="none" strike="noStrike">
                <a:solidFill>
                  <a:srgbClr val="93C47D"/>
                </a:solidFill>
                <a:latin typeface="Arial"/>
                <a:ea typeface="Arial"/>
                <a:cs typeface="Arial"/>
                <a:sym typeface="Arial"/>
              </a:rPr>
              <a:t>:2022 / 192.168.0.1</a:t>
            </a:r>
            <a:endParaRPr b="0" i="0" sz="1600" u="none" cap="none" strike="noStrike">
              <a:solidFill>
                <a:srgbClr val="93C47D"/>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Arial"/>
                <a:ea typeface="Arial"/>
                <a:cs typeface="Arial"/>
                <a:sym typeface="Arial"/>
              </a:rPr>
              <a:t>-&gt; T2: </a:t>
            </a:r>
            <a:r>
              <a:rPr lang="en" sz="1600">
                <a:solidFill>
                  <a:srgbClr val="FF0000"/>
                </a:solidFill>
              </a:rPr>
              <a:t>192.168.0.2:22 / 172.16.0.2</a:t>
            </a:r>
            <a:endParaRPr b="0" i="0" sz="16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--&gt; T3: </a:t>
            </a:r>
            <a:r>
              <a:rPr lang="en" sz="1600"/>
              <a:t>172.16.0.3</a:t>
            </a:r>
            <a:r>
              <a:rPr b="0" i="0" lang="en" sz="1600" u="none" cap="none" strike="noStrike">
                <a:solidFill>
                  <a:srgbClr val="000000"/>
                </a:solidFill>
                <a:latin typeface="Arial"/>
                <a:ea typeface="Arial"/>
                <a:cs typeface="Arial"/>
                <a:sym typeface="Arial"/>
              </a:rPr>
              <a:t>:2203</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--&gt; T4: </a:t>
            </a:r>
            <a:r>
              <a:rPr lang="en" sz="1600"/>
              <a:t>172.16.0.4</a:t>
            </a:r>
            <a:r>
              <a:rPr b="0" i="0" lang="en" sz="1600" u="none" cap="none" strike="noStrike">
                <a:solidFill>
                  <a:srgbClr val="000000"/>
                </a:solidFill>
                <a:latin typeface="Arial"/>
                <a:ea typeface="Arial"/>
                <a:cs typeface="Arial"/>
                <a:sym typeface="Arial"/>
              </a:rPr>
              <a:t>:2204 / 10.10.0.4</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---&lt; T5: </a:t>
            </a:r>
            <a:r>
              <a:rPr lang="en" sz="1600"/>
              <a:t>10.10.0.5</a:t>
            </a:r>
            <a:r>
              <a:rPr b="0" i="0" lang="en" sz="1600" u="none" cap="none" strike="noStrike">
                <a:solidFill>
                  <a:srgbClr val="000000"/>
                </a:solidFill>
                <a:latin typeface="Arial"/>
                <a:ea typeface="Arial"/>
                <a:cs typeface="Arial"/>
                <a:sym typeface="Arial"/>
              </a:rPr>
              <a:t> (beacon to TCP 12345)</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---&gt; T6: Suspected Mail Server</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My next target is T2, but </a:t>
            </a:r>
            <a:r>
              <a:rPr lang="en" sz="1600"/>
              <a:t>192.168 is an internal IP. I can’t touch it directly from my external ops box</a:t>
            </a:r>
            <a:r>
              <a:rPr b="0" i="0" lang="en" sz="1600" u="none" cap="none" strike="noStrike">
                <a:solidFill>
                  <a:srgbClr val="000000"/>
                </a:solidFill>
                <a:latin typeface="Arial"/>
                <a:ea typeface="Arial"/>
                <a:cs typeface="Arial"/>
                <a:sym typeface="Arial"/>
              </a:rPr>
              <a:t>. Because T2 is in an internal network, I need to connect </a:t>
            </a:r>
            <a:r>
              <a:rPr b="0" i="1" lang="en" sz="1600" u="none" cap="none" strike="noStrike">
                <a:solidFill>
                  <a:srgbClr val="000000"/>
                </a:solidFill>
                <a:latin typeface="Arial"/>
                <a:ea typeface="Arial"/>
                <a:cs typeface="Arial"/>
                <a:sym typeface="Arial"/>
              </a:rPr>
              <a:t>through</a:t>
            </a:r>
            <a:r>
              <a:rPr b="0" i="0" lang="en" sz="1600" u="none" cap="none" strike="noStrike">
                <a:solidFill>
                  <a:srgbClr val="000000"/>
                </a:solidFill>
                <a:latin typeface="Arial"/>
                <a:ea typeface="Arial"/>
                <a:cs typeface="Arial"/>
                <a:sym typeface="Arial"/>
              </a:rPr>
              <a:t> T1 if I want access it, but it’s bad practice to launch my ssh command in target space. It should only be launched from my opstation, which can</a:t>
            </a:r>
            <a:r>
              <a:rPr lang="en" sz="1600"/>
              <a:t>’t touch it</a:t>
            </a:r>
            <a:r>
              <a:rPr b="0" i="0" lang="en" sz="1600" u="none" cap="none" strike="noStrike">
                <a:solidFill>
                  <a:srgbClr val="000000"/>
                </a:solidFill>
                <a:latin typeface="Arial"/>
                <a:ea typeface="Arial"/>
                <a:cs typeface="Arial"/>
                <a:sym typeface="Arial"/>
              </a:rPr>
              <a:t>. What can I do?</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I can… TUNNEL!</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29"/>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229" name="Google Shape;229;p29"/>
          <p:cNvSpPr txBox="1"/>
          <p:nvPr/>
        </p:nvSpPr>
        <p:spPr>
          <a:xfrm>
            <a:off x="1654325" y="16810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a:t>
            </a:r>
            <a:endParaRPr sz="1200">
              <a:solidFill>
                <a:srgbClr val="9900FF"/>
              </a:solidFill>
            </a:endParaRPr>
          </a:p>
        </p:txBody>
      </p:sp>
      <p:sp>
        <p:nvSpPr>
          <p:cNvPr id="230" name="Google Shape;230;p29"/>
          <p:cNvSpPr/>
          <p:nvPr/>
        </p:nvSpPr>
        <p:spPr>
          <a:xfrm>
            <a:off x="2463900" y="960575"/>
            <a:ext cx="960600" cy="204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9"/>
          <p:cNvSpPr txBox="1"/>
          <p:nvPr/>
        </p:nvSpPr>
        <p:spPr>
          <a:xfrm>
            <a:off x="3301100" y="16810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also here</a:t>
            </a:r>
            <a:endParaRPr sz="1200">
              <a:solidFill>
                <a:srgbClr val="9900FF"/>
              </a:solidFill>
            </a:endParaRPr>
          </a:p>
        </p:txBody>
      </p:sp>
      <p:sp>
        <p:nvSpPr>
          <p:cNvPr id="232" name="Google Shape;232;p29"/>
          <p:cNvSpPr txBox="1"/>
          <p:nvPr/>
        </p:nvSpPr>
        <p:spPr>
          <a:xfrm>
            <a:off x="4834400" y="168102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80000"/>
                </a:solidFill>
              </a:rPr>
              <a:t>You want to be here</a:t>
            </a:r>
            <a:endParaRPr sz="1200">
              <a:solidFill>
                <a:srgbClr val="98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Tunnels - How Do They Work?</a:t>
            </a:r>
            <a:endParaRPr b="0" i="0" sz="3000" u="none" cap="none" strike="noStrike">
              <a:solidFill>
                <a:schemeClr val="dk1"/>
              </a:solidFill>
              <a:latin typeface="Calibri"/>
              <a:ea typeface="Calibri"/>
              <a:cs typeface="Calibri"/>
              <a:sym typeface="Calibri"/>
            </a:endParaRPr>
          </a:p>
        </p:txBody>
      </p:sp>
      <p:sp>
        <p:nvSpPr>
          <p:cNvPr id="238" name="Google Shape;238;p30"/>
          <p:cNvSpPr txBox="1"/>
          <p:nvPr/>
        </p:nvSpPr>
        <p:spPr>
          <a:xfrm>
            <a:off x="630625" y="803675"/>
            <a:ext cx="7892100" cy="393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dk1"/>
                </a:solidFill>
              </a:rPr>
              <a:t>In a word, encapsulation</a:t>
            </a:r>
            <a:r>
              <a:rPr b="0" i="0" lang="en" sz="1400" u="none" cap="none" strike="noStrike">
                <a:solidFill>
                  <a:schemeClr val="dk1"/>
                </a:solidFill>
                <a:latin typeface="Arial"/>
                <a:ea typeface="Arial"/>
                <a:cs typeface="Arial"/>
                <a:sym typeface="Arial"/>
              </a:rPr>
              <a:t>. Does that help any?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No? Okay, how about a few mor</a:t>
            </a:r>
            <a:r>
              <a:rPr lang="en">
                <a:solidFill>
                  <a:schemeClr val="dk1"/>
                </a:solidFill>
              </a:rPr>
              <a:t>e words.</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
                <a:solidFill>
                  <a:schemeClr val="dk1"/>
                </a:solidFill>
              </a:rPr>
              <a:t>SSH as a client/server system happens in the upper levels of the TCP/IP and OSI models. We create our ssh information (commands given or command output to be received) then send it down the network stack as payload with each layer–Transport, Network, Data Link, then physical. </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
                <a:solidFill>
                  <a:schemeClr val="dk1"/>
                </a:solidFill>
              </a:rPr>
              <a:t>What tunneling does is it sends our data down to the network layer where we’ve set up our local listener (127.0.0.1:2222) where our previous ssh T1 ssh session is listening. It then essentially takes that entire T2 session packet (transport header, network header, etc), swaps out IPs and ports from 127.0.0.1:2222 to whatever we specified) and runs it all the way back up our to our previous ssh session to act as the payload of the previous session’s ssh traffic so our packet looks a little something like this (overly simplified):</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
                <a:solidFill>
                  <a:schemeClr val="dk1"/>
                </a:solidFill>
              </a:rPr>
              <a:t>PACKET to A: [network header, transport header, encrypted payload to A (PACKET to B: [network header, transport header, encrypted payload to B])]</a:t>
            </a:r>
            <a:br>
              <a:rPr lang="en">
                <a:solidFill>
                  <a:schemeClr val="dk1"/>
                </a:solidFill>
              </a:rPr>
            </a:br>
            <a:br>
              <a:rPr lang="en">
                <a:solidFill>
                  <a:schemeClr val="dk1"/>
                </a:solidFill>
              </a:rPr>
            </a:br>
            <a:r>
              <a:rPr lang="en">
                <a:solidFill>
                  <a:schemeClr val="dk1"/>
                </a:solidFill>
              </a:rPr>
              <a:t>Packet is delivered to A. A finds a packet for B in its payload and forwards that packet to B.</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1"/>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Tunnels - How Do They Work?</a:t>
            </a:r>
            <a:endParaRPr b="0" i="0" sz="3000" u="none" cap="none" strike="noStrike">
              <a:solidFill>
                <a:schemeClr val="dk1"/>
              </a:solidFill>
              <a:latin typeface="Calibri"/>
              <a:ea typeface="Calibri"/>
              <a:cs typeface="Calibri"/>
              <a:sym typeface="Calibri"/>
            </a:endParaRPr>
          </a:p>
        </p:txBody>
      </p:sp>
      <p:sp>
        <p:nvSpPr>
          <p:cNvPr id="244" name="Google Shape;244;p31"/>
          <p:cNvSpPr txBox="1"/>
          <p:nvPr/>
        </p:nvSpPr>
        <p:spPr>
          <a:xfrm>
            <a:off x="630625" y="803675"/>
            <a:ext cx="7892100" cy="393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dk1"/>
                </a:solidFill>
              </a:rPr>
              <a:t>In a word, encapsulation</a:t>
            </a:r>
            <a:r>
              <a:rPr b="0" i="0" lang="en" sz="1400" u="none" cap="none" strike="noStrike">
                <a:solidFill>
                  <a:schemeClr val="dk1"/>
                </a:solidFill>
                <a:latin typeface="Arial"/>
                <a:ea typeface="Arial"/>
                <a:cs typeface="Arial"/>
                <a:sym typeface="Arial"/>
              </a:rPr>
              <a:t>. Does that help any?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No? Okay, how about a few mor</a:t>
            </a:r>
            <a:r>
              <a:rPr lang="en">
                <a:solidFill>
                  <a:schemeClr val="dk1"/>
                </a:solidFill>
              </a:rPr>
              <a:t>e words and an analogy.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Imagine if you will that you and your best friends Harold and George are infamous trouble makers to the point that their mother has deemed you a Bad Influence™ and will not allow you to talk. But. Your friends’ big sister Erica is a Good Influence™ and is also tutoring you in Algebra, so you’re allowed to talk to her.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You need to get a message to Harold and George, but when you knock on the door, their mom always answers. Denied!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Back at home, you write a letter to Harold and George and put it in an envelope, then hide that envelope into a bigger envelope addressed to Erica. You give their mom a letter addressed to Erica. You are Erica can talk, so the letter is allowed in.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Erica opens the envelope and finds another envelope addressed to Harold and George, which she dutifully passes on. Mom sees Erica giving Harold and George a letter, but since Erica is allowed to talk to them, she allows it. As far as she knows, the two letters are unrelated because she only saw one letter come in, and it was addressed to Erica.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 Basic Syntax</a:t>
            </a:r>
            <a:endParaRPr b="0" i="0" sz="3000" u="none" cap="none" strike="noStrike">
              <a:solidFill>
                <a:schemeClr val="dk1"/>
              </a:solidFill>
              <a:latin typeface="Calibri"/>
              <a:ea typeface="Calibri"/>
              <a:cs typeface="Calibri"/>
              <a:sym typeface="Calibri"/>
            </a:endParaRPr>
          </a:p>
        </p:txBody>
      </p:sp>
      <p:sp>
        <p:nvSpPr>
          <p:cNvPr id="250" name="Google Shape;250;p32"/>
          <p:cNvSpPr txBox="1"/>
          <p:nvPr/>
        </p:nvSpPr>
        <p:spPr>
          <a:xfrm>
            <a:off x="932250" y="803675"/>
            <a:ext cx="7447500" cy="393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Every</a:t>
            </a:r>
            <a:r>
              <a:rPr b="0" i="0" lang="en" sz="1400" u="none" cap="none" strike="noStrike">
                <a:solidFill>
                  <a:srgbClr val="000000"/>
                </a:solidFill>
                <a:latin typeface="Arial"/>
                <a:ea typeface="Arial"/>
                <a:cs typeface="Arial"/>
                <a:sym typeface="Arial"/>
              </a:rPr>
              <a:t> ssh tunnel line has 5 parts, which always come </a:t>
            </a:r>
            <a:r>
              <a:rPr b="1" i="1" lang="en" sz="1400" u="none" cap="none" strike="noStrike">
                <a:solidFill>
                  <a:srgbClr val="000000"/>
                </a:solidFill>
                <a:latin typeface="Arial"/>
                <a:ea typeface="Arial"/>
                <a:cs typeface="Arial"/>
                <a:sym typeface="Arial"/>
              </a:rPr>
              <a:t>in the same order</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4A86E8"/>
                </a:solidFill>
                <a:latin typeface="Arial"/>
                <a:ea typeface="Arial"/>
                <a:cs typeface="Arial"/>
                <a:sym typeface="Arial"/>
              </a:rPr>
              <a:t>-L </a:t>
            </a:r>
            <a:r>
              <a:rPr b="0" i="0" lang="en" sz="1400" u="none" cap="none" strike="noStrike">
                <a:solidFill>
                  <a:srgbClr val="6AA84F"/>
                </a:solidFill>
                <a:latin typeface="Arial"/>
                <a:ea typeface="Arial"/>
                <a:cs typeface="Arial"/>
                <a:sym typeface="Arial"/>
              </a:rPr>
              <a:t>127.0.0.1:</a:t>
            </a:r>
            <a:r>
              <a:rPr b="0" i="0" lang="en" sz="1400" u="none" cap="none" strike="noStrike">
                <a:solidFill>
                  <a:srgbClr val="FF9900"/>
                </a:solidFill>
                <a:latin typeface="Arial"/>
                <a:ea typeface="Arial"/>
                <a:cs typeface="Arial"/>
                <a:sym typeface="Arial"/>
              </a:rPr>
              <a:t>2222:</a:t>
            </a:r>
            <a:r>
              <a:rPr b="0" i="0" lang="en" sz="1400" u="none" cap="none" strike="noStrike">
                <a:solidFill>
                  <a:srgbClr val="FF0000"/>
                </a:solidFill>
                <a:latin typeface="Arial"/>
                <a:ea typeface="Arial"/>
                <a:cs typeface="Arial"/>
                <a:sym typeface="Arial"/>
              </a:rPr>
              <a:t>192.168.0.2:</a:t>
            </a:r>
            <a:r>
              <a:rPr b="0" i="0" lang="en" sz="1400" u="none" cap="none" strike="noStrike">
                <a:solidFill>
                  <a:srgbClr val="980000"/>
                </a:solidFill>
                <a:latin typeface="Arial"/>
                <a:ea typeface="Arial"/>
                <a:cs typeface="Arial"/>
                <a:sym typeface="Arial"/>
              </a:rPr>
              <a:t>22</a:t>
            </a:r>
            <a:endParaRPr b="0" i="0"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4A86E8"/>
              </a:buClr>
              <a:buSzPts val="1400"/>
              <a:buFont typeface="Arial"/>
              <a:buAutoNum type="arabicPeriod"/>
            </a:pPr>
            <a:r>
              <a:rPr b="0" i="0" lang="en" sz="1400" u="none" cap="none" strike="noStrike">
                <a:solidFill>
                  <a:srgbClr val="4A86E8"/>
                </a:solidFill>
                <a:latin typeface="Arial"/>
                <a:ea typeface="Arial"/>
                <a:cs typeface="Arial"/>
                <a:sym typeface="Arial"/>
              </a:rPr>
              <a:t>The “direction” or “listening” end of the tunnel, -L or -R, indicating whether the packet initiating the connection will be received on your (L)ocal host or the (R)emote target you are connecting to, followed by...</a:t>
            </a:r>
            <a:endParaRPr b="0" i="0" sz="1400" u="none" cap="none" strike="noStrike">
              <a:solidFill>
                <a:srgbClr val="4A86E8"/>
              </a:solidFill>
              <a:latin typeface="Arial"/>
              <a:ea typeface="Arial"/>
              <a:cs typeface="Arial"/>
              <a:sym typeface="Arial"/>
            </a:endParaRPr>
          </a:p>
          <a:p>
            <a:pPr indent="-317500" lvl="0" marL="457200" marR="0" rtl="0" algn="l">
              <a:lnSpc>
                <a:spcPct val="100000"/>
              </a:lnSpc>
              <a:spcBef>
                <a:spcPts val="0"/>
              </a:spcBef>
              <a:spcAft>
                <a:spcPts val="0"/>
              </a:spcAft>
              <a:buClr>
                <a:srgbClr val="6AA84F"/>
              </a:buClr>
              <a:buSzPts val="1400"/>
              <a:buFont typeface="Arial"/>
              <a:buAutoNum type="arabicPeriod"/>
            </a:pPr>
            <a:r>
              <a:rPr b="0" i="0" lang="en" sz="1400" u="none" cap="none" strike="noStrike">
                <a:solidFill>
                  <a:srgbClr val="6AA84F"/>
                </a:solidFill>
                <a:latin typeface="Arial"/>
                <a:ea typeface="Arial"/>
                <a:cs typeface="Arial"/>
                <a:sym typeface="Arial"/>
              </a:rPr>
              <a:t>The IP of the listening host, the very first host to receive the connection request packet, which controls where traffic will “enter” the ssh tunnel, followed by…</a:t>
            </a:r>
            <a:endParaRPr b="0" i="0" sz="1400" u="none" cap="none" strike="noStrike">
              <a:solidFill>
                <a:srgbClr val="6AA84F"/>
              </a:solidFill>
              <a:latin typeface="Arial"/>
              <a:ea typeface="Arial"/>
              <a:cs typeface="Arial"/>
              <a:sym typeface="Arial"/>
            </a:endParaRPr>
          </a:p>
          <a:p>
            <a:pPr indent="-317500" lvl="0" marL="457200" marR="0" rtl="0" algn="l">
              <a:lnSpc>
                <a:spcPct val="100000"/>
              </a:lnSpc>
              <a:spcBef>
                <a:spcPts val="0"/>
              </a:spcBef>
              <a:spcAft>
                <a:spcPts val="0"/>
              </a:spcAft>
              <a:buClr>
                <a:srgbClr val="FF9900"/>
              </a:buClr>
              <a:buSzPts val="1400"/>
              <a:buFont typeface="Arial"/>
              <a:buAutoNum type="arabicPeriod"/>
            </a:pPr>
            <a:r>
              <a:rPr b="0" i="0" lang="en" sz="1400" u="none" cap="none" strike="noStrike">
                <a:solidFill>
                  <a:srgbClr val="FF9900"/>
                </a:solidFill>
                <a:latin typeface="Arial"/>
                <a:ea typeface="Arial"/>
                <a:cs typeface="Arial"/>
                <a:sym typeface="Arial"/>
              </a:rPr>
              <a:t>The open listening port on the listening host where you expect a connection. This can </a:t>
            </a:r>
            <a:r>
              <a:rPr b="0" i="1" lang="en" sz="1400" u="none" cap="none" strike="noStrike">
                <a:solidFill>
                  <a:srgbClr val="FF9900"/>
                </a:solidFill>
                <a:latin typeface="Arial"/>
                <a:ea typeface="Arial"/>
                <a:cs typeface="Arial"/>
                <a:sym typeface="Arial"/>
              </a:rPr>
              <a:t>usually</a:t>
            </a:r>
            <a:r>
              <a:rPr b="0" i="0" lang="en" sz="1400" u="none" cap="none" strike="noStrike">
                <a:solidFill>
                  <a:srgbClr val="FF9900"/>
                </a:solidFill>
                <a:latin typeface="Arial"/>
                <a:ea typeface="Arial"/>
                <a:cs typeface="Arial"/>
                <a:sym typeface="Arial"/>
              </a:rPr>
              <a:t> be any number you like so long as that port is not already bound by another process. However, some devices may have restrictions on available ports. This port is followed by…</a:t>
            </a:r>
            <a:endParaRPr b="0" i="0" sz="1400" u="none" cap="none" strike="noStrike">
              <a:solidFill>
                <a:srgbClr val="FF9900"/>
              </a:solidFill>
              <a:latin typeface="Arial"/>
              <a:ea typeface="Arial"/>
              <a:cs typeface="Arial"/>
              <a:sym typeface="Arial"/>
            </a:endParaRPr>
          </a:p>
          <a:p>
            <a:pPr indent="-317500" lvl="0" marL="457200" marR="0" rtl="0" algn="l">
              <a:lnSpc>
                <a:spcPct val="100000"/>
              </a:lnSpc>
              <a:spcBef>
                <a:spcPts val="0"/>
              </a:spcBef>
              <a:spcAft>
                <a:spcPts val="0"/>
              </a:spcAft>
              <a:buClr>
                <a:srgbClr val="FF0000"/>
              </a:buClr>
              <a:buSzPts val="1400"/>
              <a:buFont typeface="Arial"/>
              <a:buAutoNum type="arabicPeriod"/>
            </a:pPr>
            <a:r>
              <a:rPr b="0" i="0" lang="en" sz="1400" u="none" cap="none" strike="noStrike">
                <a:solidFill>
                  <a:srgbClr val="FF0000"/>
                </a:solidFill>
                <a:latin typeface="Arial"/>
                <a:ea typeface="Arial"/>
                <a:cs typeface="Arial"/>
                <a:sym typeface="Arial"/>
              </a:rPr>
              <a:t>The </a:t>
            </a:r>
            <a:r>
              <a:rPr lang="en">
                <a:solidFill>
                  <a:srgbClr val="FF0000"/>
                </a:solidFill>
              </a:rPr>
              <a:t>server</a:t>
            </a:r>
            <a:r>
              <a:rPr b="0" i="0" lang="en" sz="1400" u="none" cap="none" strike="noStrike">
                <a:solidFill>
                  <a:srgbClr val="FF0000"/>
                </a:solidFill>
                <a:latin typeface="Arial"/>
                <a:ea typeface="Arial"/>
                <a:cs typeface="Arial"/>
                <a:sym typeface="Arial"/>
              </a:rPr>
              <a:t> IP or the IP of the remote host you want the connection packet to reach once it exits its ssh tunnel. This is usually, but not always, the target you are attempting to log into. Note this is not the IP of any target currently involved in your ssh connection. This is where you want to connect to </a:t>
            </a:r>
            <a:r>
              <a:rPr b="0" i="1" lang="en" sz="1400" u="none" cap="none" strike="noStrike">
                <a:solidFill>
                  <a:srgbClr val="FF0000"/>
                </a:solidFill>
                <a:latin typeface="Arial"/>
                <a:ea typeface="Arial"/>
                <a:cs typeface="Arial"/>
                <a:sym typeface="Arial"/>
              </a:rPr>
              <a:t>next</a:t>
            </a:r>
            <a:r>
              <a:rPr b="0" i="0" lang="en" sz="1400" u="none" cap="none" strike="noStrike">
                <a:solidFill>
                  <a:srgbClr val="FF0000"/>
                </a:solidFill>
                <a:latin typeface="Arial"/>
                <a:ea typeface="Arial"/>
                <a:cs typeface="Arial"/>
                <a:sym typeface="Arial"/>
              </a:rPr>
              <a:t>. This is followed by…</a:t>
            </a:r>
            <a:endParaRPr b="0" i="0" sz="1400" u="none" cap="none" strike="noStrike">
              <a:solidFill>
                <a:srgbClr val="FF0000"/>
              </a:solidFill>
              <a:latin typeface="Arial"/>
              <a:ea typeface="Arial"/>
              <a:cs typeface="Arial"/>
              <a:sym typeface="Arial"/>
            </a:endParaRPr>
          </a:p>
          <a:p>
            <a:pPr indent="-317500" lvl="0" marL="457200" marR="0" rtl="0" algn="l">
              <a:lnSpc>
                <a:spcPct val="100000"/>
              </a:lnSpc>
              <a:spcBef>
                <a:spcPts val="0"/>
              </a:spcBef>
              <a:spcAft>
                <a:spcPts val="0"/>
              </a:spcAft>
              <a:buClr>
                <a:srgbClr val="980000"/>
              </a:buClr>
              <a:buSzPts val="1400"/>
              <a:buFont typeface="Arial"/>
              <a:buAutoNum type="arabicPeriod"/>
            </a:pPr>
            <a:r>
              <a:rPr b="0" i="0" lang="en" sz="1400" u="none" cap="none" strike="noStrike">
                <a:solidFill>
                  <a:srgbClr val="980000"/>
                </a:solidFill>
                <a:latin typeface="Arial"/>
                <a:ea typeface="Arial"/>
                <a:cs typeface="Arial"/>
                <a:sym typeface="Arial"/>
              </a:rPr>
              <a:t>The </a:t>
            </a:r>
            <a:r>
              <a:rPr lang="en">
                <a:solidFill>
                  <a:srgbClr val="980000"/>
                </a:solidFill>
              </a:rPr>
              <a:t>service</a:t>
            </a:r>
            <a:r>
              <a:rPr b="0" i="0" lang="en" sz="1400" u="none" cap="none" strike="noStrike">
                <a:solidFill>
                  <a:srgbClr val="980000"/>
                </a:solidFill>
                <a:latin typeface="Arial"/>
                <a:ea typeface="Arial"/>
                <a:cs typeface="Arial"/>
                <a:sym typeface="Arial"/>
              </a:rPr>
              <a:t> port. The </a:t>
            </a:r>
            <a:r>
              <a:rPr lang="en">
                <a:solidFill>
                  <a:srgbClr val="980000"/>
                </a:solidFill>
              </a:rPr>
              <a:t>service</a:t>
            </a:r>
            <a:r>
              <a:rPr b="0" i="0" lang="en" sz="1400" u="none" cap="none" strike="noStrike">
                <a:solidFill>
                  <a:srgbClr val="980000"/>
                </a:solidFill>
                <a:latin typeface="Arial"/>
                <a:ea typeface="Arial"/>
                <a:cs typeface="Arial"/>
                <a:sym typeface="Arial"/>
              </a:rPr>
              <a:t> port is not created in your ssh connection, and the </a:t>
            </a:r>
            <a:r>
              <a:rPr lang="en">
                <a:solidFill>
                  <a:srgbClr val="980000"/>
                </a:solidFill>
              </a:rPr>
              <a:t>server</a:t>
            </a:r>
            <a:r>
              <a:rPr b="0" i="0" lang="en" sz="1400" u="none" cap="none" strike="noStrike">
                <a:solidFill>
                  <a:srgbClr val="980000"/>
                </a:solidFill>
                <a:latin typeface="Arial"/>
                <a:ea typeface="Arial"/>
                <a:cs typeface="Arial"/>
                <a:sym typeface="Arial"/>
              </a:rPr>
              <a:t> IP needs to already be listening there via some other process or service.</a:t>
            </a:r>
            <a:endParaRPr b="0" i="0"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txBox="1"/>
          <p:nvPr/>
        </p:nvSpPr>
        <p:spPr>
          <a:xfrm>
            <a:off x="525375" y="1563577"/>
            <a:ext cx="7611900" cy="8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SSH’s Home - Where this ssh instance will be executed</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9900FF"/>
              </a:buClr>
              <a:buSzPts val="1600"/>
              <a:buFont typeface="Calibri"/>
              <a:buAutoNum type="arabicPeriod"/>
            </a:pPr>
            <a:r>
              <a:rPr b="0" i="0" lang="en" sz="1600" u="none" cap="none" strike="noStrike">
                <a:solidFill>
                  <a:srgbClr val="9900FF"/>
                </a:solidFill>
                <a:latin typeface="Calibri"/>
                <a:ea typeface="Calibri"/>
                <a:cs typeface="Calibri"/>
                <a:sym typeface="Calibri"/>
              </a:rPr>
              <a:t>Calls ssh command binary to execute on the current host</a:t>
            </a:r>
            <a:endParaRPr b="0" i="0" sz="1600" u="none" cap="none" strike="noStrike">
              <a:solidFill>
                <a:srgbClr val="9900FF"/>
              </a:solidFill>
              <a:latin typeface="Calibri"/>
              <a:ea typeface="Calibri"/>
              <a:cs typeface="Calibri"/>
              <a:sym typeface="Calibri"/>
            </a:endParaRPr>
          </a:p>
          <a:p>
            <a:pPr indent="-330200" lvl="0" marL="457200" marR="0" rtl="0" algn="l">
              <a:lnSpc>
                <a:spcPct val="100000"/>
              </a:lnSpc>
              <a:spcBef>
                <a:spcPts val="0"/>
              </a:spcBef>
              <a:spcAft>
                <a:spcPts val="0"/>
              </a:spcAft>
              <a:buClr>
                <a:srgbClr val="FF00FF"/>
              </a:buClr>
              <a:buSzPts val="1600"/>
              <a:buFont typeface="Calibri"/>
              <a:buAutoNum type="arabicPeriod"/>
            </a:pPr>
            <a:r>
              <a:rPr b="0" i="0" lang="en" sz="1600" u="none" cap="none" strike="noStrike">
                <a:solidFill>
                  <a:srgbClr val="FF00FF"/>
                </a:solidFill>
                <a:latin typeface="Calibri"/>
                <a:ea typeface="Calibri"/>
                <a:cs typeface="Calibri"/>
                <a:sym typeface="Calibri"/>
              </a:rPr>
              <a:t>Multiplex Information - Define the connection information from our -S </a:t>
            </a:r>
            <a:r>
              <a:rPr b="0" i="1" lang="en" sz="1600" u="none" cap="none" strike="noStrike">
                <a:solidFill>
                  <a:srgbClr val="FF00FF"/>
                </a:solidFill>
                <a:latin typeface="Calibri"/>
                <a:ea typeface="Calibri"/>
                <a:cs typeface="Calibri"/>
                <a:sym typeface="Calibri"/>
              </a:rPr>
              <a:t>saved</a:t>
            </a:r>
            <a:r>
              <a:rPr b="0" i="0" lang="en" sz="1600" u="none" cap="none" strike="noStrike">
                <a:solidFill>
                  <a:srgbClr val="FF00FF"/>
                </a:solidFill>
                <a:latin typeface="Calibri"/>
                <a:ea typeface="Calibri"/>
                <a:cs typeface="Calibri"/>
                <a:sym typeface="Calibri"/>
              </a:rPr>
              <a:t> socket. </a:t>
            </a:r>
            <a:endParaRPr b="0" i="0" sz="1600" u="none" cap="none" strike="noStrike">
              <a:solidFill>
                <a:srgbClr val="FF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6"/>
              </a:solidFill>
              <a:latin typeface="Calibri"/>
              <a:ea typeface="Calibri"/>
              <a:cs typeface="Calibri"/>
              <a:sym typeface="Calibri"/>
            </a:endParaRPr>
          </a:p>
        </p:txBody>
      </p:sp>
      <p:sp>
        <p:nvSpPr>
          <p:cNvPr id="256" name="Google Shape;256;p33"/>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Basic Multiplex Tunnel Syntax</a:t>
            </a:r>
            <a:endParaRPr b="0" i="0" sz="3000" u="none" cap="none" strike="noStrike">
              <a:solidFill>
                <a:schemeClr val="dk1"/>
              </a:solidFill>
              <a:latin typeface="Calibri"/>
              <a:ea typeface="Calibri"/>
              <a:cs typeface="Calibri"/>
              <a:sym typeface="Calibri"/>
            </a:endParaRPr>
          </a:p>
        </p:txBody>
      </p:sp>
      <p:sp>
        <p:nvSpPr>
          <p:cNvPr id="257" name="Google Shape;257;p33"/>
          <p:cNvSpPr txBox="1"/>
          <p:nvPr/>
        </p:nvSpPr>
        <p:spPr>
          <a:xfrm>
            <a:off x="537075" y="2464475"/>
            <a:ext cx="7588500" cy="92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Present Connection - Where we are pointing our connection attempt right now</a:t>
            </a:r>
            <a:endParaRPr b="0" i="0" sz="1400" u="none" cap="none" strike="noStrike">
              <a:solidFill>
                <a:srgbClr val="FF0000"/>
              </a:solidFill>
              <a:latin typeface="Calibri"/>
              <a:ea typeface="Calibri"/>
              <a:cs typeface="Calibri"/>
              <a:sym typeface="Calibri"/>
            </a:endParaRPr>
          </a:p>
          <a:p>
            <a:pPr indent="-317500" lvl="0" marL="457200" marR="0" rtl="0" algn="l">
              <a:lnSpc>
                <a:spcPct val="100000"/>
              </a:lnSpc>
              <a:spcBef>
                <a:spcPts val="0"/>
              </a:spcBef>
              <a:spcAft>
                <a:spcPts val="0"/>
              </a:spcAft>
              <a:buClr>
                <a:srgbClr val="980000"/>
              </a:buClr>
              <a:buSzPts val="1400"/>
              <a:buFont typeface="Calibri"/>
              <a:buAutoNum type="arabicPeriod"/>
            </a:pPr>
            <a:r>
              <a:rPr b="0" i="0" lang="en" sz="1400" u="none" cap="none" strike="noStrike">
                <a:solidFill>
                  <a:srgbClr val="980000"/>
                </a:solidFill>
                <a:latin typeface="Calibri"/>
                <a:ea typeface="Calibri"/>
                <a:cs typeface="Calibri"/>
                <a:sym typeface="Calibri"/>
              </a:rPr>
              <a:t>Connection Information - because we are using the existing session context stored in /tmp/T1 we don’t need to restate that information here. However, ssh requires we put SOMETHING here, so we’ll put ‘dummy’ so if something goes wrong, it’s unable to actually connect to anything.</a:t>
            </a:r>
            <a:endParaRPr b="0" i="0" sz="1400" u="none" cap="none" strike="noStrike">
              <a:solidFill>
                <a:srgbClr val="000000"/>
              </a:solidFill>
              <a:latin typeface="Arial"/>
              <a:ea typeface="Arial"/>
              <a:cs typeface="Arial"/>
              <a:sym typeface="Arial"/>
            </a:endParaRPr>
          </a:p>
        </p:txBody>
      </p:sp>
      <p:sp>
        <p:nvSpPr>
          <p:cNvPr id="258" name="Google Shape;258;p33"/>
          <p:cNvSpPr txBox="1"/>
          <p:nvPr/>
        </p:nvSpPr>
        <p:spPr>
          <a:xfrm>
            <a:off x="537075" y="77737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Basic SSH command: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900FF"/>
                </a:solidFill>
                <a:latin typeface="Calibri"/>
                <a:ea typeface="Calibri"/>
                <a:cs typeface="Calibri"/>
                <a:sym typeface="Calibri"/>
              </a:rPr>
              <a:t>ssh</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FF"/>
                </a:solidFill>
                <a:latin typeface="Calibri"/>
                <a:ea typeface="Calibri"/>
                <a:cs typeface="Calibri"/>
                <a:sym typeface="Calibri"/>
              </a:rPr>
              <a:t>-S /tmp/T1 </a:t>
            </a:r>
            <a:r>
              <a:rPr b="0" i="0" lang="en" sz="1600" u="none" cap="none" strike="noStrike">
                <a:solidFill>
                  <a:srgbClr val="980000"/>
                </a:solidFill>
                <a:latin typeface="Calibri"/>
                <a:ea typeface="Calibri"/>
                <a:cs typeface="Calibri"/>
                <a:sym typeface="Calibri"/>
              </a:rPr>
              <a:t>dummy </a:t>
            </a:r>
            <a:r>
              <a:rPr b="0" i="0" lang="en" sz="1600" u="none" cap="none" strike="noStrike">
                <a:solidFill>
                  <a:srgbClr val="4A86E8"/>
                </a:solidFill>
                <a:latin typeface="Calibri"/>
                <a:ea typeface="Calibri"/>
                <a:cs typeface="Calibri"/>
                <a:sym typeface="Calibri"/>
              </a:rPr>
              <a:t>-O forward</a:t>
            </a:r>
            <a:r>
              <a:rPr b="0" i="0" lang="en" sz="1600" u="none" cap="none" strike="noStrike">
                <a:solidFill>
                  <a:srgbClr val="00FFFF"/>
                </a:solidFill>
                <a:latin typeface="Calibri"/>
                <a:ea typeface="Calibri"/>
                <a:cs typeface="Calibri"/>
                <a:sym typeface="Calibri"/>
              </a:rPr>
              <a:t> </a:t>
            </a:r>
            <a:r>
              <a:rPr b="0" i="0" lang="en" sz="1600" u="none" cap="none" strike="noStrike">
                <a:solidFill>
                  <a:srgbClr val="6AA84F"/>
                </a:solidFill>
                <a:latin typeface="Calibri"/>
                <a:ea typeface="Calibri"/>
                <a:cs typeface="Calibri"/>
                <a:sym typeface="Calibri"/>
              </a:rPr>
              <a:t>-L 127.0.0.1:2222:192.168.0.2:22</a:t>
            </a:r>
            <a:endParaRPr b="0" i="0" sz="1600" u="none" cap="none" strike="noStrike">
              <a:solidFill>
                <a:srgbClr val="6AA84F"/>
              </a:solidFill>
              <a:latin typeface="Arial"/>
              <a:ea typeface="Arial"/>
              <a:cs typeface="Arial"/>
              <a:sym typeface="Arial"/>
            </a:endParaRPr>
          </a:p>
        </p:txBody>
      </p:sp>
      <p:sp>
        <p:nvSpPr>
          <p:cNvPr id="259" name="Google Shape;259;p33"/>
          <p:cNvSpPr txBox="1"/>
          <p:nvPr/>
        </p:nvSpPr>
        <p:spPr>
          <a:xfrm>
            <a:off x="525375" y="3519300"/>
            <a:ext cx="7546800" cy="100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Next Connection - Where am I going from here after I’m done on this target?</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4A86E8"/>
              </a:buClr>
              <a:buSzPts val="1400"/>
              <a:buFont typeface="Arial"/>
              <a:buAutoNum type="arabicPeriod"/>
            </a:pPr>
            <a:r>
              <a:rPr b="0" i="0" lang="en" sz="1400" u="none" cap="none" strike="noStrike">
                <a:solidFill>
                  <a:srgbClr val="4A86E8"/>
                </a:solidFill>
                <a:latin typeface="Arial"/>
                <a:ea typeface="Arial"/>
                <a:cs typeface="Arial"/>
                <a:sym typeface="Arial"/>
              </a:rPr>
              <a:t>Options - What options do we want to modify about our existing ssh session. In this case, we want to add forwarding.</a:t>
            </a:r>
            <a:endParaRPr b="0" i="0" sz="1400" u="none" cap="none" strike="noStrike">
              <a:solidFill>
                <a:srgbClr val="4A86E8"/>
              </a:solidFill>
              <a:latin typeface="Arial"/>
              <a:ea typeface="Arial"/>
              <a:cs typeface="Arial"/>
              <a:sym typeface="Arial"/>
            </a:endParaRPr>
          </a:p>
          <a:p>
            <a:pPr indent="-317500" lvl="0" marL="457200" marR="0" rtl="0" algn="l">
              <a:lnSpc>
                <a:spcPct val="100000"/>
              </a:lnSpc>
              <a:spcBef>
                <a:spcPts val="0"/>
              </a:spcBef>
              <a:spcAft>
                <a:spcPts val="0"/>
              </a:spcAft>
              <a:buClr>
                <a:srgbClr val="6AA84F"/>
              </a:buClr>
              <a:buSzPts val="1400"/>
              <a:buFont typeface="Arial"/>
              <a:buAutoNum type="arabicPeriod"/>
            </a:pPr>
            <a:r>
              <a:rPr b="0" i="0" lang="en" sz="1400" u="none" cap="none" strike="noStrike">
                <a:solidFill>
                  <a:srgbClr val="6AA84F"/>
                </a:solidFill>
                <a:latin typeface="Arial"/>
                <a:ea typeface="Arial"/>
                <a:cs typeface="Arial"/>
                <a:sym typeface="Arial"/>
              </a:rPr>
              <a:t>Tunnel Syntax - My tunnel information to connect me to the next target. Includes direction (-L), tunnel entrance IP (127.0.0.1), tunnel entrance port (2222), next hop IP (192.168.0.2), and next hop port (22).</a:t>
            </a:r>
            <a:endParaRPr b="0" i="0" sz="1400" u="none" cap="none" strike="noStrike">
              <a:solidFill>
                <a:srgbClr val="6AA84F"/>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34"/>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265" name="Google Shape;265;p34"/>
          <p:cNvSpPr txBox="1"/>
          <p:nvPr/>
        </p:nvSpPr>
        <p:spPr>
          <a:xfrm>
            <a:off x="1654325" y="16810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a:t>
            </a:r>
            <a:endParaRPr sz="1200">
              <a:solidFill>
                <a:srgbClr val="9900FF"/>
              </a:solidFill>
            </a:endParaRPr>
          </a:p>
        </p:txBody>
      </p:sp>
      <p:sp>
        <p:nvSpPr>
          <p:cNvPr id="266" name="Google Shape;266;p34"/>
          <p:cNvSpPr txBox="1"/>
          <p:nvPr/>
        </p:nvSpPr>
        <p:spPr>
          <a:xfrm>
            <a:off x="3301100" y="16810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also here</a:t>
            </a:r>
            <a:endParaRPr sz="1200">
              <a:solidFill>
                <a:srgbClr val="9900FF"/>
              </a:solidFill>
            </a:endParaRPr>
          </a:p>
        </p:txBody>
      </p:sp>
      <p:sp>
        <p:nvSpPr>
          <p:cNvPr id="267" name="Google Shape;267;p34"/>
          <p:cNvSpPr txBox="1"/>
          <p:nvPr/>
        </p:nvSpPr>
        <p:spPr>
          <a:xfrm>
            <a:off x="4834400" y="168102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80000"/>
                </a:solidFill>
              </a:rPr>
              <a:t>You want to be here</a:t>
            </a:r>
            <a:endParaRPr sz="1200">
              <a:solidFill>
                <a:srgbClr val="980000"/>
              </a:solidFill>
            </a:endParaRPr>
          </a:p>
        </p:txBody>
      </p:sp>
      <p:sp>
        <p:nvSpPr>
          <p:cNvPr id="268" name="Google Shape;268;p34"/>
          <p:cNvSpPr/>
          <p:nvPr/>
        </p:nvSpPr>
        <p:spPr>
          <a:xfrm>
            <a:off x="2312675" y="1129625"/>
            <a:ext cx="1851300" cy="55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rPr lang="en" sz="1000"/>
              <a:t> </a:t>
            </a:r>
            <a:r>
              <a:rPr lang="en"/>
              <a:t> </a:t>
            </a:r>
            <a:endParaRPr/>
          </a:p>
        </p:txBody>
      </p:sp>
      <p:sp>
        <p:nvSpPr>
          <p:cNvPr id="269" name="Google Shape;269;p34"/>
          <p:cNvSpPr/>
          <p:nvPr/>
        </p:nvSpPr>
        <p:spPr>
          <a:xfrm>
            <a:off x="2472775" y="933850"/>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5"/>
          <p:cNvSpPr txBox="1"/>
          <p:nvPr/>
        </p:nvSpPr>
        <p:spPr>
          <a:xfrm>
            <a:off x="537075" y="1460449"/>
            <a:ext cx="7611900" cy="140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SSH’s Home - Where this ssh instance will be executed</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9900FF"/>
              </a:buClr>
              <a:buSzPts val="1600"/>
              <a:buFont typeface="Calibri"/>
              <a:buAutoNum type="arabicPeriod"/>
            </a:pPr>
            <a:r>
              <a:rPr b="0" i="0" lang="en" sz="1600" u="none" cap="none" strike="noStrike">
                <a:solidFill>
                  <a:srgbClr val="9900FF"/>
                </a:solidFill>
                <a:latin typeface="Calibri"/>
                <a:ea typeface="Calibri"/>
                <a:cs typeface="Calibri"/>
                <a:sym typeface="Calibri"/>
              </a:rPr>
              <a:t>Calls ssh command binary to execute on the current host (Me, 31.3.3.7)</a:t>
            </a:r>
            <a:endParaRPr b="0" i="0" sz="1600" u="none" cap="none" strike="noStrike">
              <a:solidFill>
                <a:srgbClr val="9900FF"/>
              </a:solidFill>
              <a:latin typeface="Calibri"/>
              <a:ea typeface="Calibri"/>
              <a:cs typeface="Calibri"/>
              <a:sym typeface="Calibri"/>
            </a:endParaRPr>
          </a:p>
          <a:p>
            <a:pPr indent="-330200" lvl="0" marL="457200" marR="0" rtl="0" algn="l">
              <a:lnSpc>
                <a:spcPct val="100000"/>
              </a:lnSpc>
              <a:spcBef>
                <a:spcPts val="0"/>
              </a:spcBef>
              <a:spcAft>
                <a:spcPts val="0"/>
              </a:spcAft>
              <a:buClr>
                <a:srgbClr val="FF00FF"/>
              </a:buClr>
              <a:buSzPts val="1600"/>
              <a:buFont typeface="Calibri"/>
              <a:buAutoNum type="arabicPeriod"/>
            </a:pPr>
            <a:r>
              <a:rPr b="0" i="0" lang="en" sz="1600" u="none" cap="none" strike="noStrike">
                <a:solidFill>
                  <a:srgbClr val="FF00FF"/>
                </a:solidFill>
                <a:latin typeface="Calibri"/>
                <a:ea typeface="Calibri"/>
                <a:cs typeface="Calibri"/>
                <a:sym typeface="Calibri"/>
              </a:rPr>
              <a:t>Multiplex Information - -M </a:t>
            </a:r>
            <a:r>
              <a:rPr b="0" i="1" lang="en" sz="1600" u="none" cap="none" strike="noStrike">
                <a:solidFill>
                  <a:srgbClr val="FF00FF"/>
                </a:solidFill>
                <a:latin typeface="Calibri"/>
                <a:ea typeface="Calibri"/>
                <a:cs typeface="Calibri"/>
                <a:sym typeface="Calibri"/>
              </a:rPr>
              <a:t>makes</a:t>
            </a:r>
            <a:r>
              <a:rPr b="0" i="0" lang="en" sz="1600" u="none" cap="none" strike="noStrike">
                <a:solidFill>
                  <a:srgbClr val="FF00FF"/>
                </a:solidFill>
                <a:latin typeface="Calibri"/>
                <a:ea typeface="Calibri"/>
                <a:cs typeface="Calibri"/>
                <a:sym typeface="Calibri"/>
              </a:rPr>
              <a:t> a new socket and -S </a:t>
            </a:r>
            <a:r>
              <a:rPr b="0" i="1" lang="en" sz="1600" u="none" cap="none" strike="noStrike">
                <a:solidFill>
                  <a:srgbClr val="FF00FF"/>
                </a:solidFill>
                <a:latin typeface="Calibri"/>
                <a:ea typeface="Calibri"/>
                <a:cs typeface="Calibri"/>
                <a:sym typeface="Calibri"/>
              </a:rPr>
              <a:t>saves</a:t>
            </a:r>
            <a:r>
              <a:rPr b="0" i="0" lang="en" sz="1600" u="none" cap="none" strike="noStrike">
                <a:solidFill>
                  <a:srgbClr val="FF00FF"/>
                </a:solidFill>
                <a:latin typeface="Calibri"/>
                <a:ea typeface="Calibri"/>
                <a:cs typeface="Calibri"/>
                <a:sym typeface="Calibri"/>
              </a:rPr>
              <a:t> the socket. We renamed this one T2 because we are creating a new socket and want it to be something easy to identify.</a:t>
            </a:r>
            <a:endParaRPr b="0" i="0" sz="1600" u="none" cap="none" strike="noStrike">
              <a:solidFill>
                <a:srgbClr val="FF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6"/>
              </a:solidFill>
              <a:latin typeface="Calibri"/>
              <a:ea typeface="Calibri"/>
              <a:cs typeface="Calibri"/>
              <a:sym typeface="Calibri"/>
            </a:endParaRPr>
          </a:p>
        </p:txBody>
      </p:sp>
      <p:sp>
        <p:nvSpPr>
          <p:cNvPr id="275" name="Google Shape;275;p35"/>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Connecting to a Multiplex Tunnel</a:t>
            </a:r>
            <a:endParaRPr b="0" i="0" sz="3000" u="none" cap="none" strike="noStrike">
              <a:solidFill>
                <a:schemeClr val="dk1"/>
              </a:solidFill>
              <a:latin typeface="Calibri"/>
              <a:ea typeface="Calibri"/>
              <a:cs typeface="Calibri"/>
              <a:sym typeface="Calibri"/>
            </a:endParaRPr>
          </a:p>
        </p:txBody>
      </p:sp>
      <p:sp>
        <p:nvSpPr>
          <p:cNvPr id="276" name="Google Shape;276;p35"/>
          <p:cNvSpPr txBox="1"/>
          <p:nvPr/>
        </p:nvSpPr>
        <p:spPr>
          <a:xfrm>
            <a:off x="537075" y="2967250"/>
            <a:ext cx="7588500" cy="164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Present Connection - Where we are pointing our connection attempt right now</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FF9900"/>
              </a:buClr>
              <a:buSzPts val="1400"/>
              <a:buFont typeface="Calibri"/>
              <a:buAutoNum type="arabicPeriod"/>
            </a:pPr>
            <a:r>
              <a:rPr b="0" i="0" lang="en" sz="1400" u="none" cap="none" strike="noStrike">
                <a:solidFill>
                  <a:srgbClr val="FF9900"/>
                </a:solidFill>
                <a:latin typeface="Calibri"/>
                <a:ea typeface="Calibri"/>
                <a:cs typeface="Calibri"/>
                <a:sym typeface="Calibri"/>
              </a:rPr>
              <a:t>Port - The specific port listening for an ssh connection. When we connected to T1, we set our T2 port to 2222, so that is the port we will point our connection request at.</a:t>
            </a:r>
            <a:endParaRPr b="0" i="0" sz="1400" u="none" cap="none" strike="noStrike">
              <a:solidFill>
                <a:srgbClr val="FF9900"/>
              </a:solidFill>
              <a:latin typeface="Calibri"/>
              <a:ea typeface="Calibri"/>
              <a:cs typeface="Calibri"/>
              <a:sym typeface="Calibri"/>
            </a:endParaRPr>
          </a:p>
          <a:p>
            <a:pPr indent="-317500" lvl="0" marL="457200" marR="0" rtl="0" algn="l">
              <a:lnSpc>
                <a:spcPct val="100000"/>
              </a:lnSpc>
              <a:spcBef>
                <a:spcPts val="0"/>
              </a:spcBef>
              <a:spcAft>
                <a:spcPts val="0"/>
              </a:spcAft>
              <a:buClr>
                <a:srgbClr val="FF0000"/>
              </a:buClr>
              <a:buSzPts val="1400"/>
              <a:buFont typeface="Calibri"/>
              <a:buAutoNum type="arabicPeriod"/>
            </a:pPr>
            <a:r>
              <a:rPr b="0" i="0" lang="en" sz="1400" u="none" cap="none" strike="noStrike">
                <a:solidFill>
                  <a:srgbClr val="FF0000"/>
                </a:solidFill>
                <a:latin typeface="Calibri"/>
                <a:ea typeface="Calibri"/>
                <a:cs typeface="Calibri"/>
                <a:sym typeface="Calibri"/>
              </a:rPr>
              <a:t>Username - What user do you intend to authenticate as when you land on target? We want to be “student” when we access T2.</a:t>
            </a:r>
            <a:endParaRPr b="0" i="0" sz="1400" u="none" cap="none" strike="noStrike">
              <a:solidFill>
                <a:srgbClr val="FF0000"/>
              </a:solidFill>
              <a:latin typeface="Calibri"/>
              <a:ea typeface="Calibri"/>
              <a:cs typeface="Calibri"/>
              <a:sym typeface="Calibri"/>
            </a:endParaRPr>
          </a:p>
          <a:p>
            <a:pPr indent="-317500" lvl="0" marL="457200" marR="0" rtl="0" algn="l">
              <a:lnSpc>
                <a:spcPct val="100000"/>
              </a:lnSpc>
              <a:spcBef>
                <a:spcPts val="0"/>
              </a:spcBef>
              <a:spcAft>
                <a:spcPts val="0"/>
              </a:spcAft>
              <a:buClr>
                <a:srgbClr val="980000"/>
              </a:buClr>
              <a:buSzPts val="1400"/>
              <a:buFont typeface="Calibri"/>
              <a:buAutoNum type="arabicPeriod"/>
            </a:pPr>
            <a:r>
              <a:rPr b="0" i="0" lang="en" sz="1400" u="none" cap="none" strike="noStrike">
                <a:solidFill>
                  <a:srgbClr val="980000"/>
                </a:solidFill>
                <a:latin typeface="Calibri"/>
                <a:ea typeface="Calibri"/>
                <a:cs typeface="Calibri"/>
                <a:sym typeface="Calibri"/>
              </a:rPr>
              <a:t>IP - Where are we sending our connection request to right now? This is a (L)ocal tunnel, so we need to send it to our local loopback, which we established when we set up the tunnel.</a:t>
            </a:r>
            <a:endParaRPr b="0" i="0" sz="1400" u="none" cap="none" strike="noStrike">
              <a:solidFill>
                <a:srgbClr val="000000"/>
              </a:solidFill>
              <a:latin typeface="Arial"/>
              <a:ea typeface="Arial"/>
              <a:cs typeface="Arial"/>
              <a:sym typeface="Arial"/>
            </a:endParaRPr>
          </a:p>
        </p:txBody>
      </p:sp>
      <p:sp>
        <p:nvSpPr>
          <p:cNvPr id="277" name="Google Shape;277;p35"/>
          <p:cNvSpPr txBox="1"/>
          <p:nvPr/>
        </p:nvSpPr>
        <p:spPr>
          <a:xfrm>
            <a:off x="537075" y="777375"/>
            <a:ext cx="69405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Basic SSH command: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900FF"/>
                </a:solidFill>
                <a:latin typeface="Calibri"/>
                <a:ea typeface="Calibri"/>
                <a:cs typeface="Calibri"/>
                <a:sym typeface="Calibri"/>
              </a:rPr>
              <a:t>ssh</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FF"/>
                </a:solidFill>
                <a:latin typeface="Calibri"/>
                <a:ea typeface="Calibri"/>
                <a:cs typeface="Calibri"/>
                <a:sym typeface="Calibri"/>
              </a:rPr>
              <a:t>-M -S /tmp/T2 </a:t>
            </a:r>
            <a:r>
              <a:rPr b="0" i="0" lang="en" sz="1600" u="none" cap="none" strike="noStrike">
                <a:solidFill>
                  <a:srgbClr val="FF9900"/>
                </a:solidFill>
                <a:latin typeface="Calibri"/>
                <a:ea typeface="Calibri"/>
                <a:cs typeface="Calibri"/>
                <a:sym typeface="Calibri"/>
              </a:rPr>
              <a:t>-p 2222</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00"/>
                </a:solidFill>
                <a:latin typeface="Calibri"/>
                <a:ea typeface="Calibri"/>
                <a:cs typeface="Calibri"/>
                <a:sym typeface="Calibri"/>
              </a:rPr>
              <a:t>student</a:t>
            </a:r>
            <a:r>
              <a:rPr b="0" i="0" lang="en" sz="1600" u="none" cap="none" strike="noStrike">
                <a:solidFill>
                  <a:srgbClr val="980000"/>
                </a:solidFill>
                <a:latin typeface="Calibri"/>
                <a:ea typeface="Calibri"/>
                <a:cs typeface="Calibri"/>
                <a:sym typeface="Calibri"/>
              </a:rPr>
              <a:t>@127.0.0.1</a:t>
            </a:r>
            <a:endParaRPr b="0" i="0" sz="1600" u="none" cap="none" strike="noStrike">
              <a:solidFill>
                <a:srgbClr val="6AA84F"/>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36"/>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283" name="Google Shape;283;p36"/>
          <p:cNvSpPr txBox="1"/>
          <p:nvPr/>
        </p:nvSpPr>
        <p:spPr>
          <a:xfrm>
            <a:off x="1654325" y="16810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a:t>
            </a:r>
            <a:endParaRPr sz="1200">
              <a:solidFill>
                <a:srgbClr val="9900FF"/>
              </a:solidFill>
            </a:endParaRPr>
          </a:p>
        </p:txBody>
      </p:sp>
      <p:sp>
        <p:nvSpPr>
          <p:cNvPr id="284" name="Google Shape;284;p36"/>
          <p:cNvSpPr txBox="1"/>
          <p:nvPr/>
        </p:nvSpPr>
        <p:spPr>
          <a:xfrm>
            <a:off x="4834400" y="168102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 now</a:t>
            </a:r>
            <a:endParaRPr sz="1200">
              <a:solidFill>
                <a:srgbClr val="9900FF"/>
              </a:solidFill>
            </a:endParaRPr>
          </a:p>
        </p:txBody>
      </p:sp>
      <p:sp>
        <p:nvSpPr>
          <p:cNvPr id="285" name="Google Shape;285;p36"/>
          <p:cNvSpPr/>
          <p:nvPr/>
        </p:nvSpPr>
        <p:spPr>
          <a:xfrm>
            <a:off x="2312675" y="1129625"/>
            <a:ext cx="1841400" cy="105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286" name="Google Shape;286;p36"/>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36"/>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Connecting to a Multiplex Tunnel</a:t>
            </a:r>
            <a:endParaRPr b="0" i="0" sz="3000" u="none" cap="none" strike="noStrike">
              <a:solidFill>
                <a:schemeClr val="dk1"/>
              </a:solidFill>
              <a:latin typeface="Calibri"/>
              <a:ea typeface="Calibri"/>
              <a:cs typeface="Calibri"/>
              <a:sym typeface="Calibri"/>
            </a:endParaRPr>
          </a:p>
        </p:txBody>
      </p:sp>
      <p:sp>
        <p:nvSpPr>
          <p:cNvPr id="293" name="Google Shape;293;p37"/>
          <p:cNvSpPr txBox="1"/>
          <p:nvPr/>
        </p:nvSpPr>
        <p:spPr>
          <a:xfrm>
            <a:off x="766050" y="900675"/>
            <a:ext cx="7611900" cy="373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I have to connect to T3 and T4 from here.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sz="1600">
                <a:solidFill>
                  <a:srgbClr val="6AA84F"/>
                </a:solidFill>
              </a:rPr>
              <a:t>&gt; T1: 12.34.56.78:2022 / 192.168.0.1</a:t>
            </a:r>
            <a:endParaRPr sz="1600">
              <a:solidFill>
                <a:srgbClr val="6AA84F"/>
              </a:solidFill>
            </a:endParaRPr>
          </a:p>
          <a:p>
            <a:pPr indent="0" lvl="0" marL="0" rtl="0" algn="l">
              <a:spcBef>
                <a:spcPts val="0"/>
              </a:spcBef>
              <a:spcAft>
                <a:spcPts val="0"/>
              </a:spcAft>
              <a:buClr>
                <a:schemeClr val="dk1"/>
              </a:buClr>
              <a:buSzPts val="1100"/>
              <a:buFont typeface="Arial"/>
              <a:buNone/>
            </a:pPr>
            <a:r>
              <a:rPr lang="en" sz="1600">
                <a:solidFill>
                  <a:srgbClr val="6AA84F"/>
                </a:solidFill>
              </a:rPr>
              <a:t>-&gt; T2: 192.168.0.2:22 / 172.16.0.2</a:t>
            </a:r>
            <a:endParaRPr sz="1600">
              <a:solidFill>
                <a:srgbClr val="6AA84F"/>
              </a:solidFill>
            </a:endParaRPr>
          </a:p>
          <a:p>
            <a:pPr indent="0" lvl="0" marL="0" rtl="0" algn="l">
              <a:spcBef>
                <a:spcPts val="0"/>
              </a:spcBef>
              <a:spcAft>
                <a:spcPts val="0"/>
              </a:spcAft>
              <a:buClr>
                <a:schemeClr val="dk1"/>
              </a:buClr>
              <a:buSzPts val="1100"/>
              <a:buFont typeface="Arial"/>
              <a:buNone/>
            </a:pPr>
            <a:r>
              <a:rPr lang="en" sz="1600">
                <a:solidFill>
                  <a:srgbClr val="FF0000"/>
                </a:solidFill>
              </a:rPr>
              <a:t>--&gt; T3: 172.16.0.3:2203</a:t>
            </a:r>
            <a:endParaRPr sz="1600">
              <a:solidFill>
                <a:srgbClr val="FF0000"/>
              </a:solidFill>
            </a:endParaRPr>
          </a:p>
          <a:p>
            <a:pPr indent="0" lvl="0" marL="0" rtl="0" algn="l">
              <a:spcBef>
                <a:spcPts val="0"/>
              </a:spcBef>
              <a:spcAft>
                <a:spcPts val="0"/>
              </a:spcAft>
              <a:buClr>
                <a:schemeClr val="dk1"/>
              </a:buClr>
              <a:buSzPts val="1100"/>
              <a:buFont typeface="Arial"/>
              <a:buNone/>
            </a:pPr>
            <a:r>
              <a:rPr lang="en" sz="1600">
                <a:solidFill>
                  <a:srgbClr val="FF0000"/>
                </a:solidFill>
              </a:rPr>
              <a:t>--&gt; T4: 172.16.0.4:2204 / 10.10.0.4</a:t>
            </a:r>
            <a:endParaRPr sz="1600">
              <a:solidFill>
                <a:srgbClr val="6AA84F"/>
              </a:solidFill>
            </a:endParaRPr>
          </a:p>
          <a:p>
            <a:pPr indent="0" lvl="0" marL="0" rtl="0" algn="l">
              <a:spcBef>
                <a:spcPts val="0"/>
              </a:spcBef>
              <a:spcAft>
                <a:spcPts val="0"/>
              </a:spcAft>
              <a:buClr>
                <a:schemeClr val="dk1"/>
              </a:buClr>
              <a:buSzPts val="1100"/>
              <a:buFont typeface="Arial"/>
              <a:buNone/>
            </a:pPr>
            <a:r>
              <a:rPr lang="en" sz="1600">
                <a:solidFill>
                  <a:schemeClr val="dk1"/>
                </a:solidFill>
              </a:rPr>
              <a:t>---&lt; T5: 10.10.0.5 (beacon to TCP 12345)</a:t>
            </a:r>
            <a:endParaRPr sz="1600">
              <a:solidFill>
                <a:srgbClr val="FF0000"/>
              </a:solidFill>
            </a:endParaRPr>
          </a:p>
          <a:p>
            <a:pPr indent="0" lvl="0" marL="0" rtl="0" algn="l">
              <a:spcBef>
                <a:spcPts val="0"/>
              </a:spcBef>
              <a:spcAft>
                <a:spcPts val="0"/>
              </a:spcAft>
              <a:buClr>
                <a:schemeClr val="dk1"/>
              </a:buClr>
              <a:buSzPts val="1100"/>
              <a:buFont typeface="Arial"/>
              <a:buNone/>
            </a:pPr>
            <a:r>
              <a:rPr lang="en" sz="1600">
                <a:solidFill>
                  <a:schemeClr val="dk1"/>
                </a:solidFill>
              </a:rPr>
              <a:t>---&gt; T6: Suspected Mail Server</a:t>
            </a:r>
            <a:endParaRPr sz="1600">
              <a:solidFill>
                <a:srgbClr val="6AA84F"/>
              </a:solidFil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Can I run a tunnel through an existing tunnel? How about two?</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Yes and yes! Just keep adding tunnel syntax to the end of your ssh command.</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38"/>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299" name="Google Shape;299;p38"/>
          <p:cNvSpPr txBox="1"/>
          <p:nvPr/>
        </p:nvSpPr>
        <p:spPr>
          <a:xfrm>
            <a:off x="1654325" y="16810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a:t>
            </a:r>
            <a:endParaRPr sz="1200">
              <a:solidFill>
                <a:srgbClr val="9900FF"/>
              </a:solidFill>
            </a:endParaRPr>
          </a:p>
        </p:txBody>
      </p:sp>
      <p:sp>
        <p:nvSpPr>
          <p:cNvPr id="300" name="Google Shape;300;p38"/>
          <p:cNvSpPr txBox="1"/>
          <p:nvPr/>
        </p:nvSpPr>
        <p:spPr>
          <a:xfrm>
            <a:off x="4834400" y="168102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a:t>
            </a:r>
            <a:endParaRPr sz="1200">
              <a:solidFill>
                <a:srgbClr val="9900FF"/>
              </a:solidFill>
            </a:endParaRPr>
          </a:p>
        </p:txBody>
      </p:sp>
      <p:sp>
        <p:nvSpPr>
          <p:cNvPr id="301" name="Google Shape;301;p38"/>
          <p:cNvSpPr/>
          <p:nvPr/>
        </p:nvSpPr>
        <p:spPr>
          <a:xfrm>
            <a:off x="2312675" y="1129625"/>
            <a:ext cx="1841400" cy="105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302" name="Google Shape;302;p38"/>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38"/>
          <p:cNvSpPr txBox="1"/>
          <p:nvPr/>
        </p:nvSpPr>
        <p:spPr>
          <a:xfrm>
            <a:off x="6321050" y="88937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FF"/>
                </a:solidFill>
              </a:rPr>
              <a:t>You want to be here</a:t>
            </a:r>
            <a:endParaRPr sz="1200">
              <a:solidFill>
                <a:srgbClr val="0000FF"/>
              </a:solidFill>
            </a:endParaRPr>
          </a:p>
        </p:txBody>
      </p:sp>
      <p:sp>
        <p:nvSpPr>
          <p:cNvPr id="304" name="Google Shape;304;p38"/>
          <p:cNvSpPr txBox="1"/>
          <p:nvPr/>
        </p:nvSpPr>
        <p:spPr>
          <a:xfrm>
            <a:off x="6321050" y="286522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FF"/>
                </a:solidFill>
              </a:rPr>
              <a:t>You want to be here</a:t>
            </a:r>
            <a:endParaRPr sz="1200">
              <a:solidFill>
                <a:srgbClr val="0000FF"/>
              </a:solidFill>
            </a:endParaRPr>
          </a:p>
        </p:txBody>
      </p:sp>
      <p:sp>
        <p:nvSpPr>
          <p:cNvPr id="305" name="Google Shape;305;p38"/>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nvSpPr>
        <p:spPr>
          <a:xfrm>
            <a:off x="537075" y="1460450"/>
            <a:ext cx="7611900" cy="85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SSH’s Home - Where this ssh instance will be executed</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9900FF"/>
              </a:buClr>
              <a:buSzPts val="1600"/>
              <a:buFont typeface="Calibri"/>
              <a:buAutoNum type="arabicPeriod"/>
            </a:pPr>
            <a:r>
              <a:rPr b="0" i="0" lang="en" sz="1600" u="none" cap="none" strike="noStrike">
                <a:solidFill>
                  <a:srgbClr val="9900FF"/>
                </a:solidFill>
                <a:latin typeface="Calibri"/>
                <a:ea typeface="Calibri"/>
                <a:cs typeface="Calibri"/>
                <a:sym typeface="Calibri"/>
              </a:rPr>
              <a:t>Calls ssh command binary to execute on the current host</a:t>
            </a:r>
            <a:endParaRPr b="0" i="0" sz="1600" u="none" cap="none" strike="noStrike">
              <a:solidFill>
                <a:srgbClr val="9900FF"/>
              </a:solidFill>
              <a:latin typeface="Calibri"/>
              <a:ea typeface="Calibri"/>
              <a:cs typeface="Calibri"/>
              <a:sym typeface="Calibri"/>
            </a:endParaRPr>
          </a:p>
          <a:p>
            <a:pPr indent="-330200" lvl="0" marL="457200" marR="0" rtl="0" algn="l">
              <a:lnSpc>
                <a:spcPct val="100000"/>
              </a:lnSpc>
              <a:spcBef>
                <a:spcPts val="0"/>
              </a:spcBef>
              <a:spcAft>
                <a:spcPts val="0"/>
              </a:spcAft>
              <a:buClr>
                <a:srgbClr val="FF00FF"/>
              </a:buClr>
              <a:buSzPts val="1600"/>
              <a:buFont typeface="Calibri"/>
              <a:buAutoNum type="arabicPeriod"/>
            </a:pPr>
            <a:r>
              <a:rPr b="0" i="0" lang="en" sz="1600" u="none" cap="none" strike="noStrike">
                <a:solidFill>
                  <a:srgbClr val="FF00FF"/>
                </a:solidFill>
                <a:latin typeface="Calibri"/>
                <a:ea typeface="Calibri"/>
                <a:cs typeface="Calibri"/>
                <a:sym typeface="Calibri"/>
              </a:rPr>
              <a:t>Multiplex Information - Using session information we -S </a:t>
            </a:r>
            <a:r>
              <a:rPr b="0" i="1" lang="en" sz="1600" u="none" cap="none" strike="noStrike">
                <a:solidFill>
                  <a:srgbClr val="FF00FF"/>
                </a:solidFill>
                <a:latin typeface="Calibri"/>
                <a:ea typeface="Calibri"/>
                <a:cs typeface="Calibri"/>
                <a:sym typeface="Calibri"/>
              </a:rPr>
              <a:t>saved</a:t>
            </a:r>
            <a:r>
              <a:rPr b="0" i="0" lang="en" sz="1600" u="none" cap="none" strike="noStrike">
                <a:solidFill>
                  <a:srgbClr val="FF00FF"/>
                </a:solidFill>
                <a:latin typeface="Calibri"/>
                <a:ea typeface="Calibri"/>
                <a:cs typeface="Calibri"/>
                <a:sym typeface="Calibri"/>
              </a:rPr>
              <a:t> earlier in the socket. </a:t>
            </a:r>
            <a:endParaRPr b="0" i="0" sz="1600" u="none" cap="none" strike="noStrike">
              <a:solidFill>
                <a:srgbClr val="FF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6"/>
              </a:solidFill>
              <a:latin typeface="Calibri"/>
              <a:ea typeface="Calibri"/>
              <a:cs typeface="Calibri"/>
              <a:sym typeface="Calibri"/>
            </a:endParaRPr>
          </a:p>
        </p:txBody>
      </p:sp>
      <p:sp>
        <p:nvSpPr>
          <p:cNvPr id="311" name="Google Shape;311;p39"/>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Tunneling through a Multiplex Tunnel</a:t>
            </a:r>
            <a:endParaRPr b="0" i="0" sz="3000" u="none" cap="none" strike="noStrike">
              <a:solidFill>
                <a:schemeClr val="dk1"/>
              </a:solidFill>
              <a:latin typeface="Calibri"/>
              <a:ea typeface="Calibri"/>
              <a:cs typeface="Calibri"/>
              <a:sym typeface="Calibri"/>
            </a:endParaRPr>
          </a:p>
        </p:txBody>
      </p:sp>
      <p:sp>
        <p:nvSpPr>
          <p:cNvPr id="312" name="Google Shape;312;p39"/>
          <p:cNvSpPr txBox="1"/>
          <p:nvPr/>
        </p:nvSpPr>
        <p:spPr>
          <a:xfrm>
            <a:off x="548775" y="2314550"/>
            <a:ext cx="7588500" cy="100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Present Connection - Where we are pointing our connection attempt right now</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980000"/>
              </a:buClr>
              <a:buSzPts val="1400"/>
              <a:buFont typeface="Calibri"/>
              <a:buAutoNum type="arabicPeriod"/>
            </a:pPr>
            <a:r>
              <a:rPr b="0" i="0" lang="en" sz="1400" u="none" cap="none" strike="noStrike">
                <a:solidFill>
                  <a:srgbClr val="980000"/>
                </a:solidFill>
                <a:latin typeface="Calibri"/>
                <a:ea typeface="Calibri"/>
                <a:cs typeface="Calibri"/>
                <a:sym typeface="Calibri"/>
              </a:rPr>
              <a:t>Connection Information - Where are we sending our connection request to right now? Remember, because our session context is stored in /tmp/T2, we can put anything here, just so long as we have something here. </a:t>
            </a:r>
            <a:r>
              <a:rPr lang="en">
                <a:solidFill>
                  <a:srgbClr val="980000"/>
                </a:solidFill>
                <a:latin typeface="Calibri"/>
                <a:ea typeface="Calibri"/>
                <a:cs typeface="Calibri"/>
                <a:sym typeface="Calibri"/>
              </a:rPr>
              <a:t>We need to access T3 and T4 from T2, so we’re going to connect to T2 and tell it our forwarding rules. </a:t>
            </a:r>
            <a:endParaRPr b="0" i="0" sz="1400" u="none" cap="none" strike="noStrike">
              <a:solidFill>
                <a:srgbClr val="000000"/>
              </a:solidFill>
              <a:latin typeface="Arial"/>
              <a:ea typeface="Arial"/>
              <a:cs typeface="Arial"/>
              <a:sym typeface="Arial"/>
            </a:endParaRPr>
          </a:p>
        </p:txBody>
      </p:sp>
      <p:sp>
        <p:nvSpPr>
          <p:cNvPr id="313" name="Google Shape;313;p39"/>
          <p:cNvSpPr txBox="1"/>
          <p:nvPr/>
        </p:nvSpPr>
        <p:spPr>
          <a:xfrm>
            <a:off x="537075" y="777375"/>
            <a:ext cx="76119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Basic SSH command: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9900FF"/>
                </a:solidFill>
                <a:latin typeface="Calibri"/>
                <a:ea typeface="Calibri"/>
                <a:cs typeface="Calibri"/>
                <a:sym typeface="Calibri"/>
              </a:rPr>
              <a:t>ssh</a:t>
            </a:r>
            <a:r>
              <a:rPr b="0" i="0" lang="en" sz="1400" u="none" cap="none" strike="noStrike">
                <a:solidFill>
                  <a:schemeClr val="dk1"/>
                </a:solidFill>
                <a:latin typeface="Calibri"/>
                <a:ea typeface="Calibri"/>
                <a:cs typeface="Calibri"/>
                <a:sym typeface="Calibri"/>
              </a:rPr>
              <a:t> </a:t>
            </a:r>
            <a:r>
              <a:rPr b="0" i="0" lang="en" sz="1400" u="none" cap="none" strike="noStrike">
                <a:solidFill>
                  <a:srgbClr val="FF00FF"/>
                </a:solidFill>
                <a:latin typeface="Calibri"/>
                <a:ea typeface="Calibri"/>
                <a:cs typeface="Calibri"/>
                <a:sym typeface="Calibri"/>
              </a:rPr>
              <a:t>-S /tmp/T2 </a:t>
            </a:r>
            <a:r>
              <a:rPr b="0" i="0" lang="en" sz="1400" u="none" cap="none" strike="noStrike">
                <a:solidFill>
                  <a:srgbClr val="980000"/>
                </a:solidFill>
                <a:latin typeface="Calibri"/>
                <a:ea typeface="Calibri"/>
                <a:cs typeface="Calibri"/>
                <a:sym typeface="Calibri"/>
              </a:rPr>
              <a:t>dummy </a:t>
            </a:r>
            <a:r>
              <a:rPr b="0" i="0" lang="en" sz="1400" u="none" cap="none" strike="noStrike">
                <a:solidFill>
                  <a:srgbClr val="4A86E8"/>
                </a:solidFill>
                <a:latin typeface="Calibri"/>
                <a:ea typeface="Calibri"/>
                <a:cs typeface="Calibri"/>
                <a:sym typeface="Calibri"/>
              </a:rPr>
              <a:t>-O forward </a:t>
            </a:r>
            <a:r>
              <a:rPr lang="en">
                <a:solidFill>
                  <a:srgbClr val="6AA84F"/>
                </a:solidFill>
                <a:latin typeface="Calibri"/>
                <a:ea typeface="Calibri"/>
                <a:cs typeface="Calibri"/>
                <a:sym typeface="Calibri"/>
              </a:rPr>
              <a:t>-L3333:172.16.0.3:2203 -L4444:172.16.0.4:2204</a:t>
            </a:r>
            <a:endParaRPr b="0" i="0" sz="1400" u="none" cap="none" strike="noStrike">
              <a:solidFill>
                <a:srgbClr val="6AA84F"/>
              </a:solidFill>
              <a:latin typeface="Arial"/>
              <a:ea typeface="Arial"/>
              <a:cs typeface="Arial"/>
              <a:sym typeface="Arial"/>
            </a:endParaRPr>
          </a:p>
        </p:txBody>
      </p:sp>
      <p:sp>
        <p:nvSpPr>
          <p:cNvPr id="314" name="Google Shape;314;p39"/>
          <p:cNvSpPr txBox="1"/>
          <p:nvPr/>
        </p:nvSpPr>
        <p:spPr>
          <a:xfrm>
            <a:off x="569125" y="3528600"/>
            <a:ext cx="7611900" cy="11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Future Connection - Where are we going from here?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4A86E8"/>
              </a:buClr>
              <a:buSzPts val="1400"/>
              <a:buFont typeface="Arial"/>
              <a:buAutoNum type="arabicPeriod"/>
            </a:pPr>
            <a:r>
              <a:rPr b="0" i="0" lang="en" sz="1400" u="none" cap="none" strike="noStrike">
                <a:solidFill>
                  <a:srgbClr val="4A86E8"/>
                </a:solidFill>
                <a:latin typeface="Arial"/>
                <a:ea typeface="Arial"/>
                <a:cs typeface="Arial"/>
                <a:sym typeface="Arial"/>
              </a:rPr>
              <a:t>Session Options - Adding forwarding to the session</a:t>
            </a:r>
            <a:endParaRPr b="0" i="0" sz="1400" u="none" cap="none" strike="noStrike">
              <a:solidFill>
                <a:srgbClr val="4A86E8"/>
              </a:solidFill>
              <a:latin typeface="Arial"/>
              <a:ea typeface="Arial"/>
              <a:cs typeface="Arial"/>
              <a:sym typeface="Arial"/>
            </a:endParaRPr>
          </a:p>
          <a:p>
            <a:pPr indent="-317500" lvl="0" marL="457200" marR="0" rtl="0" algn="l">
              <a:lnSpc>
                <a:spcPct val="100000"/>
              </a:lnSpc>
              <a:spcBef>
                <a:spcPts val="0"/>
              </a:spcBef>
              <a:spcAft>
                <a:spcPts val="0"/>
              </a:spcAft>
              <a:buClr>
                <a:srgbClr val="6AA84F"/>
              </a:buClr>
              <a:buSzPts val="1400"/>
              <a:buFont typeface="Arial"/>
              <a:buAutoNum type="arabicPeriod"/>
            </a:pPr>
            <a:r>
              <a:rPr b="0" i="0" lang="en" sz="1400" u="none" cap="none" strike="noStrike">
                <a:solidFill>
                  <a:srgbClr val="6AA84F"/>
                </a:solidFill>
                <a:latin typeface="Arial"/>
                <a:ea typeface="Arial"/>
                <a:cs typeface="Arial"/>
                <a:sym typeface="Arial"/>
              </a:rPr>
              <a:t>Tunnel syntax -  My tunnel information to connect me to the next target. Includes direction, tunnel entrance IP, tunnel entrance port, next hop IP, and next hop port.</a:t>
            </a:r>
            <a:endParaRPr b="0" i="0" sz="1400" u="none" cap="none" strike="noStrike">
              <a:solidFill>
                <a:srgbClr val="6AA84F"/>
              </a:solidFill>
              <a:latin typeface="Arial"/>
              <a:ea typeface="Arial"/>
              <a:cs typeface="Arial"/>
              <a:sym typeface="Arial"/>
            </a:endParaRPr>
          </a:p>
          <a:p>
            <a:pPr indent="0" lvl="0" marL="457200" marR="0" rtl="0" algn="l">
              <a:lnSpc>
                <a:spcPct val="100000"/>
              </a:lnSpc>
              <a:spcBef>
                <a:spcPts val="0"/>
              </a:spcBef>
              <a:spcAft>
                <a:spcPts val="0"/>
              </a:spcAft>
              <a:buNone/>
            </a:pPr>
            <a:r>
              <a:rPr b="0" i="0" lang="en" sz="1400" u="none" cap="none" strike="noStrike">
                <a:solidFill>
                  <a:srgbClr val="6AA84F"/>
                </a:solidFill>
                <a:latin typeface="Arial"/>
                <a:ea typeface="Arial"/>
                <a:cs typeface="Arial"/>
                <a:sym typeface="Arial"/>
              </a:rPr>
              <a:t>We can establish as many tunnels here as we could ever possibly need. </a:t>
            </a:r>
            <a:r>
              <a:rPr b="0" i="0" lang="en" sz="1400" u="none" cap="none" strike="noStrike">
                <a:solidFill>
                  <a:srgbClr val="6AA84F"/>
                </a:solidFill>
                <a:highlight>
                  <a:srgbClr val="FFFF00"/>
                </a:highlight>
                <a:latin typeface="Arial"/>
                <a:ea typeface="Arial"/>
                <a:cs typeface="Arial"/>
                <a:sym typeface="Arial"/>
              </a:rPr>
              <a:t>The default listening/entrance IP for a -L tunnel is 127.0.0.1</a:t>
            </a:r>
            <a:r>
              <a:rPr b="0" i="0" lang="en" sz="1400" u="none" cap="none" strike="noStrike">
                <a:solidFill>
                  <a:srgbClr val="6AA84F"/>
                </a:solidFill>
                <a:latin typeface="Arial"/>
                <a:ea typeface="Arial"/>
                <a:cs typeface="Arial"/>
                <a:sym typeface="Arial"/>
              </a:rPr>
              <a:t> so we can leave it off without issue.</a:t>
            </a:r>
            <a:endParaRPr b="0" i="0" sz="1400" u="none" cap="none" strike="noStrike">
              <a:solidFill>
                <a:srgbClr val="6AA84F"/>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40"/>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320" name="Google Shape;320;p40"/>
          <p:cNvSpPr txBox="1"/>
          <p:nvPr/>
        </p:nvSpPr>
        <p:spPr>
          <a:xfrm>
            <a:off x="1609975" y="6226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a:t>
            </a:r>
            <a:endParaRPr sz="1200">
              <a:solidFill>
                <a:srgbClr val="9900FF"/>
              </a:solidFill>
            </a:endParaRPr>
          </a:p>
        </p:txBody>
      </p:sp>
      <p:sp>
        <p:nvSpPr>
          <p:cNvPr id="321" name="Google Shape;321;p40"/>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40"/>
          <p:cNvSpPr txBox="1"/>
          <p:nvPr/>
        </p:nvSpPr>
        <p:spPr>
          <a:xfrm>
            <a:off x="6321050" y="88937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You want to be here</a:t>
            </a:r>
            <a:endParaRPr sz="1200"/>
          </a:p>
        </p:txBody>
      </p:sp>
      <p:sp>
        <p:nvSpPr>
          <p:cNvPr id="323" name="Google Shape;323;p40"/>
          <p:cNvSpPr txBox="1"/>
          <p:nvPr/>
        </p:nvSpPr>
        <p:spPr>
          <a:xfrm>
            <a:off x="6321050" y="286522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You want to be here</a:t>
            </a:r>
            <a:endParaRPr sz="1200"/>
          </a:p>
        </p:txBody>
      </p:sp>
      <p:sp>
        <p:nvSpPr>
          <p:cNvPr id="324" name="Google Shape;324;p40"/>
          <p:cNvSpPr/>
          <p:nvPr/>
        </p:nvSpPr>
        <p:spPr>
          <a:xfrm>
            <a:off x="2312675" y="1129625"/>
            <a:ext cx="1841400" cy="201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325" name="Google Shape;325;p40"/>
          <p:cNvSpPr/>
          <p:nvPr/>
        </p:nvSpPr>
        <p:spPr>
          <a:xfrm>
            <a:off x="2189325" y="1495475"/>
            <a:ext cx="3503400" cy="13341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3333:172.16.0.3:2203</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-L 4444:172.16.0.4:2204</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326" name="Google Shape;326;p40"/>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1"/>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Remote or “Reverse” Tunnel</a:t>
            </a:r>
            <a:endParaRPr b="0" i="0" sz="3000" u="none" cap="none" strike="noStrike">
              <a:solidFill>
                <a:schemeClr val="dk1"/>
              </a:solidFill>
              <a:latin typeface="Calibri"/>
              <a:ea typeface="Calibri"/>
              <a:cs typeface="Calibri"/>
              <a:sym typeface="Calibri"/>
            </a:endParaRPr>
          </a:p>
        </p:txBody>
      </p:sp>
      <p:sp>
        <p:nvSpPr>
          <p:cNvPr id="332" name="Google Shape;332;p41"/>
          <p:cNvSpPr txBox="1"/>
          <p:nvPr/>
        </p:nvSpPr>
        <p:spPr>
          <a:xfrm>
            <a:off x="537075" y="777375"/>
            <a:ext cx="7611900" cy="37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6AA84F"/>
                </a:solidFill>
              </a:rPr>
              <a:t>&gt; T1: 12.34.56.78:2022 / 192.168.0.1</a:t>
            </a:r>
            <a:endParaRPr sz="1600">
              <a:solidFill>
                <a:srgbClr val="6AA84F"/>
              </a:solidFill>
            </a:endParaRPr>
          </a:p>
          <a:p>
            <a:pPr indent="0" lvl="0" marL="0" rtl="0" algn="l">
              <a:spcBef>
                <a:spcPts val="0"/>
              </a:spcBef>
              <a:spcAft>
                <a:spcPts val="0"/>
              </a:spcAft>
              <a:buClr>
                <a:schemeClr val="dk1"/>
              </a:buClr>
              <a:buSzPts val="1100"/>
              <a:buFont typeface="Arial"/>
              <a:buNone/>
            </a:pPr>
            <a:r>
              <a:rPr lang="en" sz="1600">
                <a:solidFill>
                  <a:srgbClr val="6AA84F"/>
                </a:solidFill>
              </a:rPr>
              <a:t>-&gt; T2: 192.168.0.2:22 / 172.16.0.2</a:t>
            </a:r>
            <a:endParaRPr sz="1600">
              <a:solidFill>
                <a:srgbClr val="6AA84F"/>
              </a:solidFill>
            </a:endParaRPr>
          </a:p>
          <a:p>
            <a:pPr indent="0" lvl="0" marL="0" rtl="0" algn="l">
              <a:spcBef>
                <a:spcPts val="0"/>
              </a:spcBef>
              <a:spcAft>
                <a:spcPts val="0"/>
              </a:spcAft>
              <a:buClr>
                <a:schemeClr val="dk1"/>
              </a:buClr>
              <a:buSzPts val="1100"/>
              <a:buFont typeface="Arial"/>
              <a:buNone/>
            </a:pPr>
            <a:r>
              <a:rPr lang="en" sz="1600">
                <a:solidFill>
                  <a:srgbClr val="6AA84F"/>
                </a:solidFill>
              </a:rPr>
              <a:t>--&gt; T3: 172.16.0.3:2203</a:t>
            </a:r>
            <a:endParaRPr sz="1600">
              <a:solidFill>
                <a:srgbClr val="6AA84F"/>
              </a:solidFill>
            </a:endParaRPr>
          </a:p>
          <a:p>
            <a:pPr indent="0" lvl="0" marL="0" rtl="0" algn="l">
              <a:spcBef>
                <a:spcPts val="0"/>
              </a:spcBef>
              <a:spcAft>
                <a:spcPts val="0"/>
              </a:spcAft>
              <a:buClr>
                <a:schemeClr val="dk1"/>
              </a:buClr>
              <a:buSzPts val="1100"/>
              <a:buFont typeface="Arial"/>
              <a:buNone/>
            </a:pPr>
            <a:r>
              <a:rPr lang="en" sz="1600">
                <a:solidFill>
                  <a:srgbClr val="6AA84F"/>
                </a:solidFill>
              </a:rPr>
              <a:t>--&gt; T4: 172.16.0.4:2204 / 10.10.0.4</a:t>
            </a:r>
            <a:endParaRPr sz="1600">
              <a:solidFill>
                <a:srgbClr val="6AA84F"/>
              </a:solidFill>
            </a:endParaRPr>
          </a:p>
          <a:p>
            <a:pPr indent="0" lvl="0" marL="0" rtl="0" algn="l">
              <a:spcBef>
                <a:spcPts val="0"/>
              </a:spcBef>
              <a:spcAft>
                <a:spcPts val="0"/>
              </a:spcAft>
              <a:buClr>
                <a:schemeClr val="dk1"/>
              </a:buClr>
              <a:buSzPts val="1100"/>
              <a:buFont typeface="Arial"/>
              <a:buNone/>
            </a:pPr>
            <a:r>
              <a:rPr lang="en" sz="1600">
                <a:solidFill>
                  <a:srgbClr val="FF0000"/>
                </a:solidFill>
              </a:rPr>
              <a:t>---&lt; T5: 10.10.0.5 (beacon to TCP 12345)</a:t>
            </a:r>
            <a:endParaRPr sz="1600">
              <a:solidFill>
                <a:srgbClr val="FF0000"/>
              </a:solidFill>
            </a:endParaRPr>
          </a:p>
          <a:p>
            <a:pPr indent="0" lvl="0" marL="0" rtl="0" algn="l">
              <a:spcBef>
                <a:spcPts val="0"/>
              </a:spcBef>
              <a:spcAft>
                <a:spcPts val="0"/>
              </a:spcAft>
              <a:buClr>
                <a:schemeClr val="dk1"/>
              </a:buClr>
              <a:buSzPts val="1100"/>
              <a:buFont typeface="Arial"/>
              <a:buNone/>
            </a:pPr>
            <a:r>
              <a:rPr lang="en" sz="1600">
                <a:solidFill>
                  <a:schemeClr val="dk1"/>
                </a:solidFill>
              </a:rPr>
              <a:t>---&gt; T6: Suspected Mail Server</a:t>
            </a:r>
            <a:endParaRPr sz="1600">
              <a:solidFill>
                <a:srgbClr val="6AA84F"/>
              </a:solidFil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 sz="1600"/>
              <a:t>Now that we have our tunnels in place, we can get to T3 like this</a:t>
            </a:r>
            <a:r>
              <a:rPr b="0" i="0" lang="en"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900FF"/>
                </a:solidFill>
                <a:latin typeface="Calibri"/>
                <a:ea typeface="Calibri"/>
                <a:cs typeface="Calibri"/>
                <a:sym typeface="Calibri"/>
              </a:rPr>
              <a:t>ssh</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FF"/>
                </a:solidFill>
                <a:latin typeface="Calibri"/>
                <a:ea typeface="Calibri"/>
                <a:cs typeface="Calibri"/>
                <a:sym typeface="Calibri"/>
              </a:rPr>
              <a:t>-M -S /tmp/T3 </a:t>
            </a:r>
            <a:r>
              <a:rPr b="0" i="0" lang="en" sz="1600" u="none" cap="none" strike="noStrike">
                <a:solidFill>
                  <a:srgbClr val="FF9900"/>
                </a:solidFill>
                <a:latin typeface="Calibri"/>
                <a:ea typeface="Calibri"/>
                <a:cs typeface="Calibri"/>
                <a:sym typeface="Calibri"/>
              </a:rPr>
              <a:t>-p 3333</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00"/>
                </a:solidFill>
                <a:latin typeface="Calibri"/>
                <a:ea typeface="Calibri"/>
                <a:cs typeface="Calibri"/>
                <a:sym typeface="Calibri"/>
              </a:rPr>
              <a:t>student</a:t>
            </a:r>
            <a:r>
              <a:rPr b="0" i="0" lang="en" sz="1600" u="none" cap="none" strike="noStrike">
                <a:solidFill>
                  <a:srgbClr val="980000"/>
                </a:solidFill>
                <a:latin typeface="Calibri"/>
                <a:ea typeface="Calibri"/>
                <a:cs typeface="Calibri"/>
                <a:sym typeface="Calibri"/>
              </a:rPr>
              <a:t>@127.0.0.1</a:t>
            </a:r>
            <a:endParaRPr b="0" i="0" sz="16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alibri"/>
                <a:ea typeface="Calibri"/>
                <a:cs typeface="Calibri"/>
                <a:sym typeface="Calibri"/>
              </a:rPr>
              <a:t>And T4 with this:</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900FF"/>
                </a:solidFill>
                <a:latin typeface="Calibri"/>
                <a:ea typeface="Calibri"/>
                <a:cs typeface="Calibri"/>
                <a:sym typeface="Calibri"/>
              </a:rPr>
              <a:t>ssh</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FF"/>
                </a:solidFill>
                <a:latin typeface="Calibri"/>
                <a:ea typeface="Calibri"/>
                <a:cs typeface="Calibri"/>
                <a:sym typeface="Calibri"/>
              </a:rPr>
              <a:t>-M -S /tmp/T4 </a:t>
            </a:r>
            <a:r>
              <a:rPr b="0" i="0" lang="en" sz="1600" u="none" cap="none" strike="noStrike">
                <a:solidFill>
                  <a:srgbClr val="FF9900"/>
                </a:solidFill>
                <a:latin typeface="Calibri"/>
                <a:ea typeface="Calibri"/>
                <a:cs typeface="Calibri"/>
                <a:sym typeface="Calibri"/>
              </a:rPr>
              <a:t>-p 4444</a:t>
            </a:r>
            <a:r>
              <a:rPr b="0" i="0" lang="en" sz="1600" u="none" cap="none" strike="noStrike">
                <a:solidFill>
                  <a:schemeClr val="dk1"/>
                </a:solidFill>
                <a:latin typeface="Calibri"/>
                <a:ea typeface="Calibri"/>
                <a:cs typeface="Calibri"/>
                <a:sym typeface="Calibri"/>
              </a:rPr>
              <a:t> </a:t>
            </a:r>
            <a:r>
              <a:rPr b="0" i="0" lang="en" sz="1600" u="none" cap="none" strike="noStrike">
                <a:solidFill>
                  <a:srgbClr val="FF0000"/>
                </a:solidFill>
                <a:latin typeface="Calibri"/>
                <a:ea typeface="Calibri"/>
                <a:cs typeface="Calibri"/>
                <a:sym typeface="Calibri"/>
              </a:rPr>
              <a:t>student</a:t>
            </a:r>
            <a:r>
              <a:rPr b="0" i="0" lang="en" sz="1600" u="none" cap="none" strike="noStrike">
                <a:solidFill>
                  <a:srgbClr val="980000"/>
                </a:solidFill>
                <a:latin typeface="Calibri"/>
                <a:ea typeface="Calibri"/>
                <a:cs typeface="Calibri"/>
                <a:sym typeface="Calibri"/>
              </a:rPr>
              <a:t>@127.0.0.1</a:t>
            </a:r>
            <a:endParaRPr b="0" i="0" sz="16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42"/>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338" name="Google Shape;338;p42"/>
          <p:cNvSpPr txBox="1"/>
          <p:nvPr/>
        </p:nvSpPr>
        <p:spPr>
          <a:xfrm>
            <a:off x="1609975" y="622625"/>
            <a:ext cx="8628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a:t>
            </a:r>
            <a:endParaRPr sz="1200">
              <a:solidFill>
                <a:srgbClr val="9900FF"/>
              </a:solidFill>
            </a:endParaRPr>
          </a:p>
        </p:txBody>
      </p:sp>
      <p:sp>
        <p:nvSpPr>
          <p:cNvPr id="339" name="Google Shape;339;p42"/>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42"/>
          <p:cNvSpPr txBox="1"/>
          <p:nvPr/>
        </p:nvSpPr>
        <p:spPr>
          <a:xfrm>
            <a:off x="6321050" y="88937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 now</a:t>
            </a:r>
            <a:endParaRPr sz="1200">
              <a:solidFill>
                <a:srgbClr val="9900FF"/>
              </a:solidFill>
            </a:endParaRPr>
          </a:p>
        </p:txBody>
      </p:sp>
      <p:sp>
        <p:nvSpPr>
          <p:cNvPr id="341" name="Google Shape;341;p42"/>
          <p:cNvSpPr txBox="1"/>
          <p:nvPr/>
        </p:nvSpPr>
        <p:spPr>
          <a:xfrm>
            <a:off x="6321050" y="286522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00FF"/>
                </a:solidFill>
              </a:rPr>
              <a:t>You are here too</a:t>
            </a:r>
            <a:endParaRPr sz="1200">
              <a:solidFill>
                <a:srgbClr val="9900FF"/>
              </a:solidFill>
            </a:endParaRPr>
          </a:p>
        </p:txBody>
      </p:sp>
      <p:sp>
        <p:nvSpPr>
          <p:cNvPr id="342" name="Google Shape;342;p42"/>
          <p:cNvSpPr/>
          <p:nvPr/>
        </p:nvSpPr>
        <p:spPr>
          <a:xfrm>
            <a:off x="2312675" y="1129625"/>
            <a:ext cx="1841400" cy="193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343" name="Google Shape;343;p42"/>
          <p:cNvSpPr/>
          <p:nvPr/>
        </p:nvSpPr>
        <p:spPr>
          <a:xfrm>
            <a:off x="2189325" y="1495475"/>
            <a:ext cx="3503400" cy="13341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3333:172.16.0.3:2203</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-L 4444:172.16.0.4:2204</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344" name="Google Shape;344;p42"/>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
        <p:nvSpPr>
          <p:cNvPr id="345" name="Google Shape;345;p42"/>
          <p:cNvSpPr/>
          <p:nvPr/>
        </p:nvSpPr>
        <p:spPr>
          <a:xfrm>
            <a:off x="2189325" y="2464775"/>
            <a:ext cx="4259400" cy="364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lo:4444</a:t>
            </a:r>
            <a:endParaRPr sz="1000"/>
          </a:p>
        </p:txBody>
      </p:sp>
      <p:sp>
        <p:nvSpPr>
          <p:cNvPr id="346" name="Google Shape;346;p42"/>
          <p:cNvSpPr/>
          <p:nvPr/>
        </p:nvSpPr>
        <p:spPr>
          <a:xfrm>
            <a:off x="2189325" y="1614800"/>
            <a:ext cx="4259400" cy="3648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lo:3333</a:t>
            </a:r>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3"/>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Remote or “Reverse” Tunnel</a:t>
            </a:r>
            <a:endParaRPr b="0" i="0" sz="3000" u="none" cap="none" strike="noStrike">
              <a:solidFill>
                <a:schemeClr val="dk1"/>
              </a:solidFill>
              <a:latin typeface="Calibri"/>
              <a:ea typeface="Calibri"/>
              <a:cs typeface="Calibri"/>
              <a:sym typeface="Calibri"/>
            </a:endParaRPr>
          </a:p>
        </p:txBody>
      </p:sp>
      <p:sp>
        <p:nvSpPr>
          <p:cNvPr id="352" name="Google Shape;352;p43"/>
          <p:cNvSpPr txBox="1"/>
          <p:nvPr/>
        </p:nvSpPr>
        <p:spPr>
          <a:xfrm>
            <a:off x="537075" y="777375"/>
            <a:ext cx="7611900" cy="373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6AA84F"/>
                </a:solidFill>
                <a:latin typeface="Arial"/>
                <a:ea typeface="Arial"/>
                <a:cs typeface="Arial"/>
                <a:sym typeface="Arial"/>
              </a:rPr>
              <a:t>&gt; T1: </a:t>
            </a:r>
            <a:r>
              <a:rPr lang="en" sz="1600">
                <a:solidFill>
                  <a:srgbClr val="6AA84F"/>
                </a:solidFill>
              </a:rPr>
              <a:t>12.34.56.78</a:t>
            </a:r>
            <a:r>
              <a:rPr b="0" i="0" lang="en" sz="1600" u="none" cap="none" strike="noStrike">
                <a:solidFill>
                  <a:srgbClr val="6AA84F"/>
                </a:solidFill>
                <a:latin typeface="Arial"/>
                <a:ea typeface="Arial"/>
                <a:cs typeface="Arial"/>
                <a:sym typeface="Arial"/>
              </a:rPr>
              <a:t>:2022 / 192.168.0.1</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6AA84F"/>
                </a:solidFill>
                <a:latin typeface="Arial"/>
                <a:ea typeface="Arial"/>
                <a:cs typeface="Arial"/>
                <a:sym typeface="Arial"/>
              </a:rPr>
              <a:t>-&gt; T2: </a:t>
            </a:r>
            <a:r>
              <a:rPr lang="en" sz="1600">
                <a:solidFill>
                  <a:srgbClr val="6AA84F"/>
                </a:solidFill>
              </a:rPr>
              <a:t>192.168.0.2:22 / 172.16.0.2</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6AA84F"/>
                </a:solidFill>
                <a:latin typeface="Arial"/>
                <a:ea typeface="Arial"/>
                <a:cs typeface="Arial"/>
                <a:sym typeface="Arial"/>
              </a:rPr>
              <a:t>--&gt; T3: </a:t>
            </a:r>
            <a:r>
              <a:rPr lang="en" sz="1600">
                <a:solidFill>
                  <a:srgbClr val="6AA84F"/>
                </a:solidFill>
              </a:rPr>
              <a:t>172.16.0.3</a:t>
            </a:r>
            <a:r>
              <a:rPr b="0" i="0" lang="en" sz="1600" u="none" cap="none" strike="noStrike">
                <a:solidFill>
                  <a:srgbClr val="6AA84F"/>
                </a:solidFill>
                <a:latin typeface="Arial"/>
                <a:ea typeface="Arial"/>
                <a:cs typeface="Arial"/>
                <a:sym typeface="Arial"/>
              </a:rPr>
              <a:t>:2203</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6AA84F"/>
                </a:solidFill>
                <a:latin typeface="Arial"/>
                <a:ea typeface="Arial"/>
                <a:cs typeface="Arial"/>
                <a:sym typeface="Arial"/>
              </a:rPr>
              <a:t>--&gt; T4: </a:t>
            </a:r>
            <a:r>
              <a:rPr lang="en" sz="1600">
                <a:solidFill>
                  <a:srgbClr val="6AA84F"/>
                </a:solidFill>
              </a:rPr>
              <a:t>172.16.0.4</a:t>
            </a:r>
            <a:r>
              <a:rPr b="0" i="0" lang="en" sz="1600" u="none" cap="none" strike="noStrike">
                <a:solidFill>
                  <a:srgbClr val="6AA84F"/>
                </a:solidFill>
                <a:latin typeface="Arial"/>
                <a:ea typeface="Arial"/>
                <a:cs typeface="Arial"/>
                <a:sym typeface="Arial"/>
              </a:rPr>
              <a:t>:2204</a:t>
            </a:r>
            <a:r>
              <a:rPr lang="en" sz="1600">
                <a:solidFill>
                  <a:srgbClr val="6AA84F"/>
                </a:solidFill>
              </a:rPr>
              <a:t> / 10.10.0.4</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FF0000"/>
                </a:solidFill>
                <a:latin typeface="Arial"/>
                <a:ea typeface="Arial"/>
                <a:cs typeface="Arial"/>
                <a:sym typeface="Arial"/>
              </a:rPr>
              <a:t>---&lt; T5: </a:t>
            </a:r>
            <a:r>
              <a:rPr lang="en" sz="1600">
                <a:solidFill>
                  <a:srgbClr val="FF0000"/>
                </a:solidFill>
              </a:rPr>
              <a:t>10.10.0.5</a:t>
            </a:r>
            <a:r>
              <a:rPr b="0" i="0" lang="en" sz="1600" u="none" cap="none" strike="noStrike">
                <a:solidFill>
                  <a:srgbClr val="FF0000"/>
                </a:solidFill>
                <a:latin typeface="Arial"/>
                <a:ea typeface="Arial"/>
                <a:cs typeface="Arial"/>
                <a:sym typeface="Arial"/>
              </a:rPr>
              <a:t> (beacon to TCP 12345)</a:t>
            </a:r>
            <a:endParaRPr b="0" i="0" sz="16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chemeClr val="dk1"/>
                </a:solidFill>
                <a:latin typeface="Arial"/>
                <a:ea typeface="Arial"/>
                <a:cs typeface="Arial"/>
                <a:sym typeface="Arial"/>
              </a:rPr>
              <a:t>---&gt; T6: Suspected Mail Server</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 sz="1600"/>
              <a:t>Awesome! We made it to T3 and T4</a:t>
            </a:r>
            <a:endParaRPr b="0" i="0" sz="16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But T</a:t>
            </a:r>
            <a:r>
              <a:rPr lang="en" sz="1600">
                <a:latin typeface="Calibri"/>
                <a:ea typeface="Calibri"/>
                <a:cs typeface="Calibri"/>
                <a:sym typeface="Calibri"/>
              </a:rPr>
              <a:t>5</a:t>
            </a:r>
            <a:r>
              <a:rPr b="0" i="0" lang="en" sz="1600" u="none" cap="none" strike="noStrike">
                <a:solidFill>
                  <a:srgbClr val="000000"/>
                </a:solidFill>
                <a:latin typeface="Calibri"/>
                <a:ea typeface="Calibri"/>
                <a:cs typeface="Calibri"/>
                <a:sym typeface="Calibri"/>
              </a:rPr>
              <a:t> </a:t>
            </a:r>
            <a:r>
              <a:rPr lang="en" sz="1600">
                <a:latin typeface="Calibri"/>
                <a:ea typeface="Calibri"/>
                <a:cs typeface="Calibri"/>
                <a:sym typeface="Calibri"/>
              </a:rPr>
              <a:t>has</a:t>
            </a:r>
            <a:r>
              <a:rPr b="0" i="0" lang="en" sz="1600" u="none" cap="none" strike="noStrike">
                <a:solidFill>
                  <a:srgbClr val="000000"/>
                </a:solidFill>
                <a:latin typeface="Calibri"/>
                <a:ea typeface="Calibri"/>
                <a:cs typeface="Calibri"/>
                <a:sym typeface="Calibri"/>
              </a:rPr>
              <a:t> some weird backward pointing connection. What do I do?</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sz="1600">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lang="en" sz="1600">
                <a:latin typeface="Calibri"/>
                <a:ea typeface="Calibri"/>
                <a:cs typeface="Calibri"/>
                <a:sym typeface="Calibri"/>
              </a:rPr>
              <a:t>In this case, it means, T5 is currently sending a connection to T4 on port 12345 (which is probably closed on T4). We want T4 to catch that connection and send it back to our host device.</a:t>
            </a:r>
            <a:endParaRPr sz="160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44"/>
          <p:cNvPicPr preferRelativeResize="0"/>
          <p:nvPr/>
        </p:nvPicPr>
        <p:blipFill>
          <a:blip r:embed="rId3">
            <a:alphaModFix/>
          </a:blip>
          <a:stretch>
            <a:fillRect/>
          </a:stretch>
        </p:blipFill>
        <p:spPr>
          <a:xfrm>
            <a:off x="1415475" y="152400"/>
            <a:ext cx="7611699" cy="4677930"/>
          </a:xfrm>
          <a:prstGeom prst="rect">
            <a:avLst/>
          </a:prstGeom>
          <a:noFill/>
          <a:ln>
            <a:noFill/>
          </a:ln>
        </p:spPr>
      </p:pic>
      <p:sp>
        <p:nvSpPr>
          <p:cNvPr id="358" name="Google Shape;358;p44"/>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44"/>
          <p:cNvSpPr txBox="1"/>
          <p:nvPr/>
        </p:nvSpPr>
        <p:spPr>
          <a:xfrm>
            <a:off x="6392200" y="3314750"/>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You want to catch it here</a:t>
            </a:r>
            <a:endParaRPr sz="1200"/>
          </a:p>
        </p:txBody>
      </p:sp>
      <p:sp>
        <p:nvSpPr>
          <p:cNvPr id="360" name="Google Shape;360;p44"/>
          <p:cNvSpPr/>
          <p:nvPr/>
        </p:nvSpPr>
        <p:spPr>
          <a:xfrm>
            <a:off x="2312675" y="1129625"/>
            <a:ext cx="1841400" cy="193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361" name="Google Shape;361;p44"/>
          <p:cNvSpPr/>
          <p:nvPr/>
        </p:nvSpPr>
        <p:spPr>
          <a:xfrm>
            <a:off x="2189325" y="1495475"/>
            <a:ext cx="3503400" cy="13341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3333:172.16.0.3:2203</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-L 4444:172.16.0.4:2204</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362" name="Google Shape;362;p44"/>
          <p:cNvSpPr/>
          <p:nvPr/>
        </p:nvSpPr>
        <p:spPr>
          <a:xfrm>
            <a:off x="6955850" y="2695163"/>
            <a:ext cx="462564" cy="418122"/>
          </a:xfrm>
          <a:prstGeom prst="irregularSeal1">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p>
        </p:txBody>
      </p:sp>
      <p:sp>
        <p:nvSpPr>
          <p:cNvPr id="363" name="Google Shape;363;p44"/>
          <p:cNvSpPr/>
          <p:nvPr/>
        </p:nvSpPr>
        <p:spPr>
          <a:xfrm>
            <a:off x="7133750" y="2748525"/>
            <a:ext cx="9606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364" name="Google Shape;364;p44"/>
          <p:cNvSpPr txBox="1"/>
          <p:nvPr/>
        </p:nvSpPr>
        <p:spPr>
          <a:xfrm>
            <a:off x="1609975" y="3195425"/>
            <a:ext cx="960600" cy="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And send it back here</a:t>
            </a:r>
            <a:endParaRPr sz="1200"/>
          </a:p>
        </p:txBody>
      </p:sp>
      <p:sp>
        <p:nvSpPr>
          <p:cNvPr id="365" name="Google Shape;365;p44"/>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
        <p:nvSpPr>
          <p:cNvPr id="366" name="Google Shape;366;p44"/>
          <p:cNvSpPr/>
          <p:nvPr/>
        </p:nvSpPr>
        <p:spPr>
          <a:xfrm>
            <a:off x="2189325" y="1614800"/>
            <a:ext cx="4259400" cy="3648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lo:3333</a:t>
            </a:r>
            <a:endParaRPr sz="1000"/>
          </a:p>
        </p:txBody>
      </p:sp>
      <p:sp>
        <p:nvSpPr>
          <p:cNvPr id="367" name="Google Shape;367;p44"/>
          <p:cNvSpPr/>
          <p:nvPr/>
        </p:nvSpPr>
        <p:spPr>
          <a:xfrm>
            <a:off x="2189325" y="2464775"/>
            <a:ext cx="4259400" cy="364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lo:4444</a:t>
            </a:r>
            <a:endParaRPr sz="1000"/>
          </a:p>
        </p:txBody>
      </p:sp>
      <p:sp>
        <p:nvSpPr>
          <p:cNvPr id="368" name="Google Shape;368;p44"/>
          <p:cNvSpPr txBox="1"/>
          <p:nvPr/>
        </p:nvSpPr>
        <p:spPr>
          <a:xfrm>
            <a:off x="6448725" y="2695125"/>
            <a:ext cx="10263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t>Port Closed:</a:t>
            </a:r>
            <a:endParaRPr b="1" sz="1200"/>
          </a:p>
          <a:p>
            <a:pPr indent="0" lvl="0" marL="0" rtl="0" algn="l">
              <a:spcBef>
                <a:spcPts val="0"/>
              </a:spcBef>
              <a:spcAft>
                <a:spcPts val="0"/>
              </a:spcAft>
              <a:buNone/>
            </a:pPr>
            <a:r>
              <a:rPr b="1" lang="en" sz="1200"/>
              <a:t>RST!</a:t>
            </a:r>
            <a:endParaRPr b="1" sz="12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5"/>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 Basic -R Syntax</a:t>
            </a:r>
            <a:endParaRPr b="0" i="0" sz="3000" u="none" cap="none" strike="noStrike">
              <a:solidFill>
                <a:schemeClr val="dk1"/>
              </a:solidFill>
              <a:latin typeface="Calibri"/>
              <a:ea typeface="Calibri"/>
              <a:cs typeface="Calibri"/>
              <a:sym typeface="Calibri"/>
            </a:endParaRPr>
          </a:p>
        </p:txBody>
      </p:sp>
      <p:sp>
        <p:nvSpPr>
          <p:cNvPr id="374" name="Google Shape;374;p45"/>
          <p:cNvSpPr txBox="1"/>
          <p:nvPr/>
        </p:nvSpPr>
        <p:spPr>
          <a:xfrm>
            <a:off x="932250" y="803675"/>
            <a:ext cx="7447500" cy="39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solidFill>
                  <a:schemeClr val="dk1"/>
                </a:solidFill>
              </a:rPr>
              <a:t>The remote tunnel pieces are just the same. Like the -L tunnel, the listening tunnel entrance comes first, and the host that will likely actually process the connection request comes last.</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ctr">
              <a:spcBef>
                <a:spcPts val="0"/>
              </a:spcBef>
              <a:spcAft>
                <a:spcPts val="0"/>
              </a:spcAft>
              <a:buClr>
                <a:schemeClr val="dk1"/>
              </a:buClr>
              <a:buSzPts val="1400"/>
              <a:buFont typeface="Arial"/>
              <a:buNone/>
            </a:pPr>
            <a:r>
              <a:rPr lang="en">
                <a:solidFill>
                  <a:srgbClr val="4A86E8"/>
                </a:solidFill>
              </a:rPr>
              <a:t>-R </a:t>
            </a:r>
            <a:r>
              <a:rPr lang="en">
                <a:solidFill>
                  <a:srgbClr val="6AA84F"/>
                </a:solidFill>
              </a:rPr>
              <a:t>10.10.0.4:12345:</a:t>
            </a:r>
            <a:r>
              <a:rPr lang="en">
                <a:solidFill>
                  <a:srgbClr val="FF0000"/>
                </a:solidFill>
              </a:rPr>
              <a:t>127.0.0.1:5555</a:t>
            </a:r>
            <a:endParaRPr>
              <a:solidFill>
                <a:srgbClr val="980000"/>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317500" lvl="0" marL="457200" rtl="0" algn="l">
              <a:spcBef>
                <a:spcPts val="0"/>
              </a:spcBef>
              <a:spcAft>
                <a:spcPts val="0"/>
              </a:spcAft>
              <a:buClr>
                <a:srgbClr val="4A86E8"/>
              </a:buClr>
              <a:buSzPts val="1400"/>
              <a:buAutoNum type="arabicPeriod"/>
            </a:pPr>
            <a:r>
              <a:rPr lang="en">
                <a:solidFill>
                  <a:srgbClr val="4A86E8"/>
                </a:solidFill>
              </a:rPr>
              <a:t>This tunnel opens remotely, so we put the remote information first...</a:t>
            </a:r>
            <a:endParaRPr>
              <a:solidFill>
                <a:srgbClr val="4A86E8"/>
              </a:solidFill>
            </a:endParaRPr>
          </a:p>
          <a:p>
            <a:pPr indent="-317500" lvl="0" marL="457200" rtl="0" algn="l">
              <a:spcBef>
                <a:spcPts val="0"/>
              </a:spcBef>
              <a:spcAft>
                <a:spcPts val="0"/>
              </a:spcAft>
              <a:buClr>
                <a:srgbClr val="6AA84F"/>
              </a:buClr>
              <a:buSzPts val="1400"/>
              <a:buAutoNum type="arabicPeriod"/>
            </a:pPr>
            <a:r>
              <a:rPr lang="en">
                <a:solidFill>
                  <a:srgbClr val="6AA84F"/>
                </a:solidFill>
              </a:rPr>
              <a:t>The IP and port of our remote target serving as the entrance to our tunnel. This is where the beacon is currently sending its connection packets to. This tunnel will open a listener on the device you are currently connecting to (T4), but on the interface in T5’s network, the 10.10.0.0/24. Without the necessary config settings and permissions, it will only allow you to open your listener on 127.0.0.1.</a:t>
            </a:r>
            <a:endParaRPr>
              <a:solidFill>
                <a:srgbClr val="FF9900"/>
              </a:solidFill>
            </a:endParaRPr>
          </a:p>
          <a:p>
            <a:pPr indent="-317500" lvl="0" marL="457200" rtl="0" algn="l">
              <a:spcBef>
                <a:spcPts val="0"/>
              </a:spcBef>
              <a:spcAft>
                <a:spcPts val="0"/>
              </a:spcAft>
              <a:buClr>
                <a:srgbClr val="FF0000"/>
              </a:buClr>
              <a:buSzPts val="1400"/>
              <a:buAutoNum type="arabicPeriod"/>
            </a:pPr>
            <a:r>
              <a:rPr lang="en">
                <a:solidFill>
                  <a:srgbClr val="FF0000"/>
                </a:solidFill>
              </a:rPr>
              <a:t>The server IP and port for the host that will actually process this connection request. This is typically, but does no have to be, your local host. You will need to set up a listener on your local host, typically netcat, to receive this connection request.</a:t>
            </a:r>
            <a:endParaRPr>
              <a:solidFill>
                <a:srgbClr val="980000"/>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chemeClr val="dk1"/>
                </a:solidFill>
              </a:rPr>
              <a:t>Note 1: with both the -L and -R, the tunnel entrance socket always comes first.</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chemeClr val="dk1"/>
                </a:solidFill>
              </a:rPr>
              <a:t>Note 2: with both the -L and -R, you </a:t>
            </a:r>
            <a:r>
              <a:rPr i="1" lang="en">
                <a:solidFill>
                  <a:schemeClr val="dk1"/>
                </a:solidFill>
              </a:rPr>
              <a:t>typically </a:t>
            </a:r>
            <a:r>
              <a:rPr lang="en">
                <a:solidFill>
                  <a:schemeClr val="dk1"/>
                </a:solidFill>
              </a:rPr>
              <a:t>have no control over the remote host information, but can select whatever port you choose for the local side of your tunnel.</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6"/>
          <p:cNvSpPr txBox="1"/>
          <p:nvPr/>
        </p:nvSpPr>
        <p:spPr>
          <a:xfrm>
            <a:off x="537075" y="1460450"/>
            <a:ext cx="7611900" cy="85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SSH’s Home - Where this ssh instance will be executed</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9900FF"/>
              </a:buClr>
              <a:buSzPts val="1600"/>
              <a:buFont typeface="Calibri"/>
              <a:buAutoNum type="arabicPeriod"/>
            </a:pPr>
            <a:r>
              <a:rPr b="0" i="0" lang="en" sz="1600" u="none" cap="none" strike="noStrike">
                <a:solidFill>
                  <a:srgbClr val="9900FF"/>
                </a:solidFill>
                <a:latin typeface="Calibri"/>
                <a:ea typeface="Calibri"/>
                <a:cs typeface="Calibri"/>
                <a:sym typeface="Calibri"/>
              </a:rPr>
              <a:t>Calls ssh command binary to execute on the current host</a:t>
            </a:r>
            <a:endParaRPr b="0" i="0" sz="1600" u="none" cap="none" strike="noStrike">
              <a:solidFill>
                <a:srgbClr val="9900FF"/>
              </a:solidFill>
              <a:latin typeface="Calibri"/>
              <a:ea typeface="Calibri"/>
              <a:cs typeface="Calibri"/>
              <a:sym typeface="Calibri"/>
            </a:endParaRPr>
          </a:p>
          <a:p>
            <a:pPr indent="-330200" lvl="0" marL="457200" marR="0" rtl="0" algn="l">
              <a:lnSpc>
                <a:spcPct val="100000"/>
              </a:lnSpc>
              <a:spcBef>
                <a:spcPts val="0"/>
              </a:spcBef>
              <a:spcAft>
                <a:spcPts val="0"/>
              </a:spcAft>
              <a:buClr>
                <a:srgbClr val="FF00FF"/>
              </a:buClr>
              <a:buSzPts val="1600"/>
              <a:buFont typeface="Calibri"/>
              <a:buAutoNum type="arabicPeriod"/>
            </a:pPr>
            <a:r>
              <a:rPr b="0" i="0" lang="en" sz="1600" u="none" cap="none" strike="noStrike">
                <a:solidFill>
                  <a:srgbClr val="FF00FF"/>
                </a:solidFill>
                <a:latin typeface="Calibri"/>
                <a:ea typeface="Calibri"/>
                <a:cs typeface="Calibri"/>
                <a:sym typeface="Calibri"/>
              </a:rPr>
              <a:t>Multiplex Information - -S </a:t>
            </a:r>
            <a:r>
              <a:rPr b="0" i="1" lang="en" sz="1600" u="none" cap="none" strike="noStrike">
                <a:solidFill>
                  <a:srgbClr val="FF00FF"/>
                </a:solidFill>
                <a:latin typeface="Calibri"/>
                <a:ea typeface="Calibri"/>
                <a:cs typeface="Calibri"/>
                <a:sym typeface="Calibri"/>
              </a:rPr>
              <a:t>accesses</a:t>
            </a:r>
            <a:r>
              <a:rPr b="0" i="0" lang="en" sz="1600" u="none" cap="none" strike="noStrike">
                <a:solidFill>
                  <a:srgbClr val="FF00FF"/>
                </a:solidFill>
                <a:latin typeface="Calibri"/>
                <a:ea typeface="Calibri"/>
                <a:cs typeface="Calibri"/>
                <a:sym typeface="Calibri"/>
              </a:rPr>
              <a:t> the stored socket when we connected to T4. </a:t>
            </a:r>
            <a:endParaRPr b="0" i="0" sz="1600" u="none" cap="none" strike="noStrike">
              <a:solidFill>
                <a:srgbClr val="FF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6"/>
              </a:solidFill>
              <a:latin typeface="Calibri"/>
              <a:ea typeface="Calibri"/>
              <a:cs typeface="Calibri"/>
              <a:sym typeface="Calibri"/>
            </a:endParaRPr>
          </a:p>
        </p:txBody>
      </p:sp>
      <p:sp>
        <p:nvSpPr>
          <p:cNvPr id="380" name="Google Shape;380;p46"/>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Using a -R Tunnel</a:t>
            </a:r>
            <a:endParaRPr b="0" i="0" sz="3000" u="none" cap="none" strike="noStrike">
              <a:solidFill>
                <a:schemeClr val="dk1"/>
              </a:solidFill>
              <a:latin typeface="Calibri"/>
              <a:ea typeface="Calibri"/>
              <a:cs typeface="Calibri"/>
              <a:sym typeface="Calibri"/>
            </a:endParaRPr>
          </a:p>
        </p:txBody>
      </p:sp>
      <p:sp>
        <p:nvSpPr>
          <p:cNvPr id="381" name="Google Shape;381;p46"/>
          <p:cNvSpPr txBox="1"/>
          <p:nvPr/>
        </p:nvSpPr>
        <p:spPr>
          <a:xfrm>
            <a:off x="548775" y="2341975"/>
            <a:ext cx="7588500" cy="100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Present Connection - Where we are pointing our connection attempt right now</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FF9900"/>
              </a:buClr>
              <a:buSzPts val="1400"/>
              <a:buFont typeface="Calibri"/>
              <a:buAutoNum type="arabicPeriod"/>
            </a:pPr>
            <a:r>
              <a:rPr b="0" i="0" lang="en" sz="1400" u="none" cap="none" strike="noStrike">
                <a:solidFill>
                  <a:srgbClr val="FF9900"/>
                </a:solidFill>
                <a:latin typeface="Calibri"/>
                <a:ea typeface="Calibri"/>
                <a:cs typeface="Calibri"/>
                <a:sym typeface="Calibri"/>
              </a:rPr>
              <a:t>Port - The specific port listening for an ssh connection. </a:t>
            </a:r>
            <a:endParaRPr b="0" i="0" sz="1400" u="none" cap="none" strike="noStrike">
              <a:solidFill>
                <a:srgbClr val="FF9900"/>
              </a:solidFill>
              <a:latin typeface="Calibri"/>
              <a:ea typeface="Calibri"/>
              <a:cs typeface="Calibri"/>
              <a:sym typeface="Calibri"/>
            </a:endParaRPr>
          </a:p>
          <a:p>
            <a:pPr indent="-317500" lvl="0" marL="457200" marR="0" rtl="0" algn="l">
              <a:lnSpc>
                <a:spcPct val="100000"/>
              </a:lnSpc>
              <a:spcBef>
                <a:spcPts val="0"/>
              </a:spcBef>
              <a:spcAft>
                <a:spcPts val="0"/>
              </a:spcAft>
              <a:buClr>
                <a:srgbClr val="FF0000"/>
              </a:buClr>
              <a:buSzPts val="1400"/>
              <a:buFont typeface="Calibri"/>
              <a:buAutoNum type="arabicPeriod"/>
            </a:pPr>
            <a:r>
              <a:rPr b="0" i="0" lang="en" sz="1400" u="none" cap="none" strike="noStrike">
                <a:solidFill>
                  <a:srgbClr val="FF0000"/>
                </a:solidFill>
                <a:latin typeface="Calibri"/>
                <a:ea typeface="Calibri"/>
                <a:cs typeface="Calibri"/>
                <a:sym typeface="Calibri"/>
              </a:rPr>
              <a:t>Username - What user do you intend to authenticate as when you land on target? </a:t>
            </a:r>
            <a:endParaRPr b="0" i="0" sz="1400" u="none" cap="none" strike="noStrike">
              <a:solidFill>
                <a:srgbClr val="FF0000"/>
              </a:solidFill>
              <a:latin typeface="Calibri"/>
              <a:ea typeface="Calibri"/>
              <a:cs typeface="Calibri"/>
              <a:sym typeface="Calibri"/>
            </a:endParaRPr>
          </a:p>
          <a:p>
            <a:pPr indent="-317500" lvl="0" marL="457200" marR="0" rtl="0" algn="l">
              <a:lnSpc>
                <a:spcPct val="100000"/>
              </a:lnSpc>
              <a:spcBef>
                <a:spcPts val="0"/>
              </a:spcBef>
              <a:spcAft>
                <a:spcPts val="0"/>
              </a:spcAft>
              <a:buClr>
                <a:srgbClr val="980000"/>
              </a:buClr>
              <a:buSzPts val="1400"/>
              <a:buFont typeface="Calibri"/>
              <a:buAutoNum type="arabicPeriod"/>
            </a:pPr>
            <a:r>
              <a:rPr b="0" i="0" lang="en" sz="1400" u="none" cap="none" strike="noStrike">
                <a:solidFill>
                  <a:srgbClr val="980000"/>
                </a:solidFill>
                <a:latin typeface="Calibri"/>
                <a:ea typeface="Calibri"/>
                <a:cs typeface="Calibri"/>
                <a:sym typeface="Calibri"/>
              </a:rPr>
              <a:t>IP - Where are we sending our connection request to right now? </a:t>
            </a:r>
            <a:endParaRPr b="0" i="0" sz="1400" u="none" cap="none" strike="noStrike">
              <a:solidFill>
                <a:srgbClr val="000000"/>
              </a:solidFill>
              <a:latin typeface="Arial"/>
              <a:ea typeface="Arial"/>
              <a:cs typeface="Arial"/>
              <a:sym typeface="Arial"/>
            </a:endParaRPr>
          </a:p>
        </p:txBody>
      </p:sp>
      <p:sp>
        <p:nvSpPr>
          <p:cNvPr id="382" name="Google Shape;382;p46"/>
          <p:cNvSpPr txBox="1"/>
          <p:nvPr/>
        </p:nvSpPr>
        <p:spPr>
          <a:xfrm>
            <a:off x="537075" y="777375"/>
            <a:ext cx="7611900" cy="45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SSH command: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9900FF"/>
                </a:solidFill>
                <a:latin typeface="Calibri"/>
                <a:ea typeface="Calibri"/>
                <a:cs typeface="Calibri"/>
                <a:sym typeface="Calibri"/>
              </a:rPr>
              <a:t>ssh</a:t>
            </a:r>
            <a:r>
              <a:rPr b="0" i="0" lang="en" sz="1400" u="none" cap="none" strike="noStrike">
                <a:solidFill>
                  <a:schemeClr val="dk1"/>
                </a:solidFill>
                <a:latin typeface="Calibri"/>
                <a:ea typeface="Calibri"/>
                <a:cs typeface="Calibri"/>
                <a:sym typeface="Calibri"/>
              </a:rPr>
              <a:t> </a:t>
            </a:r>
            <a:r>
              <a:rPr b="0" i="0" lang="en" sz="1400" u="none" cap="none" strike="noStrike">
                <a:solidFill>
                  <a:srgbClr val="FF00FF"/>
                </a:solidFill>
                <a:latin typeface="Calibri"/>
                <a:ea typeface="Calibri"/>
                <a:cs typeface="Calibri"/>
                <a:sym typeface="Calibri"/>
              </a:rPr>
              <a:t>-S /tmp/T4 </a:t>
            </a:r>
            <a:r>
              <a:rPr b="0" i="0" lang="en" sz="1400" u="none" cap="none" strike="noStrike">
                <a:solidFill>
                  <a:srgbClr val="FF9900"/>
                </a:solidFill>
                <a:latin typeface="Calibri"/>
                <a:ea typeface="Calibri"/>
                <a:cs typeface="Calibri"/>
                <a:sym typeface="Calibri"/>
              </a:rPr>
              <a:t>-p 4444</a:t>
            </a:r>
            <a:r>
              <a:rPr b="0" i="0" lang="en" sz="1400" u="none" cap="none" strike="noStrike">
                <a:solidFill>
                  <a:schemeClr val="dk1"/>
                </a:solidFill>
                <a:latin typeface="Calibri"/>
                <a:ea typeface="Calibri"/>
                <a:cs typeface="Calibri"/>
                <a:sym typeface="Calibri"/>
              </a:rPr>
              <a:t> </a:t>
            </a:r>
            <a:r>
              <a:rPr b="0" i="0" lang="en" sz="1400" u="none" cap="none" strike="noStrike">
                <a:solidFill>
                  <a:srgbClr val="FF0000"/>
                </a:solidFill>
                <a:latin typeface="Calibri"/>
                <a:ea typeface="Calibri"/>
                <a:cs typeface="Calibri"/>
                <a:sym typeface="Calibri"/>
              </a:rPr>
              <a:t>student</a:t>
            </a:r>
            <a:r>
              <a:rPr b="0" i="0" lang="en" sz="1400" u="none" cap="none" strike="noStrike">
                <a:solidFill>
                  <a:srgbClr val="980000"/>
                </a:solidFill>
                <a:latin typeface="Calibri"/>
                <a:ea typeface="Calibri"/>
                <a:cs typeface="Calibri"/>
                <a:sym typeface="Calibri"/>
              </a:rPr>
              <a:t>@127.0.0.1 </a:t>
            </a:r>
            <a:r>
              <a:rPr b="0" i="0" lang="en" sz="1400" u="none" cap="none" strike="noStrike">
                <a:solidFill>
                  <a:srgbClr val="4A86E8"/>
                </a:solidFill>
                <a:latin typeface="Calibri"/>
                <a:ea typeface="Calibri"/>
                <a:cs typeface="Calibri"/>
                <a:sym typeface="Calibri"/>
              </a:rPr>
              <a:t>-O forward </a:t>
            </a:r>
            <a:r>
              <a:rPr b="0" i="0" lang="en" sz="1400" u="none" cap="none" strike="noStrike">
                <a:solidFill>
                  <a:srgbClr val="6AA84F"/>
                </a:solidFill>
                <a:latin typeface="Calibri"/>
                <a:ea typeface="Calibri"/>
                <a:cs typeface="Calibri"/>
                <a:sym typeface="Calibri"/>
              </a:rPr>
              <a:t>-</a:t>
            </a:r>
            <a:r>
              <a:rPr lang="en">
                <a:solidFill>
                  <a:srgbClr val="6AA84F"/>
                </a:solidFill>
                <a:latin typeface="Calibri"/>
                <a:ea typeface="Calibri"/>
                <a:cs typeface="Calibri"/>
                <a:sym typeface="Calibri"/>
              </a:rPr>
              <a:t>-R 10.10.0.4:12345:127.0.0.1:5555</a:t>
            </a:r>
            <a:endParaRPr>
              <a:solidFill>
                <a:srgbClr val="6AA84F"/>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rgbClr val="6AA84F"/>
              </a:solidFill>
              <a:latin typeface="Calibri"/>
              <a:ea typeface="Calibri"/>
              <a:cs typeface="Calibri"/>
              <a:sym typeface="Calibri"/>
            </a:endParaRPr>
          </a:p>
        </p:txBody>
      </p:sp>
      <p:sp>
        <p:nvSpPr>
          <p:cNvPr id="383" name="Google Shape;383;p46"/>
          <p:cNvSpPr txBox="1"/>
          <p:nvPr/>
        </p:nvSpPr>
        <p:spPr>
          <a:xfrm>
            <a:off x="537075" y="3296375"/>
            <a:ext cx="7611900" cy="95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Future Connection - Where are we going from here?</a:t>
            </a:r>
            <a:endParaRPr b="0" i="0" sz="1400" u="none" cap="none" strike="noStrike">
              <a:solidFill>
                <a:srgbClr val="4A86E8"/>
              </a:solidFill>
              <a:latin typeface="Arial"/>
              <a:ea typeface="Arial"/>
              <a:cs typeface="Arial"/>
              <a:sym typeface="Arial"/>
            </a:endParaRPr>
          </a:p>
          <a:p>
            <a:pPr indent="-317500" lvl="0" marL="457200" marR="0" rtl="0" algn="l">
              <a:lnSpc>
                <a:spcPct val="100000"/>
              </a:lnSpc>
              <a:spcBef>
                <a:spcPts val="0"/>
              </a:spcBef>
              <a:spcAft>
                <a:spcPts val="0"/>
              </a:spcAft>
              <a:buClr>
                <a:srgbClr val="6AA84F"/>
              </a:buClr>
              <a:buSzPts val="1400"/>
              <a:buFont typeface="Calibri"/>
              <a:buAutoNum type="arabicPeriod"/>
            </a:pPr>
            <a:r>
              <a:rPr b="0" i="0" lang="en" sz="1400" u="none" cap="none" strike="noStrike">
                <a:solidFill>
                  <a:srgbClr val="4A86E8"/>
                </a:solidFill>
                <a:latin typeface="Arial"/>
                <a:ea typeface="Arial"/>
                <a:cs typeface="Arial"/>
                <a:sym typeface="Arial"/>
              </a:rPr>
              <a:t>Session Options - Adding forwarding to the session</a:t>
            </a:r>
            <a:endParaRPr b="0" i="0" sz="1400" u="none" cap="none" strike="noStrike">
              <a:solidFill>
                <a:srgbClr val="6AA84F"/>
              </a:solidFill>
              <a:latin typeface="Calibri"/>
              <a:ea typeface="Calibri"/>
              <a:cs typeface="Calibri"/>
              <a:sym typeface="Calibri"/>
            </a:endParaRPr>
          </a:p>
          <a:p>
            <a:pPr indent="-317500" lvl="0" marL="457200" marR="0" rtl="0" algn="l">
              <a:lnSpc>
                <a:spcPct val="100000"/>
              </a:lnSpc>
              <a:spcBef>
                <a:spcPts val="0"/>
              </a:spcBef>
              <a:spcAft>
                <a:spcPts val="0"/>
              </a:spcAft>
              <a:buClr>
                <a:srgbClr val="6AA84F"/>
              </a:buClr>
              <a:buSzPts val="1400"/>
              <a:buFont typeface="Calibri"/>
              <a:buAutoNum type="arabicPeriod"/>
            </a:pPr>
            <a:r>
              <a:rPr b="0" i="0" lang="en" sz="1400" u="none" cap="none" strike="noStrike">
                <a:solidFill>
                  <a:srgbClr val="6AA84F"/>
                </a:solidFill>
                <a:latin typeface="Calibri"/>
                <a:ea typeface="Calibri"/>
                <a:cs typeface="Calibri"/>
                <a:sym typeface="Calibri"/>
              </a:rPr>
              <a:t>Tunnel syntax -  My tunnel information to connect me to the next target. Includes direction, tunnel entrance IP, tunnel entrance port, next hop IP, and next hop port. </a:t>
            </a:r>
            <a:r>
              <a:rPr lang="en">
                <a:solidFill>
                  <a:srgbClr val="6AA84F"/>
                </a:solidFill>
                <a:highlight>
                  <a:srgbClr val="FFFF00"/>
                </a:highlight>
                <a:latin typeface="Calibri"/>
                <a:ea typeface="Calibri"/>
                <a:cs typeface="Calibri"/>
                <a:sym typeface="Calibri"/>
              </a:rPr>
              <a:t>The default IP for a -R tunnel’s entrance is 127.0.0.1 if created without privileges.</a:t>
            </a:r>
            <a:endParaRPr b="0" i="0" sz="1400" u="none" cap="none" strike="noStrike">
              <a:solidFill>
                <a:srgbClr val="6AA84F"/>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47"/>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389" name="Google Shape;389;p47"/>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47"/>
          <p:cNvSpPr/>
          <p:nvPr/>
        </p:nvSpPr>
        <p:spPr>
          <a:xfrm>
            <a:off x="2312675" y="1129625"/>
            <a:ext cx="1841400" cy="225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391" name="Google Shape;391;p47"/>
          <p:cNvSpPr/>
          <p:nvPr/>
        </p:nvSpPr>
        <p:spPr>
          <a:xfrm>
            <a:off x="2189325" y="1495475"/>
            <a:ext cx="3503400" cy="17511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3333:172.16.0.3:2203</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-L 4444:172.16.0.4:2204</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392" name="Google Shape;392;p47"/>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
        <p:nvSpPr>
          <p:cNvPr id="393" name="Google Shape;393;p47"/>
          <p:cNvSpPr/>
          <p:nvPr/>
        </p:nvSpPr>
        <p:spPr>
          <a:xfrm>
            <a:off x="2189325" y="1614800"/>
            <a:ext cx="4259400" cy="3648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lo:3333</a:t>
            </a:r>
            <a:endParaRPr sz="1000"/>
          </a:p>
        </p:txBody>
      </p:sp>
      <p:sp>
        <p:nvSpPr>
          <p:cNvPr id="394" name="Google Shape;394;p47"/>
          <p:cNvSpPr/>
          <p:nvPr/>
        </p:nvSpPr>
        <p:spPr>
          <a:xfrm>
            <a:off x="2189325" y="2464775"/>
            <a:ext cx="4259400" cy="364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lo:4444</a:t>
            </a:r>
            <a:endParaRPr sz="1000"/>
          </a:p>
        </p:txBody>
      </p:sp>
      <p:sp>
        <p:nvSpPr>
          <p:cNvPr id="395" name="Google Shape;395;p47"/>
          <p:cNvSpPr/>
          <p:nvPr/>
        </p:nvSpPr>
        <p:spPr>
          <a:xfrm>
            <a:off x="2081425" y="2695175"/>
            <a:ext cx="5123400" cy="4626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 10.10.0.4:12345:127.0.0.1:5555</a:t>
            </a:r>
            <a:endParaRPr sz="1000"/>
          </a:p>
          <a:p>
            <a:pPr indent="0" lvl="0" marL="0" rtl="0" algn="r">
              <a:spcBef>
                <a:spcPts val="0"/>
              </a:spcBef>
              <a:spcAft>
                <a:spcPts val="0"/>
              </a:spcAft>
              <a:buNone/>
            </a:pPr>
            <a:r>
              <a:rPr lang="en" sz="1000"/>
              <a:t>10.10.0.4:12345</a:t>
            </a:r>
            <a:endParaRPr sz="1000"/>
          </a:p>
          <a:p>
            <a:pPr indent="0" lvl="0" marL="0" rtl="0" algn="l">
              <a:spcBef>
                <a:spcPts val="0"/>
              </a:spcBef>
              <a:spcAft>
                <a:spcPts val="0"/>
              </a:spcAft>
              <a:buNone/>
            </a:pPr>
            <a:r>
              <a:t/>
            </a:r>
            <a:endParaRPr sz="1000"/>
          </a:p>
        </p:txBody>
      </p:sp>
      <p:sp>
        <p:nvSpPr>
          <p:cNvPr id="396" name="Google Shape;396;p47"/>
          <p:cNvSpPr/>
          <p:nvPr/>
        </p:nvSpPr>
        <p:spPr>
          <a:xfrm>
            <a:off x="7133750" y="2748525"/>
            <a:ext cx="9606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397" name="Google Shape;397;p47"/>
          <p:cNvSpPr/>
          <p:nvPr/>
        </p:nvSpPr>
        <p:spPr>
          <a:xfrm>
            <a:off x="1882600" y="2634363"/>
            <a:ext cx="482274" cy="584226"/>
          </a:xfrm>
          <a:prstGeom prst="irregularSeal1">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8" name="Google Shape;398;p47"/>
          <p:cNvSpPr/>
          <p:nvPr/>
        </p:nvSpPr>
        <p:spPr>
          <a:xfrm>
            <a:off x="2025775" y="2770775"/>
            <a:ext cx="41262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399" name="Google Shape;399;p47"/>
          <p:cNvSpPr txBox="1"/>
          <p:nvPr/>
        </p:nvSpPr>
        <p:spPr>
          <a:xfrm>
            <a:off x="1647688" y="2970725"/>
            <a:ext cx="10263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t>Port Closed:</a:t>
            </a:r>
            <a:endParaRPr b="1" sz="1200"/>
          </a:p>
          <a:p>
            <a:pPr indent="0" lvl="0" marL="0" rtl="0" algn="l">
              <a:spcBef>
                <a:spcPts val="0"/>
              </a:spcBef>
              <a:spcAft>
                <a:spcPts val="0"/>
              </a:spcAft>
              <a:buNone/>
            </a:pPr>
            <a:r>
              <a:rPr b="1" lang="en" sz="1200"/>
              <a:t>RST!</a:t>
            </a:r>
            <a:endParaRPr b="1" sz="1200"/>
          </a:p>
          <a:p>
            <a:pPr indent="0" lvl="0" marL="0" rtl="0" algn="l">
              <a:spcBef>
                <a:spcPts val="0"/>
              </a:spcBef>
              <a:spcAft>
                <a:spcPts val="0"/>
              </a:spcAft>
              <a:buNone/>
            </a:pPr>
            <a:r>
              <a:rPr lang="en" sz="1000"/>
              <a:t>We want to listen here</a:t>
            </a:r>
            <a:endParaRPr sz="1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8"/>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Using a -R Tunnel</a:t>
            </a:r>
            <a:endParaRPr b="0" i="0" sz="3000" u="none" cap="none" strike="noStrike">
              <a:solidFill>
                <a:schemeClr val="dk1"/>
              </a:solidFill>
              <a:latin typeface="Calibri"/>
              <a:ea typeface="Calibri"/>
              <a:cs typeface="Calibri"/>
              <a:sym typeface="Calibri"/>
            </a:endParaRPr>
          </a:p>
        </p:txBody>
      </p:sp>
      <p:sp>
        <p:nvSpPr>
          <p:cNvPr id="405" name="Google Shape;405;p48"/>
          <p:cNvSpPr txBox="1"/>
          <p:nvPr/>
        </p:nvSpPr>
        <p:spPr>
          <a:xfrm>
            <a:off x="537075" y="777375"/>
            <a:ext cx="7611900" cy="16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600"/>
              <a:buFont typeface="Arial"/>
              <a:buNone/>
            </a:pPr>
            <a:r>
              <a:rPr lang="en" sz="1600">
                <a:solidFill>
                  <a:schemeClr val="dk1"/>
                </a:solidFill>
              </a:rPr>
              <a:t>Boooooo!!! I set up my Remote tunnel but I’m not getting anything! What a scam!</a:t>
            </a:r>
            <a:endParaRPr sz="1600">
              <a:solidFill>
                <a:schemeClr val="dk1"/>
              </a:solidFill>
            </a:endParaRPr>
          </a:p>
          <a:p>
            <a:pPr indent="0" lvl="0" marL="0" rtl="0" algn="l">
              <a:spcBef>
                <a:spcPts val="0"/>
              </a:spcBef>
              <a:spcAft>
                <a:spcPts val="0"/>
              </a:spcAft>
              <a:buClr>
                <a:schemeClr val="dk1"/>
              </a:buClr>
              <a:buSzPts val="1600"/>
              <a:buFont typeface="Arial"/>
              <a:buNone/>
            </a:pPr>
            <a:r>
              <a:t/>
            </a:r>
            <a:endParaRPr sz="1600">
              <a:solidFill>
                <a:schemeClr val="dk1"/>
              </a:solidFill>
            </a:endParaRPr>
          </a:p>
          <a:p>
            <a:pPr indent="0" lvl="0" marL="0" rtl="0" algn="l">
              <a:spcBef>
                <a:spcPts val="0"/>
              </a:spcBef>
              <a:spcAft>
                <a:spcPts val="0"/>
              </a:spcAft>
              <a:buClr>
                <a:schemeClr val="dk1"/>
              </a:buClr>
              <a:buSzPts val="1600"/>
              <a:buFont typeface="Arial"/>
              <a:buNone/>
            </a:pPr>
            <a:r>
              <a:rPr lang="en">
                <a:solidFill>
                  <a:schemeClr val="dk1"/>
                </a:solidFill>
              </a:rPr>
              <a:t>Nope. Not a scam. Remember, just like with a -L tunnel, that last half is pointing traffic leaving our tunnel at a listening port or service, right? We told it to send the traffic to our own host’s loopback on 5555, but… </a:t>
            </a:r>
            <a:endParaRPr>
              <a:solidFill>
                <a:schemeClr val="dk1"/>
              </a:solidFill>
            </a:endParaRPr>
          </a:p>
          <a:p>
            <a:pPr indent="0" lvl="0" marL="0" rtl="0" algn="l">
              <a:spcBef>
                <a:spcPts val="0"/>
              </a:spcBef>
              <a:spcAft>
                <a:spcPts val="0"/>
              </a:spcAft>
              <a:buClr>
                <a:schemeClr val="dk1"/>
              </a:buClr>
              <a:buSzPts val="1600"/>
              <a:buFont typeface="Arial"/>
              <a:buNone/>
            </a:pPr>
            <a:r>
              <a:t/>
            </a:r>
            <a:endParaRPr>
              <a:solidFill>
                <a:schemeClr val="dk1"/>
              </a:solidFill>
            </a:endParaRPr>
          </a:p>
          <a:p>
            <a:pPr indent="0" lvl="0" marL="0" rtl="0" algn="l">
              <a:spcBef>
                <a:spcPts val="0"/>
              </a:spcBef>
              <a:spcAft>
                <a:spcPts val="0"/>
              </a:spcAft>
              <a:buClr>
                <a:schemeClr val="dk1"/>
              </a:buClr>
              <a:buSzPts val="1600"/>
              <a:buFont typeface="Arial"/>
              <a:buNone/>
            </a:pPr>
            <a:r>
              <a:rPr lang="en">
                <a:solidFill>
                  <a:schemeClr val="dk1"/>
                </a:solidFill>
              </a:rPr>
              <a:t>…we forgot to start a listener on our loopback. There are lots of listeners in the world, but for our purposes today, let’s use Good Old Netcat.</a:t>
            </a:r>
            <a:endParaRPr>
              <a:solidFill>
                <a:schemeClr val="dk1"/>
              </a:solidFill>
            </a:endParaRPr>
          </a:p>
          <a:p>
            <a:pPr indent="0" lvl="0" marL="0" rtl="0" algn="l">
              <a:spcBef>
                <a:spcPts val="0"/>
              </a:spcBef>
              <a:spcAft>
                <a:spcPts val="0"/>
              </a:spcAft>
              <a:buClr>
                <a:schemeClr val="dk1"/>
              </a:buClr>
              <a:buSzPts val="16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b="1" lang="en" sz="1200">
                <a:solidFill>
                  <a:schemeClr val="dk1"/>
                </a:solidFill>
              </a:rPr>
              <a:t>Receive your T5 callback by starting a listener on your local host on port 5555:</a:t>
            </a:r>
            <a:endParaRPr>
              <a:solidFill>
                <a:schemeClr val="dk1"/>
              </a:solidFill>
            </a:endParaRPr>
          </a:p>
          <a:p>
            <a:pPr indent="0" lvl="0" marL="0" rtl="0" algn="l">
              <a:spcBef>
                <a:spcPts val="0"/>
              </a:spcBef>
              <a:spcAft>
                <a:spcPts val="0"/>
              </a:spcAft>
              <a:buClr>
                <a:schemeClr val="dk1"/>
              </a:buClr>
              <a:buSzPts val="1600"/>
              <a:buFont typeface="Arial"/>
              <a:buNone/>
            </a:pPr>
            <a:r>
              <a:rPr lang="en">
                <a:solidFill>
                  <a:schemeClr val="dk1"/>
                </a:solidFill>
              </a:rPr>
              <a:t>nc -nklvp 5555</a:t>
            </a:r>
            <a:endParaRPr>
              <a:solidFill>
                <a:schemeClr val="dk1"/>
              </a:solidFill>
            </a:endParaRPr>
          </a:p>
          <a:p>
            <a:pPr indent="0" lvl="0" marL="0" rtl="0" algn="l">
              <a:spcBef>
                <a:spcPts val="0"/>
              </a:spcBef>
              <a:spcAft>
                <a:spcPts val="0"/>
              </a:spcAft>
              <a:buClr>
                <a:schemeClr val="dk1"/>
              </a:buClr>
              <a:buSzPts val="1600"/>
              <a:buFont typeface="Arial"/>
              <a:buNone/>
            </a:pPr>
            <a:r>
              <a:t/>
            </a:r>
            <a:endParaRPr>
              <a:solidFill>
                <a:schemeClr val="dk1"/>
              </a:solidFill>
            </a:endParaRPr>
          </a:p>
          <a:p>
            <a:pPr indent="0" lvl="0" marL="0" rtl="0" algn="l">
              <a:spcBef>
                <a:spcPts val="0"/>
              </a:spcBef>
              <a:spcAft>
                <a:spcPts val="0"/>
              </a:spcAft>
              <a:buClr>
                <a:schemeClr val="dk1"/>
              </a:buClr>
              <a:buSzPts val="1600"/>
              <a:buFont typeface="Arial"/>
              <a:buNone/>
            </a:pPr>
            <a:r>
              <a:rPr lang="en">
                <a:solidFill>
                  <a:schemeClr val="dk1"/>
                </a:solidFill>
              </a:rPr>
              <a:t>This will open up a listening port on 5555 and keep it open even after the first connection. Great for communication, but if we just want to receive a single file, maybe ditch the -k and set it to output what it receives to file: nc -nlvp &gt; myfile.</a:t>
            </a:r>
            <a:endParaRPr sz="1600"/>
          </a:p>
        </p:txBody>
      </p:sp>
      <p:sp>
        <p:nvSpPr>
          <p:cNvPr id="406" name="Google Shape;406;p48"/>
          <p:cNvSpPr txBox="1"/>
          <p:nvPr/>
        </p:nvSpPr>
        <p:spPr>
          <a:xfrm>
            <a:off x="537075" y="4199150"/>
            <a:ext cx="7611900" cy="36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Note: Tunnels can be created on connection, but best practice is to wait until it’s needed, especially with -R. Otherwise, we are definitely receiving traffic from T5 before </a:t>
            </a:r>
            <a:r>
              <a:rPr lang="en"/>
              <a:t>we’re ready for it and may even accidentally connect to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9"/>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Dynamic Tunnels</a:t>
            </a:r>
            <a:endParaRPr b="0" i="0" sz="3000" u="none" cap="none" strike="noStrike">
              <a:solidFill>
                <a:schemeClr val="dk1"/>
              </a:solidFill>
              <a:latin typeface="Calibri"/>
              <a:ea typeface="Calibri"/>
              <a:cs typeface="Calibri"/>
              <a:sym typeface="Calibri"/>
            </a:endParaRPr>
          </a:p>
        </p:txBody>
      </p:sp>
      <p:sp>
        <p:nvSpPr>
          <p:cNvPr id="412" name="Google Shape;412;p49"/>
          <p:cNvSpPr txBox="1"/>
          <p:nvPr/>
        </p:nvSpPr>
        <p:spPr>
          <a:xfrm>
            <a:off x="537075" y="777375"/>
            <a:ext cx="7611900" cy="373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6AA84F"/>
                </a:solidFill>
                <a:latin typeface="Arial"/>
                <a:ea typeface="Arial"/>
                <a:cs typeface="Arial"/>
                <a:sym typeface="Arial"/>
              </a:rPr>
              <a:t>&gt; T1: </a:t>
            </a:r>
            <a:r>
              <a:rPr lang="en" sz="1600">
                <a:solidFill>
                  <a:srgbClr val="6AA84F"/>
                </a:solidFill>
              </a:rPr>
              <a:t>12.34.56.78</a:t>
            </a:r>
            <a:r>
              <a:rPr b="0" i="0" lang="en" sz="1600" u="none" cap="none" strike="noStrike">
                <a:solidFill>
                  <a:srgbClr val="6AA84F"/>
                </a:solidFill>
                <a:latin typeface="Arial"/>
                <a:ea typeface="Arial"/>
                <a:cs typeface="Arial"/>
                <a:sym typeface="Arial"/>
              </a:rPr>
              <a:t>:2022 / 192.168.0.1</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6AA84F"/>
                </a:solidFill>
                <a:latin typeface="Arial"/>
                <a:ea typeface="Arial"/>
                <a:cs typeface="Arial"/>
                <a:sym typeface="Arial"/>
              </a:rPr>
              <a:t>-&gt; T2: 192.168.0.2:22</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6AA84F"/>
                </a:solidFill>
                <a:latin typeface="Arial"/>
                <a:ea typeface="Arial"/>
                <a:cs typeface="Arial"/>
                <a:sym typeface="Arial"/>
              </a:rPr>
              <a:t>--&gt; T3: 192.168.0.3:2203</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6AA84F"/>
                </a:solidFill>
                <a:latin typeface="Arial"/>
                <a:ea typeface="Arial"/>
                <a:cs typeface="Arial"/>
                <a:sym typeface="Arial"/>
              </a:rPr>
              <a:t>--&gt; T4: 192.168.0.4:2204</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6AA84F"/>
                </a:solidFill>
                <a:latin typeface="Arial"/>
                <a:ea typeface="Arial"/>
                <a:cs typeface="Arial"/>
                <a:sym typeface="Arial"/>
              </a:rPr>
              <a:t>---&lt; T5: 192.168.0.5 (beacon to TCP 12345)</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Arial"/>
                <a:ea typeface="Arial"/>
                <a:cs typeface="Arial"/>
                <a:sym typeface="Arial"/>
              </a:rPr>
              <a:t>---&gt; T6: Suspected Mail Server</a:t>
            </a:r>
            <a:endParaRPr b="0" i="0" sz="16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rPr>
              <a:t>We think there’s a mail server in here, but we don’t know where. I could maybe try to poke each IP in this 10.10.0.4/24 on common mail ports, but that’s 254 IPs and let’s see, SMTP is 25, POP3 is 110, IMAP is 143, and then there’s secure versions of all of them (465, 995, and 993 respectively). Two hundred fifty-four IPs times six possible ports. That’s over 1500 individual tunnels I’d need to set up if I want to scan for it! If only there were a better way!</a:t>
            </a:r>
            <a:br>
              <a:rPr lang="en" sz="1600"/>
            </a:br>
            <a:br>
              <a:rPr lang="en" sz="1600"/>
            </a:br>
            <a:r>
              <a:rPr lang="en" sz="1600"/>
              <a:t>There is, through the magic of… Dynamic Tunnels!</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50"/>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418" name="Google Shape;418;p50"/>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50"/>
          <p:cNvSpPr/>
          <p:nvPr/>
        </p:nvSpPr>
        <p:spPr>
          <a:xfrm>
            <a:off x="2312675" y="1129625"/>
            <a:ext cx="1841400" cy="22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420" name="Google Shape;420;p50"/>
          <p:cNvSpPr/>
          <p:nvPr/>
        </p:nvSpPr>
        <p:spPr>
          <a:xfrm>
            <a:off x="2189325" y="1495475"/>
            <a:ext cx="3503400" cy="17511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3333:172.16.0.3:2203</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-L 4444:172.16.0.4:2204</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21" name="Google Shape;421;p50"/>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
        <p:nvSpPr>
          <p:cNvPr id="422" name="Google Shape;422;p50"/>
          <p:cNvSpPr/>
          <p:nvPr/>
        </p:nvSpPr>
        <p:spPr>
          <a:xfrm>
            <a:off x="2189325" y="1614800"/>
            <a:ext cx="4259400" cy="3648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lo:3333</a:t>
            </a:r>
            <a:endParaRPr sz="1000"/>
          </a:p>
        </p:txBody>
      </p:sp>
      <p:sp>
        <p:nvSpPr>
          <p:cNvPr id="423" name="Google Shape;423;p50"/>
          <p:cNvSpPr/>
          <p:nvPr/>
        </p:nvSpPr>
        <p:spPr>
          <a:xfrm>
            <a:off x="2189325" y="2464775"/>
            <a:ext cx="4259400" cy="364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lo:4444</a:t>
            </a:r>
            <a:endParaRPr sz="1000"/>
          </a:p>
        </p:txBody>
      </p:sp>
      <p:sp>
        <p:nvSpPr>
          <p:cNvPr id="424" name="Google Shape;424;p50"/>
          <p:cNvSpPr/>
          <p:nvPr/>
        </p:nvSpPr>
        <p:spPr>
          <a:xfrm>
            <a:off x="2081425" y="2695175"/>
            <a:ext cx="5123400" cy="4626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 10.10.0.4:12345:127.0.0.1:5555</a:t>
            </a:r>
            <a:endParaRPr sz="1000"/>
          </a:p>
          <a:p>
            <a:pPr indent="0" lvl="0" marL="0" rtl="0" algn="r">
              <a:spcBef>
                <a:spcPts val="0"/>
              </a:spcBef>
              <a:spcAft>
                <a:spcPts val="0"/>
              </a:spcAft>
              <a:buNone/>
            </a:pPr>
            <a:r>
              <a:rPr lang="en" sz="1000"/>
              <a:t>10.10.0.4:12345</a:t>
            </a:r>
            <a:endParaRPr sz="1000"/>
          </a:p>
          <a:p>
            <a:pPr indent="0" lvl="0" marL="0" rtl="0" algn="l">
              <a:spcBef>
                <a:spcPts val="0"/>
              </a:spcBef>
              <a:spcAft>
                <a:spcPts val="0"/>
              </a:spcAft>
              <a:buNone/>
            </a:pPr>
            <a:r>
              <a:t/>
            </a:r>
            <a:endParaRPr sz="1000"/>
          </a:p>
        </p:txBody>
      </p:sp>
      <p:sp>
        <p:nvSpPr>
          <p:cNvPr id="425" name="Google Shape;425;p50"/>
          <p:cNvSpPr/>
          <p:nvPr/>
        </p:nvSpPr>
        <p:spPr>
          <a:xfrm>
            <a:off x="7133750" y="2748525"/>
            <a:ext cx="9606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426" name="Google Shape;426;p50"/>
          <p:cNvSpPr txBox="1"/>
          <p:nvPr/>
        </p:nvSpPr>
        <p:spPr>
          <a:xfrm>
            <a:off x="1645575" y="2597325"/>
            <a:ext cx="587100" cy="4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nc -lp</a:t>
            </a:r>
            <a:endParaRPr sz="1000"/>
          </a:p>
          <a:p>
            <a:pPr indent="0" lvl="0" marL="0" rtl="0" algn="l">
              <a:spcBef>
                <a:spcPts val="0"/>
              </a:spcBef>
              <a:spcAft>
                <a:spcPts val="0"/>
              </a:spcAft>
              <a:buNone/>
            </a:pPr>
            <a:r>
              <a:rPr lang="en" sz="1000"/>
              <a:t>5555</a:t>
            </a:r>
            <a:endParaRPr sz="1000"/>
          </a:p>
        </p:txBody>
      </p:sp>
      <p:sp>
        <p:nvSpPr>
          <p:cNvPr id="427" name="Google Shape;427;p50"/>
          <p:cNvSpPr/>
          <p:nvPr/>
        </p:nvSpPr>
        <p:spPr>
          <a:xfrm>
            <a:off x="1993675" y="2770775"/>
            <a:ext cx="41262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428" name="Google Shape;428;p50"/>
          <p:cNvSpPr txBox="1"/>
          <p:nvPr/>
        </p:nvSpPr>
        <p:spPr>
          <a:xfrm>
            <a:off x="7934300" y="3477925"/>
            <a:ext cx="738300" cy="4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Where am I???</a:t>
            </a:r>
            <a:endParaRPr sz="1000"/>
          </a:p>
        </p:txBody>
      </p:sp>
      <p:sp>
        <p:nvSpPr>
          <p:cNvPr id="429" name="Google Shape;429;p50"/>
          <p:cNvSpPr txBox="1"/>
          <p:nvPr/>
        </p:nvSpPr>
        <p:spPr>
          <a:xfrm>
            <a:off x="1251950" y="3487875"/>
            <a:ext cx="72801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Oh my goodness, so many tunnels, why so many tunnels? Don’t make me do it!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1"/>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 Basic -D Syntax</a:t>
            </a:r>
            <a:endParaRPr b="0" i="0" sz="3000" u="none" cap="none" strike="noStrike">
              <a:solidFill>
                <a:schemeClr val="dk1"/>
              </a:solidFill>
              <a:latin typeface="Calibri"/>
              <a:ea typeface="Calibri"/>
              <a:cs typeface="Calibri"/>
              <a:sym typeface="Calibri"/>
            </a:endParaRPr>
          </a:p>
        </p:txBody>
      </p:sp>
      <p:sp>
        <p:nvSpPr>
          <p:cNvPr id="435" name="Google Shape;435;p51"/>
          <p:cNvSpPr txBox="1"/>
          <p:nvPr/>
        </p:nvSpPr>
        <p:spPr>
          <a:xfrm>
            <a:off x="932250" y="803675"/>
            <a:ext cx="7447500" cy="393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Dynamic tunnels are excellent for when you don’t have a specific IP and port in mind. They allow you to set up your local listener and provide the remote forwarding later as needed.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en"/>
              <a:t>ssh -S /tmp/T4 -p 4444 student@127.0.0.1 -O forward</a:t>
            </a:r>
            <a:r>
              <a:rPr lang="en" sz="1600">
                <a:solidFill>
                  <a:srgbClr val="980000"/>
                </a:solidFill>
                <a:latin typeface="Calibri"/>
                <a:ea typeface="Calibri"/>
                <a:cs typeface="Calibri"/>
                <a:sym typeface="Calibri"/>
              </a:rPr>
              <a:t> </a:t>
            </a:r>
            <a:r>
              <a:rPr b="0" i="0" lang="en" sz="1400" u="none" cap="none" strike="noStrike">
                <a:solidFill>
                  <a:srgbClr val="4A86E8"/>
                </a:solidFill>
                <a:latin typeface="Arial"/>
                <a:ea typeface="Arial"/>
                <a:cs typeface="Arial"/>
                <a:sym typeface="Arial"/>
              </a:rPr>
              <a:t>-</a:t>
            </a:r>
            <a:r>
              <a:rPr lang="en">
                <a:solidFill>
                  <a:srgbClr val="4A86E8"/>
                </a:solidFill>
              </a:rPr>
              <a:t>D</a:t>
            </a:r>
            <a:r>
              <a:rPr b="0" i="0" lang="en" sz="1400" u="none" cap="none" strike="noStrike">
                <a:solidFill>
                  <a:srgbClr val="4A86E8"/>
                </a:solidFill>
                <a:latin typeface="Arial"/>
                <a:ea typeface="Arial"/>
                <a:cs typeface="Arial"/>
                <a:sym typeface="Arial"/>
              </a:rPr>
              <a:t> </a:t>
            </a:r>
            <a:r>
              <a:rPr lang="en">
                <a:solidFill>
                  <a:srgbClr val="6AA84F"/>
                </a:solidFill>
              </a:rPr>
              <a:t>9050</a:t>
            </a:r>
            <a:endParaRPr b="0" i="0"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4A86E8"/>
              </a:buClr>
              <a:buSzPts val="1400"/>
              <a:buFont typeface="Arial"/>
              <a:buAutoNum type="arabicPeriod"/>
            </a:pPr>
            <a:r>
              <a:rPr lang="en">
                <a:solidFill>
                  <a:srgbClr val="4A86E8"/>
                </a:solidFill>
              </a:rPr>
              <a:t>We use -D to tell our local device, the host on which we are typing this command, that we want to open a listener on our loopback.</a:t>
            </a:r>
            <a:endParaRPr b="0" i="0" sz="1400" u="none" cap="none" strike="noStrike">
              <a:solidFill>
                <a:srgbClr val="4A86E8"/>
              </a:solidFill>
              <a:latin typeface="Arial"/>
              <a:ea typeface="Arial"/>
              <a:cs typeface="Arial"/>
              <a:sym typeface="Arial"/>
            </a:endParaRPr>
          </a:p>
          <a:p>
            <a:pPr indent="-317500" lvl="0" marL="457200" rtl="0" algn="l">
              <a:spcBef>
                <a:spcPts val="0"/>
              </a:spcBef>
              <a:spcAft>
                <a:spcPts val="0"/>
              </a:spcAft>
              <a:buClr>
                <a:srgbClr val="6AA84F"/>
              </a:buClr>
              <a:buSzPts val="1400"/>
              <a:buAutoNum type="arabicPeriod"/>
            </a:pPr>
            <a:r>
              <a:rPr lang="en">
                <a:solidFill>
                  <a:srgbClr val="6AA84F"/>
                </a:solidFill>
              </a:rPr>
              <a:t>The IP and port of our dynamic tunnel, opened up on our local device. The IP is going to be the loopback, so we can leave it off. The port can be anything we like, but we are going to use 9050 for reasons we’ll discuss in a minute.</a:t>
            </a:r>
            <a:endParaRPr b="0" i="0" sz="1400" u="none" cap="none" strike="noStrike">
              <a:solidFill>
                <a:srgbClr val="FF9900"/>
              </a:solidFill>
              <a:latin typeface="Arial"/>
              <a:ea typeface="Arial"/>
              <a:cs typeface="Arial"/>
              <a:sym typeface="Arial"/>
            </a:endParaRPr>
          </a:p>
          <a:p>
            <a:pPr indent="-317500" lvl="0" marL="457200" marR="0" rtl="0" algn="l">
              <a:lnSpc>
                <a:spcPct val="100000"/>
              </a:lnSpc>
              <a:spcBef>
                <a:spcPts val="0"/>
              </a:spcBef>
              <a:spcAft>
                <a:spcPts val="0"/>
              </a:spcAft>
              <a:buClr>
                <a:srgbClr val="FF0000"/>
              </a:buClr>
              <a:buSzPts val="1400"/>
              <a:buFont typeface="Arial"/>
              <a:buAutoNum type="arabicPeriod"/>
            </a:pPr>
            <a:r>
              <a:rPr lang="en">
                <a:solidFill>
                  <a:srgbClr val="FF0000"/>
                </a:solidFill>
              </a:rPr>
              <a:t>And the server IP and port, which T4 will push our packets to, is… missing. </a:t>
            </a:r>
            <a:endParaRPr b="0" i="0"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n"/>
              <a:t>Hold on, what gives? You said the syntax always had a direction, a listener IP and port, and a server IP and port. There’s no second half! You’re a liar!</a:t>
            </a:r>
            <a:br>
              <a:rPr lang="en"/>
            </a:br>
            <a:br>
              <a:rPr lang="en"/>
            </a:br>
            <a:r>
              <a:rPr lang="en"/>
              <a:t>Not quite. It isn’t that our tunnel doesn’t have a server IP and port. It’s that it doesn’t have one </a:t>
            </a:r>
            <a:r>
              <a:rPr i="1" lang="en"/>
              <a:t>yet</a:t>
            </a:r>
            <a:r>
              <a:rPr lang="en"/>
              <a:t>. Anything we point at 127.0.0.1:9050 will assign a server IP and port on a case by case basis.</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52"/>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441" name="Google Shape;441;p52"/>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52"/>
          <p:cNvSpPr/>
          <p:nvPr/>
        </p:nvSpPr>
        <p:spPr>
          <a:xfrm>
            <a:off x="2312675" y="1129625"/>
            <a:ext cx="1841400" cy="275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443" name="Google Shape;443;p52"/>
          <p:cNvSpPr/>
          <p:nvPr/>
        </p:nvSpPr>
        <p:spPr>
          <a:xfrm>
            <a:off x="2189325" y="1495475"/>
            <a:ext cx="3503400" cy="23115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3333:172.16.0.3:2203</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-L 4444:172.16.0.4:2204</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44" name="Google Shape;444;p52"/>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
        <p:nvSpPr>
          <p:cNvPr id="445" name="Google Shape;445;p52"/>
          <p:cNvSpPr/>
          <p:nvPr/>
        </p:nvSpPr>
        <p:spPr>
          <a:xfrm>
            <a:off x="2189325" y="1614800"/>
            <a:ext cx="4259400" cy="3648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lo:3333</a:t>
            </a:r>
            <a:endParaRPr sz="1000"/>
          </a:p>
        </p:txBody>
      </p:sp>
      <p:sp>
        <p:nvSpPr>
          <p:cNvPr id="446" name="Google Shape;446;p52"/>
          <p:cNvSpPr/>
          <p:nvPr/>
        </p:nvSpPr>
        <p:spPr>
          <a:xfrm>
            <a:off x="2189325" y="2464775"/>
            <a:ext cx="4259400" cy="364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lo:4444</a:t>
            </a:r>
            <a:endParaRPr sz="1000"/>
          </a:p>
        </p:txBody>
      </p:sp>
      <p:sp>
        <p:nvSpPr>
          <p:cNvPr id="447" name="Google Shape;447;p52"/>
          <p:cNvSpPr/>
          <p:nvPr/>
        </p:nvSpPr>
        <p:spPr>
          <a:xfrm>
            <a:off x="2081425" y="2695175"/>
            <a:ext cx="5123400" cy="1014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 10.10.0.4:12345:127.0.0.1:5555</a:t>
            </a:r>
            <a:endParaRPr sz="1000"/>
          </a:p>
          <a:p>
            <a:pPr indent="0" lvl="0" marL="0" rtl="0" algn="r">
              <a:spcBef>
                <a:spcPts val="0"/>
              </a:spcBef>
              <a:spcAft>
                <a:spcPts val="0"/>
              </a:spcAft>
              <a:buNone/>
            </a:pPr>
            <a:r>
              <a:rPr lang="en" sz="1000"/>
              <a:t>10.10.0.4:12345</a:t>
            </a:r>
            <a:endParaRPr sz="1000"/>
          </a:p>
          <a:p>
            <a:pPr indent="0" lvl="0" marL="0" rtl="0" algn="r">
              <a:spcBef>
                <a:spcPts val="0"/>
              </a:spcBef>
              <a:spcAft>
                <a:spcPts val="0"/>
              </a:spcAft>
              <a:buNone/>
            </a:pPr>
            <a:r>
              <a:t/>
            </a:r>
            <a:endParaRPr sz="1000"/>
          </a:p>
          <a:p>
            <a:pPr indent="0" lvl="0" marL="0" rtl="0" algn="r">
              <a:spcBef>
                <a:spcPts val="0"/>
              </a:spcBef>
              <a:spcAft>
                <a:spcPts val="0"/>
              </a:spcAft>
              <a:buNone/>
            </a:pPr>
            <a:r>
              <a:t/>
            </a:r>
            <a:endParaRPr sz="1000"/>
          </a:p>
          <a:p>
            <a:pPr indent="0" lvl="0" marL="0" rtl="0" algn="r">
              <a:spcBef>
                <a:spcPts val="0"/>
              </a:spcBef>
              <a:spcAft>
                <a:spcPts val="0"/>
              </a:spcAft>
              <a:buNone/>
            </a:pPr>
            <a:r>
              <a:t/>
            </a:r>
            <a:endParaRPr sz="1000"/>
          </a:p>
          <a:p>
            <a:pPr indent="0" lvl="0" marL="0" rtl="0" algn="r">
              <a:spcBef>
                <a:spcPts val="0"/>
              </a:spcBef>
              <a:spcAft>
                <a:spcPts val="0"/>
              </a:spcAft>
              <a:buNone/>
            </a:pPr>
            <a:r>
              <a:t/>
            </a:r>
            <a:endParaRPr sz="1000"/>
          </a:p>
          <a:p>
            <a:pPr indent="0" lvl="0" marL="0" rtl="0" algn="l">
              <a:spcBef>
                <a:spcPts val="0"/>
              </a:spcBef>
              <a:spcAft>
                <a:spcPts val="0"/>
              </a:spcAft>
              <a:buNone/>
            </a:pPr>
            <a:r>
              <a:t/>
            </a:r>
            <a:endParaRPr sz="1000"/>
          </a:p>
        </p:txBody>
      </p:sp>
      <p:sp>
        <p:nvSpPr>
          <p:cNvPr id="448" name="Google Shape;448;p52"/>
          <p:cNvSpPr/>
          <p:nvPr/>
        </p:nvSpPr>
        <p:spPr>
          <a:xfrm>
            <a:off x="7133750" y="2748525"/>
            <a:ext cx="9606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449" name="Google Shape;449;p52"/>
          <p:cNvSpPr txBox="1"/>
          <p:nvPr/>
        </p:nvSpPr>
        <p:spPr>
          <a:xfrm>
            <a:off x="1645575" y="2597325"/>
            <a:ext cx="587100" cy="4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nc -lp</a:t>
            </a:r>
            <a:endParaRPr sz="1000"/>
          </a:p>
          <a:p>
            <a:pPr indent="0" lvl="0" marL="0" rtl="0" algn="l">
              <a:spcBef>
                <a:spcPts val="0"/>
              </a:spcBef>
              <a:spcAft>
                <a:spcPts val="0"/>
              </a:spcAft>
              <a:buNone/>
            </a:pPr>
            <a:r>
              <a:rPr lang="en" sz="1000"/>
              <a:t>5555</a:t>
            </a:r>
            <a:endParaRPr sz="1000"/>
          </a:p>
        </p:txBody>
      </p:sp>
      <p:sp>
        <p:nvSpPr>
          <p:cNvPr id="450" name="Google Shape;450;p52"/>
          <p:cNvSpPr/>
          <p:nvPr/>
        </p:nvSpPr>
        <p:spPr>
          <a:xfrm>
            <a:off x="1993675" y="2770775"/>
            <a:ext cx="41262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451" name="Google Shape;451;p52"/>
          <p:cNvSpPr txBox="1"/>
          <p:nvPr/>
        </p:nvSpPr>
        <p:spPr>
          <a:xfrm>
            <a:off x="7934300" y="3477925"/>
            <a:ext cx="738300" cy="4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Where am I???</a:t>
            </a:r>
            <a:endParaRPr sz="1000"/>
          </a:p>
        </p:txBody>
      </p:sp>
      <p:sp>
        <p:nvSpPr>
          <p:cNvPr id="452" name="Google Shape;452;p52"/>
          <p:cNvSpPr/>
          <p:nvPr/>
        </p:nvSpPr>
        <p:spPr>
          <a:xfrm>
            <a:off x="1956875" y="3175500"/>
            <a:ext cx="5203500" cy="4269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-D 9050</a:t>
            </a:r>
            <a:endParaRPr>
              <a:solidFill>
                <a:schemeClr val="lt1"/>
              </a:solidFill>
            </a:endParaRPr>
          </a:p>
        </p:txBody>
      </p:sp>
      <p:sp>
        <p:nvSpPr>
          <p:cNvPr id="453" name="Google Shape;453;p52"/>
          <p:cNvSpPr/>
          <p:nvPr/>
        </p:nvSpPr>
        <p:spPr>
          <a:xfrm>
            <a:off x="7027000" y="3108750"/>
            <a:ext cx="587100" cy="560400"/>
          </a:xfrm>
          <a:prstGeom prst="quadArrow">
            <a:avLst>
              <a:gd fmla="val 22500" name="adj1"/>
              <a:gd fmla="val 22500" name="adj2"/>
              <a:gd fmla="val 22500" name="adj3"/>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3"/>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 Using Dynamic Tunnels</a:t>
            </a:r>
            <a:endParaRPr b="0" i="0" sz="3000" u="none" cap="none" strike="noStrike">
              <a:solidFill>
                <a:schemeClr val="dk1"/>
              </a:solidFill>
              <a:latin typeface="Calibri"/>
              <a:ea typeface="Calibri"/>
              <a:cs typeface="Calibri"/>
              <a:sym typeface="Calibri"/>
            </a:endParaRPr>
          </a:p>
        </p:txBody>
      </p:sp>
      <p:sp>
        <p:nvSpPr>
          <p:cNvPr id="459" name="Google Shape;459;p53"/>
          <p:cNvSpPr txBox="1"/>
          <p:nvPr/>
        </p:nvSpPr>
        <p:spPr>
          <a:xfrm>
            <a:off x="932250" y="803675"/>
            <a:ext cx="7447500" cy="393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Now that we have a </a:t>
            </a:r>
            <a:r>
              <a:rPr lang="en"/>
              <a:t>dynamic</a:t>
            </a:r>
            <a:r>
              <a:rPr lang="en"/>
              <a:t> tunnel listener on our local device, how do we specify the forwarder? If I try to send something through, how do I point it at the tunnel and also some random IP and port on the other side?</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The answer is: Proxychains!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We’ll talk more about Proxychains later, but for now, just know that it creates a mini proxy server of sorts on your local host. Any network command you run with proxychains will send packets as though they were executed on the remote end of our dynamic tunnel. As such, we want to use network command syntax as though we were executing on the remove device. And guess what? Proxychains, by default sends traffic to 127.0.0.1:9050.</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ctr">
              <a:lnSpc>
                <a:spcPct val="100000"/>
              </a:lnSpc>
              <a:spcBef>
                <a:spcPts val="0"/>
              </a:spcBef>
              <a:spcAft>
                <a:spcPts val="0"/>
              </a:spcAft>
              <a:buClr>
                <a:srgbClr val="000000"/>
              </a:buClr>
              <a:buSzPts val="1400"/>
              <a:buFont typeface="Arial"/>
              <a:buNone/>
            </a:pPr>
            <a:r>
              <a:rPr lang="en">
                <a:solidFill>
                  <a:srgbClr val="4A86E8"/>
                </a:solidFill>
              </a:rPr>
              <a:t>proxychains</a:t>
            </a:r>
            <a:r>
              <a:rPr lang="en"/>
              <a:t> </a:t>
            </a:r>
            <a:r>
              <a:rPr lang="en">
                <a:solidFill>
                  <a:schemeClr val="accent6"/>
                </a:solidFill>
              </a:rPr>
              <a:t>nmap -Pn -sT </a:t>
            </a:r>
            <a:r>
              <a:rPr lang="en">
                <a:solidFill>
                  <a:srgbClr val="FF0000"/>
                </a:solidFill>
              </a:rPr>
              <a:t>192.168.0.1/24 -p 25,110,143,465,993,995</a:t>
            </a:r>
            <a:endParaRPr b="0" i="0"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4A86E8"/>
              </a:buClr>
              <a:buSzPts val="1400"/>
              <a:buFont typeface="Arial"/>
              <a:buAutoNum type="arabicPeriod"/>
            </a:pPr>
            <a:r>
              <a:rPr lang="en">
                <a:solidFill>
                  <a:srgbClr val="4A86E8"/>
                </a:solidFill>
              </a:rPr>
              <a:t>Calling the proxychains, which will send what follows to 127.0.0.1:9050 by default.</a:t>
            </a:r>
            <a:endParaRPr b="0" i="0" sz="1400" u="none" cap="none" strike="noStrike">
              <a:solidFill>
                <a:srgbClr val="4A86E8"/>
              </a:solidFill>
              <a:latin typeface="Arial"/>
              <a:ea typeface="Arial"/>
              <a:cs typeface="Arial"/>
              <a:sym typeface="Arial"/>
            </a:endParaRPr>
          </a:p>
          <a:p>
            <a:pPr indent="-317500" lvl="0" marL="457200" marR="0" rtl="0" algn="l">
              <a:lnSpc>
                <a:spcPct val="100000"/>
              </a:lnSpc>
              <a:spcBef>
                <a:spcPts val="0"/>
              </a:spcBef>
              <a:spcAft>
                <a:spcPts val="0"/>
              </a:spcAft>
              <a:buClr>
                <a:srgbClr val="6AA84F"/>
              </a:buClr>
              <a:buSzPts val="1400"/>
              <a:buFont typeface="Arial"/>
              <a:buAutoNum type="arabicPeriod"/>
            </a:pPr>
            <a:r>
              <a:rPr lang="en">
                <a:solidFill>
                  <a:srgbClr val="6AA84F"/>
                </a:solidFill>
              </a:rPr>
              <a:t>The command we want to execute. In this case, an nmap scan (we’ll cover this later)</a:t>
            </a:r>
            <a:endParaRPr b="0" i="0" sz="1400" u="none" cap="none" strike="noStrike">
              <a:solidFill>
                <a:srgbClr val="FF9900"/>
              </a:solidFill>
              <a:latin typeface="Arial"/>
              <a:ea typeface="Arial"/>
              <a:cs typeface="Arial"/>
              <a:sym typeface="Arial"/>
            </a:endParaRPr>
          </a:p>
          <a:p>
            <a:pPr indent="-317500" lvl="0" marL="457200" marR="0" rtl="0" algn="l">
              <a:lnSpc>
                <a:spcPct val="100000"/>
              </a:lnSpc>
              <a:spcBef>
                <a:spcPts val="0"/>
              </a:spcBef>
              <a:spcAft>
                <a:spcPts val="0"/>
              </a:spcAft>
              <a:buClr>
                <a:srgbClr val="FF0000"/>
              </a:buClr>
              <a:buSzPts val="1400"/>
              <a:buFont typeface="Arial"/>
              <a:buAutoNum type="arabicPeriod"/>
            </a:pPr>
            <a:r>
              <a:rPr lang="en">
                <a:solidFill>
                  <a:srgbClr val="FF0000"/>
                </a:solidFill>
              </a:rPr>
              <a:t>And the server IP and ports, established on the fly as we scan, for T4 to send out.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pic>
        <p:nvPicPr>
          <p:cNvPr id="464" name="Google Shape;464;p54"/>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465" name="Google Shape;465;p54"/>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6" name="Google Shape;466;p54"/>
          <p:cNvSpPr/>
          <p:nvPr/>
        </p:nvSpPr>
        <p:spPr>
          <a:xfrm>
            <a:off x="2312675" y="1129625"/>
            <a:ext cx="1841400" cy="275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467" name="Google Shape;467;p54"/>
          <p:cNvSpPr/>
          <p:nvPr/>
        </p:nvSpPr>
        <p:spPr>
          <a:xfrm>
            <a:off x="2189325" y="1495475"/>
            <a:ext cx="3503400" cy="23115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3333:172.16.0.3:2203</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-L 4444:172.16.0.4:2204</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68" name="Google Shape;468;p54"/>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
        <p:nvSpPr>
          <p:cNvPr id="469" name="Google Shape;469;p54"/>
          <p:cNvSpPr/>
          <p:nvPr/>
        </p:nvSpPr>
        <p:spPr>
          <a:xfrm>
            <a:off x="2189325" y="1614800"/>
            <a:ext cx="4259400" cy="3648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lo:3333</a:t>
            </a:r>
            <a:endParaRPr sz="1000"/>
          </a:p>
        </p:txBody>
      </p:sp>
      <p:sp>
        <p:nvSpPr>
          <p:cNvPr id="470" name="Google Shape;470;p54"/>
          <p:cNvSpPr/>
          <p:nvPr/>
        </p:nvSpPr>
        <p:spPr>
          <a:xfrm>
            <a:off x="2189325" y="2464775"/>
            <a:ext cx="4259400" cy="364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lo:4444</a:t>
            </a:r>
            <a:endParaRPr sz="1000"/>
          </a:p>
        </p:txBody>
      </p:sp>
      <p:sp>
        <p:nvSpPr>
          <p:cNvPr id="471" name="Google Shape;471;p54"/>
          <p:cNvSpPr/>
          <p:nvPr/>
        </p:nvSpPr>
        <p:spPr>
          <a:xfrm>
            <a:off x="2081425" y="2695175"/>
            <a:ext cx="5123400" cy="1014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 10.10.0.4:12345:127.0.0.1:5555</a:t>
            </a:r>
            <a:endParaRPr sz="1000"/>
          </a:p>
          <a:p>
            <a:pPr indent="0" lvl="0" marL="0" rtl="0" algn="r">
              <a:spcBef>
                <a:spcPts val="0"/>
              </a:spcBef>
              <a:spcAft>
                <a:spcPts val="0"/>
              </a:spcAft>
              <a:buNone/>
            </a:pPr>
            <a:r>
              <a:rPr lang="en" sz="1000"/>
              <a:t>10.10.0.4:12345</a:t>
            </a:r>
            <a:endParaRPr sz="1000"/>
          </a:p>
          <a:p>
            <a:pPr indent="0" lvl="0" marL="0" rtl="0" algn="l">
              <a:spcBef>
                <a:spcPts val="0"/>
              </a:spcBef>
              <a:spcAft>
                <a:spcPts val="0"/>
              </a:spcAft>
              <a:buNone/>
            </a:pPr>
            <a:r>
              <a:rPr lang="en" sz="1000"/>
              <a:t>-D 9050</a:t>
            </a:r>
            <a:endParaRPr sz="1000"/>
          </a:p>
          <a:p>
            <a:pPr indent="0" lvl="0" marL="0" rtl="0" algn="r">
              <a:spcBef>
                <a:spcPts val="0"/>
              </a:spcBef>
              <a:spcAft>
                <a:spcPts val="0"/>
              </a:spcAft>
              <a:buNone/>
            </a:pPr>
            <a:r>
              <a:t/>
            </a:r>
            <a:endParaRPr sz="1000"/>
          </a:p>
          <a:p>
            <a:pPr indent="0" lvl="0" marL="0" rtl="0" algn="r">
              <a:spcBef>
                <a:spcPts val="0"/>
              </a:spcBef>
              <a:spcAft>
                <a:spcPts val="0"/>
              </a:spcAft>
              <a:buNone/>
            </a:pPr>
            <a:r>
              <a:t/>
            </a:r>
            <a:endParaRPr sz="1000"/>
          </a:p>
          <a:p>
            <a:pPr indent="0" lvl="0" marL="0" rtl="0" algn="r">
              <a:spcBef>
                <a:spcPts val="0"/>
              </a:spcBef>
              <a:spcAft>
                <a:spcPts val="0"/>
              </a:spcAft>
              <a:buNone/>
            </a:pPr>
            <a:r>
              <a:t/>
            </a:r>
            <a:endParaRPr sz="1000"/>
          </a:p>
          <a:p>
            <a:pPr indent="0" lvl="0" marL="0" rtl="0" algn="l">
              <a:spcBef>
                <a:spcPts val="0"/>
              </a:spcBef>
              <a:spcAft>
                <a:spcPts val="0"/>
              </a:spcAft>
              <a:buNone/>
            </a:pPr>
            <a:r>
              <a:t/>
            </a:r>
            <a:endParaRPr sz="1000"/>
          </a:p>
        </p:txBody>
      </p:sp>
      <p:sp>
        <p:nvSpPr>
          <p:cNvPr id="472" name="Google Shape;472;p54"/>
          <p:cNvSpPr/>
          <p:nvPr/>
        </p:nvSpPr>
        <p:spPr>
          <a:xfrm>
            <a:off x="7133750" y="2748525"/>
            <a:ext cx="9606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473" name="Google Shape;473;p54"/>
          <p:cNvSpPr txBox="1"/>
          <p:nvPr/>
        </p:nvSpPr>
        <p:spPr>
          <a:xfrm>
            <a:off x="1645575" y="2597325"/>
            <a:ext cx="587100" cy="4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nc -lp</a:t>
            </a:r>
            <a:endParaRPr sz="1000"/>
          </a:p>
          <a:p>
            <a:pPr indent="0" lvl="0" marL="0" rtl="0" algn="l">
              <a:spcBef>
                <a:spcPts val="0"/>
              </a:spcBef>
              <a:spcAft>
                <a:spcPts val="0"/>
              </a:spcAft>
              <a:buNone/>
            </a:pPr>
            <a:r>
              <a:rPr lang="en" sz="1000"/>
              <a:t>5555</a:t>
            </a:r>
            <a:endParaRPr sz="1000"/>
          </a:p>
        </p:txBody>
      </p:sp>
      <p:sp>
        <p:nvSpPr>
          <p:cNvPr id="474" name="Google Shape;474;p54"/>
          <p:cNvSpPr/>
          <p:nvPr/>
        </p:nvSpPr>
        <p:spPr>
          <a:xfrm>
            <a:off x="1993675" y="2770775"/>
            <a:ext cx="41262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475" name="Google Shape;475;p54"/>
          <p:cNvSpPr txBox="1"/>
          <p:nvPr/>
        </p:nvSpPr>
        <p:spPr>
          <a:xfrm>
            <a:off x="7934300" y="3477925"/>
            <a:ext cx="738300" cy="4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Where am I???</a:t>
            </a:r>
            <a:endParaRPr sz="1000"/>
          </a:p>
        </p:txBody>
      </p:sp>
      <p:sp>
        <p:nvSpPr>
          <p:cNvPr id="476" name="Google Shape;476;p54"/>
          <p:cNvSpPr/>
          <p:nvPr/>
        </p:nvSpPr>
        <p:spPr>
          <a:xfrm>
            <a:off x="1956875" y="3175500"/>
            <a:ext cx="5203500" cy="4269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-D 9050</a:t>
            </a:r>
            <a:endParaRPr>
              <a:solidFill>
                <a:schemeClr val="lt1"/>
              </a:solidFill>
            </a:endParaRPr>
          </a:p>
        </p:txBody>
      </p:sp>
      <p:sp>
        <p:nvSpPr>
          <p:cNvPr id="477" name="Google Shape;477;p54"/>
          <p:cNvSpPr/>
          <p:nvPr/>
        </p:nvSpPr>
        <p:spPr>
          <a:xfrm>
            <a:off x="7027000" y="3108750"/>
            <a:ext cx="587100" cy="560400"/>
          </a:xfrm>
          <a:prstGeom prst="quadArrow">
            <a:avLst>
              <a:gd fmla="val 22500" name="adj1"/>
              <a:gd fmla="val 22500" name="adj2"/>
              <a:gd fmla="val 22500" name="adj3"/>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54"/>
          <p:cNvSpPr/>
          <p:nvPr/>
        </p:nvSpPr>
        <p:spPr>
          <a:xfrm>
            <a:off x="613750" y="3175500"/>
            <a:ext cx="1380000" cy="569400"/>
          </a:xfrm>
          <a:prstGeom prst="rightArrow">
            <a:avLst>
              <a:gd fmla="val 50000" name="adj1"/>
              <a:gd fmla="val 50000" name="adj2"/>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proxychains</a:t>
            </a:r>
            <a:endParaRPr>
              <a:solidFill>
                <a:schemeClr val="lt1"/>
              </a:solidFill>
            </a:endParaRPr>
          </a:p>
        </p:txBody>
      </p:sp>
      <p:sp>
        <p:nvSpPr>
          <p:cNvPr id="479" name="Google Shape;479;p54"/>
          <p:cNvSpPr txBox="1"/>
          <p:nvPr/>
        </p:nvSpPr>
        <p:spPr>
          <a:xfrm>
            <a:off x="0" y="2695175"/>
            <a:ext cx="1904700" cy="5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nmap -Pn -sT </a:t>
            </a:r>
            <a:endParaRPr sz="1000"/>
          </a:p>
          <a:p>
            <a:pPr indent="0" lvl="0" marL="0" rtl="0" algn="l">
              <a:spcBef>
                <a:spcPts val="0"/>
              </a:spcBef>
              <a:spcAft>
                <a:spcPts val="0"/>
              </a:spcAft>
              <a:buNone/>
            </a:pPr>
            <a:r>
              <a:rPr lang="en" sz="1000"/>
              <a:t>10.10.0.0/24</a:t>
            </a:r>
            <a:endParaRPr sz="1000"/>
          </a:p>
          <a:p>
            <a:pPr indent="0" lvl="0" marL="0" rtl="0" algn="l">
              <a:spcBef>
                <a:spcPts val="0"/>
              </a:spcBef>
              <a:spcAft>
                <a:spcPts val="0"/>
              </a:spcAft>
              <a:buNone/>
            </a:pPr>
            <a:r>
              <a:rPr lang="en" sz="1000"/>
              <a:t>-p 25,110,143,465,993,995</a:t>
            </a:r>
            <a:endParaRPr sz="1000"/>
          </a:p>
        </p:txBody>
      </p:sp>
      <p:sp>
        <p:nvSpPr>
          <p:cNvPr id="480" name="Google Shape;480;p54"/>
          <p:cNvSpPr/>
          <p:nvPr/>
        </p:nvSpPr>
        <p:spPr>
          <a:xfrm>
            <a:off x="5995175" y="3314750"/>
            <a:ext cx="845100" cy="28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.12:993</a:t>
            </a:r>
            <a:endParaRPr sz="1000"/>
          </a:p>
        </p:txBody>
      </p:sp>
      <p:sp>
        <p:nvSpPr>
          <p:cNvPr id="481" name="Google Shape;481;p54"/>
          <p:cNvSpPr/>
          <p:nvPr/>
        </p:nvSpPr>
        <p:spPr>
          <a:xfrm>
            <a:off x="2908650" y="3175500"/>
            <a:ext cx="800400" cy="28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.99:110</a:t>
            </a:r>
            <a:endParaRPr sz="1000"/>
          </a:p>
        </p:txBody>
      </p:sp>
      <p:sp>
        <p:nvSpPr>
          <p:cNvPr id="482" name="Google Shape;482;p54"/>
          <p:cNvSpPr/>
          <p:nvPr/>
        </p:nvSpPr>
        <p:spPr>
          <a:xfrm rot="1321719">
            <a:off x="7213721" y="3564407"/>
            <a:ext cx="800650" cy="289631"/>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.213:25</a:t>
            </a:r>
            <a:endParaRPr sz="1000"/>
          </a:p>
        </p:txBody>
      </p:sp>
      <p:sp>
        <p:nvSpPr>
          <p:cNvPr id="483" name="Google Shape;483;p54"/>
          <p:cNvSpPr/>
          <p:nvPr/>
        </p:nvSpPr>
        <p:spPr>
          <a:xfrm rot="-1921689">
            <a:off x="7308080" y="3019927"/>
            <a:ext cx="800436" cy="289189"/>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.5:465</a:t>
            </a:r>
            <a:endParaRPr sz="1000"/>
          </a:p>
        </p:txBody>
      </p:sp>
      <p:sp>
        <p:nvSpPr>
          <p:cNvPr id="484" name="Google Shape;484;p54"/>
          <p:cNvSpPr/>
          <p:nvPr/>
        </p:nvSpPr>
        <p:spPr>
          <a:xfrm>
            <a:off x="0" y="3314750"/>
            <a:ext cx="800400" cy="28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.9:110</a:t>
            </a:r>
            <a:endParaRPr sz="1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5"/>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Modifying Existing Tunnels</a:t>
            </a:r>
            <a:endParaRPr b="0" i="0" sz="3000" u="none" cap="none" strike="noStrike">
              <a:solidFill>
                <a:schemeClr val="dk1"/>
              </a:solidFill>
              <a:latin typeface="Calibri"/>
              <a:ea typeface="Calibri"/>
              <a:cs typeface="Calibri"/>
              <a:sym typeface="Calibri"/>
            </a:endParaRPr>
          </a:p>
        </p:txBody>
      </p:sp>
      <p:sp>
        <p:nvSpPr>
          <p:cNvPr id="490" name="Google Shape;490;p55"/>
          <p:cNvSpPr txBox="1"/>
          <p:nvPr/>
        </p:nvSpPr>
        <p:spPr>
          <a:xfrm>
            <a:off x="537075" y="777375"/>
            <a:ext cx="7611900" cy="37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600"/>
              <a:buFont typeface="Arial"/>
              <a:buNone/>
            </a:pPr>
            <a:r>
              <a:rPr lang="en" sz="1600">
                <a:solidFill>
                  <a:srgbClr val="6AA84F"/>
                </a:solidFill>
              </a:rPr>
              <a:t>&gt; T1: 12.34.56.78:2022 / 192.168.0.1</a:t>
            </a:r>
            <a:endParaRPr sz="1600">
              <a:solidFill>
                <a:srgbClr val="6AA84F"/>
              </a:solidFill>
            </a:endParaRPr>
          </a:p>
          <a:p>
            <a:pPr indent="0" lvl="0" marL="0" rtl="0" algn="l">
              <a:spcBef>
                <a:spcPts val="0"/>
              </a:spcBef>
              <a:spcAft>
                <a:spcPts val="0"/>
              </a:spcAft>
              <a:buClr>
                <a:schemeClr val="dk1"/>
              </a:buClr>
              <a:buSzPts val="1600"/>
              <a:buFont typeface="Arial"/>
              <a:buNone/>
            </a:pPr>
            <a:r>
              <a:rPr lang="en" sz="1600">
                <a:solidFill>
                  <a:srgbClr val="6AA84F"/>
                </a:solidFill>
              </a:rPr>
              <a:t>-&gt; T2: 192.168.0.2:22 / 172.16.0.2</a:t>
            </a:r>
            <a:endParaRPr sz="1600">
              <a:solidFill>
                <a:srgbClr val="6AA84F"/>
              </a:solidFill>
            </a:endParaRPr>
          </a:p>
          <a:p>
            <a:pPr indent="0" lvl="0" marL="0" rtl="0" algn="l">
              <a:spcBef>
                <a:spcPts val="0"/>
              </a:spcBef>
              <a:spcAft>
                <a:spcPts val="0"/>
              </a:spcAft>
              <a:buClr>
                <a:schemeClr val="dk1"/>
              </a:buClr>
              <a:buSzPts val="1600"/>
              <a:buFont typeface="Arial"/>
              <a:buNone/>
            </a:pPr>
            <a:r>
              <a:rPr lang="en" sz="1600">
                <a:solidFill>
                  <a:srgbClr val="6AA84F"/>
                </a:solidFill>
              </a:rPr>
              <a:t>--&gt; T3: 172.16.0.3:2203</a:t>
            </a:r>
            <a:endParaRPr sz="1600">
              <a:solidFill>
                <a:srgbClr val="6AA84F"/>
              </a:solidFill>
            </a:endParaRPr>
          </a:p>
          <a:p>
            <a:pPr indent="0" lvl="0" marL="0" rtl="0" algn="l">
              <a:spcBef>
                <a:spcPts val="0"/>
              </a:spcBef>
              <a:spcAft>
                <a:spcPts val="0"/>
              </a:spcAft>
              <a:buClr>
                <a:schemeClr val="dk1"/>
              </a:buClr>
              <a:buSzPts val="1600"/>
              <a:buFont typeface="Arial"/>
              <a:buNone/>
            </a:pPr>
            <a:r>
              <a:rPr lang="en" sz="1600">
                <a:solidFill>
                  <a:srgbClr val="6AA84F"/>
                </a:solidFill>
              </a:rPr>
              <a:t>--&gt; T4: 172.16.0.4:2204 / 10.10.0.4</a:t>
            </a:r>
            <a:endParaRPr sz="1600">
              <a:solidFill>
                <a:srgbClr val="6AA84F"/>
              </a:solidFill>
            </a:endParaRPr>
          </a:p>
          <a:p>
            <a:pPr indent="0" lvl="0" marL="0" rtl="0" algn="l">
              <a:spcBef>
                <a:spcPts val="0"/>
              </a:spcBef>
              <a:spcAft>
                <a:spcPts val="0"/>
              </a:spcAft>
              <a:buClr>
                <a:schemeClr val="dk1"/>
              </a:buClr>
              <a:buSzPts val="1600"/>
              <a:buFont typeface="Arial"/>
              <a:buNone/>
            </a:pPr>
            <a:r>
              <a:rPr lang="en" sz="1600">
                <a:solidFill>
                  <a:srgbClr val="6AA84F"/>
                </a:solidFill>
              </a:rPr>
              <a:t>---&lt; T5: 10.10.0.5 (beacon to TCP 12345)</a:t>
            </a:r>
            <a:endParaRPr sz="1600">
              <a:solidFill>
                <a:srgbClr val="6AA84F"/>
              </a:solidFill>
            </a:endParaRPr>
          </a:p>
          <a:p>
            <a:pPr indent="0" lvl="0" marL="0" rtl="0" algn="l">
              <a:spcBef>
                <a:spcPts val="0"/>
              </a:spcBef>
              <a:spcAft>
                <a:spcPts val="0"/>
              </a:spcAft>
              <a:buClr>
                <a:schemeClr val="dk1"/>
              </a:buClr>
              <a:buSzPts val="1600"/>
              <a:buFont typeface="Arial"/>
              <a:buNone/>
            </a:pPr>
            <a:r>
              <a:rPr lang="en" sz="1600">
                <a:solidFill>
                  <a:srgbClr val="FF0000"/>
                </a:solidFill>
              </a:rPr>
              <a:t>---&gt; T6: 10.10.0.6:2206</a:t>
            </a:r>
            <a:endParaRPr sz="1600">
              <a:solidFill>
                <a:srgbClr val="6AA84F"/>
              </a:solidFil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Oh no! I don’t need these T3 and T5 connections, and I want to close them, but also </a:t>
            </a:r>
            <a:r>
              <a:rPr lang="en" sz="1600"/>
              <a:t>I’ve identified</a:t>
            </a:r>
            <a:r>
              <a:rPr b="0" i="0" lang="en" sz="1600" u="none" cap="none" strike="noStrike">
                <a:solidFill>
                  <a:srgbClr val="000000"/>
                </a:solidFill>
                <a:latin typeface="Arial"/>
                <a:ea typeface="Arial"/>
                <a:cs typeface="Arial"/>
                <a:sym typeface="Arial"/>
              </a:rPr>
              <a:t> the IP </a:t>
            </a:r>
            <a:r>
              <a:rPr lang="en" sz="1600">
                <a:solidFill>
                  <a:schemeClr val="dk1"/>
                </a:solidFill>
              </a:rPr>
              <a:t>10.10.0.6</a:t>
            </a:r>
            <a:r>
              <a:rPr b="0" i="0" lang="en" sz="1600" u="none" cap="none" strike="noStrike">
                <a:solidFill>
                  <a:srgbClr val="000000"/>
                </a:solidFill>
                <a:latin typeface="Arial"/>
                <a:ea typeface="Arial"/>
                <a:cs typeface="Arial"/>
                <a:sym typeface="Arial"/>
              </a:rPr>
              <a:t>:220</a:t>
            </a:r>
            <a:r>
              <a:rPr lang="en" sz="1600"/>
              <a:t>6</a:t>
            </a:r>
            <a:r>
              <a:rPr b="0" i="0" lang="en" sz="1600" u="none" cap="none" strike="noStrike">
                <a:solidFill>
                  <a:srgbClr val="000000"/>
                </a:solidFill>
                <a:latin typeface="Arial"/>
                <a:ea typeface="Arial"/>
                <a:cs typeface="Arial"/>
                <a:sym typeface="Arial"/>
              </a:rPr>
              <a:t> for T6 based on our scan results which connects from T4 so I can</a:t>
            </a:r>
            <a:r>
              <a:rPr lang="en" sz="1600"/>
              <a:t>’t close T3 and T5 without closing T2 and T4</a:t>
            </a:r>
            <a:r>
              <a:rPr b="0" i="0" lang="en" sz="1600" u="none" cap="none" strike="noStrike">
                <a:solidFill>
                  <a:srgbClr val="000000"/>
                </a:solidFill>
                <a:latin typeface="Arial"/>
                <a:ea typeface="Arial"/>
                <a:cs typeface="Arial"/>
                <a:sym typeface="Arial"/>
              </a:rPr>
              <a:t>! I want to connect, but I’ve already set up my tunnels for T3 and T5 and it’s bad to disconnect and reconnect because that’s making more logs and I n</a:t>
            </a:r>
            <a:r>
              <a:rPr lang="en" sz="1600"/>
              <a:t>eed to add a tunnel to T6 </a:t>
            </a:r>
            <a:r>
              <a:rPr b="0" i="0" lang="en" sz="1600" u="none" cap="none" strike="noStrike">
                <a:solidFill>
                  <a:srgbClr val="000000"/>
                </a:solidFill>
                <a:latin typeface="Arial"/>
                <a:ea typeface="Arial"/>
                <a:cs typeface="Arial"/>
                <a:sym typeface="Arial"/>
              </a:rPr>
              <a:t>and I’m in a panic and I don’t know what to do!</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Sounds like you need… -O forward and -O cancel!</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6"/>
          <p:cNvSpPr txBox="1"/>
          <p:nvPr/>
        </p:nvSpPr>
        <p:spPr>
          <a:xfrm>
            <a:off x="559650" y="1790700"/>
            <a:ext cx="7611900" cy="85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rgbClr val="000000"/>
                </a:solidFill>
                <a:latin typeface="Calibri"/>
                <a:ea typeface="Calibri"/>
                <a:cs typeface="Calibri"/>
                <a:sym typeface="Calibri"/>
              </a:rPr>
              <a:t>SSH’s Home - Where this ssh instance will be executed</a:t>
            </a:r>
            <a:endParaRPr b="0" i="0" sz="1600" u="none" cap="none" strike="noStrike">
              <a:solidFill>
                <a:srgbClr val="000000"/>
              </a:solidFill>
              <a:latin typeface="Calibri"/>
              <a:ea typeface="Calibri"/>
              <a:cs typeface="Calibri"/>
              <a:sym typeface="Calibri"/>
            </a:endParaRPr>
          </a:p>
          <a:p>
            <a:pPr indent="-330200" lvl="0" marL="457200" marR="0" rtl="0" algn="l">
              <a:lnSpc>
                <a:spcPct val="100000"/>
              </a:lnSpc>
              <a:spcBef>
                <a:spcPts val="0"/>
              </a:spcBef>
              <a:spcAft>
                <a:spcPts val="0"/>
              </a:spcAft>
              <a:buClr>
                <a:srgbClr val="9900FF"/>
              </a:buClr>
              <a:buSzPts val="1600"/>
              <a:buFont typeface="Calibri"/>
              <a:buAutoNum type="arabicPeriod"/>
            </a:pPr>
            <a:r>
              <a:rPr b="0" i="0" lang="en" sz="1600" u="none" cap="none" strike="noStrike">
                <a:solidFill>
                  <a:srgbClr val="9900FF"/>
                </a:solidFill>
                <a:latin typeface="Calibri"/>
                <a:ea typeface="Calibri"/>
                <a:cs typeface="Calibri"/>
                <a:sym typeface="Calibri"/>
              </a:rPr>
              <a:t>Calls ssh command binary to execute on the current host</a:t>
            </a:r>
            <a:endParaRPr b="0" i="0" sz="1600" u="none" cap="none" strike="noStrike">
              <a:solidFill>
                <a:srgbClr val="9900FF"/>
              </a:solidFill>
              <a:latin typeface="Calibri"/>
              <a:ea typeface="Calibri"/>
              <a:cs typeface="Calibri"/>
              <a:sym typeface="Calibri"/>
            </a:endParaRPr>
          </a:p>
          <a:p>
            <a:pPr indent="-330200" lvl="0" marL="457200" marR="0" rtl="0" algn="l">
              <a:lnSpc>
                <a:spcPct val="100000"/>
              </a:lnSpc>
              <a:spcBef>
                <a:spcPts val="0"/>
              </a:spcBef>
              <a:spcAft>
                <a:spcPts val="0"/>
              </a:spcAft>
              <a:buClr>
                <a:srgbClr val="FF00FF"/>
              </a:buClr>
              <a:buSzPts val="1600"/>
              <a:buFont typeface="Calibri"/>
              <a:buAutoNum type="arabicPeriod"/>
            </a:pPr>
            <a:r>
              <a:rPr b="0" i="0" lang="en" sz="1600" u="none" cap="none" strike="noStrike">
                <a:solidFill>
                  <a:srgbClr val="FF00FF"/>
                </a:solidFill>
                <a:latin typeface="Calibri"/>
                <a:ea typeface="Calibri"/>
                <a:cs typeface="Calibri"/>
                <a:sym typeface="Calibri"/>
              </a:rPr>
              <a:t>Multiplex Information - We want to modify the tunnel information on these sockets. </a:t>
            </a:r>
            <a:endParaRPr b="0" i="0" sz="1600" u="none" cap="none" strike="noStrike">
              <a:solidFill>
                <a:srgbClr val="FF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6"/>
              </a:solidFill>
              <a:latin typeface="Calibri"/>
              <a:ea typeface="Calibri"/>
              <a:cs typeface="Calibri"/>
              <a:sym typeface="Calibri"/>
            </a:endParaRPr>
          </a:p>
        </p:txBody>
      </p:sp>
      <p:sp>
        <p:nvSpPr>
          <p:cNvPr id="496" name="Google Shape;496;p56"/>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Modifying Existing Tunnels</a:t>
            </a:r>
            <a:endParaRPr b="0" i="0" sz="3000" u="none" cap="none" strike="noStrike">
              <a:solidFill>
                <a:schemeClr val="dk1"/>
              </a:solidFill>
              <a:latin typeface="Calibri"/>
              <a:ea typeface="Calibri"/>
              <a:cs typeface="Calibri"/>
              <a:sym typeface="Calibri"/>
            </a:endParaRPr>
          </a:p>
        </p:txBody>
      </p:sp>
      <p:sp>
        <p:nvSpPr>
          <p:cNvPr id="497" name="Google Shape;497;p56"/>
          <p:cNvSpPr txBox="1"/>
          <p:nvPr/>
        </p:nvSpPr>
        <p:spPr>
          <a:xfrm>
            <a:off x="547950" y="2541675"/>
            <a:ext cx="7611900" cy="76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Present Connection - Where we are pointing our connection attempt right now</a:t>
            </a:r>
            <a:endParaRPr b="0" i="0" sz="1400" u="none" cap="none" strike="noStrike">
              <a:solidFill>
                <a:srgbClr val="FF9900"/>
              </a:solidFill>
              <a:latin typeface="Calibri"/>
              <a:ea typeface="Calibri"/>
              <a:cs typeface="Calibri"/>
              <a:sym typeface="Calibri"/>
            </a:endParaRPr>
          </a:p>
          <a:p>
            <a:pPr indent="-317500" lvl="0" marL="457200" marR="0" rtl="0" algn="l">
              <a:lnSpc>
                <a:spcPct val="100000"/>
              </a:lnSpc>
              <a:spcBef>
                <a:spcPts val="0"/>
              </a:spcBef>
              <a:spcAft>
                <a:spcPts val="0"/>
              </a:spcAft>
              <a:buClr>
                <a:srgbClr val="FF0000"/>
              </a:buClr>
              <a:buSzPts val="1400"/>
              <a:buFont typeface="Calibri"/>
              <a:buAutoNum type="arabicPeriod"/>
            </a:pPr>
            <a:r>
              <a:rPr b="0" i="0" lang="en" sz="1400" u="none" cap="none" strike="noStrike">
                <a:solidFill>
                  <a:srgbClr val="FF0000"/>
                </a:solidFill>
                <a:latin typeface="Calibri"/>
                <a:ea typeface="Calibri"/>
                <a:cs typeface="Calibri"/>
                <a:sym typeface="Calibri"/>
              </a:rPr>
              <a:t>Username - Because it is referencing connection information stored in the socket file, we can put whatever we want here. This is just because basic ssh syntax demands SOMETHING here.</a:t>
            </a:r>
            <a:endParaRPr b="0" i="0" sz="1400" u="none" cap="none" strike="noStrike">
              <a:solidFill>
                <a:srgbClr val="000000"/>
              </a:solidFill>
              <a:latin typeface="Arial"/>
              <a:ea typeface="Arial"/>
              <a:cs typeface="Arial"/>
              <a:sym typeface="Arial"/>
            </a:endParaRPr>
          </a:p>
        </p:txBody>
      </p:sp>
      <p:sp>
        <p:nvSpPr>
          <p:cNvPr id="498" name="Google Shape;498;p56"/>
          <p:cNvSpPr txBox="1"/>
          <p:nvPr/>
        </p:nvSpPr>
        <p:spPr>
          <a:xfrm>
            <a:off x="547950" y="580450"/>
            <a:ext cx="7611900" cy="95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SSH command: </a:t>
            </a:r>
            <a:endParaRPr b="0" i="0" sz="1400" u="none" cap="none" strike="noStrike">
              <a:solidFill>
                <a:srgbClr val="000000"/>
              </a:solidFill>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lang="en">
                <a:solidFill>
                  <a:srgbClr val="9900FF"/>
                </a:solidFill>
                <a:latin typeface="Calibri"/>
                <a:ea typeface="Calibri"/>
                <a:cs typeface="Calibri"/>
                <a:sym typeface="Calibri"/>
              </a:rPr>
              <a:t>ssh</a:t>
            </a:r>
            <a:r>
              <a:rPr lang="en">
                <a:solidFill>
                  <a:srgbClr val="FF00FF"/>
                </a:solidFill>
                <a:latin typeface="Calibri"/>
                <a:ea typeface="Calibri"/>
                <a:cs typeface="Calibri"/>
                <a:sym typeface="Calibri"/>
              </a:rPr>
              <a:t> -S /tmp/T4 </a:t>
            </a:r>
            <a:r>
              <a:rPr lang="en">
                <a:solidFill>
                  <a:srgbClr val="FF0000"/>
                </a:solidFill>
                <a:latin typeface="Calibri"/>
                <a:ea typeface="Calibri"/>
                <a:cs typeface="Calibri"/>
                <a:sym typeface="Calibri"/>
              </a:rPr>
              <a:t>dummy</a:t>
            </a:r>
            <a:r>
              <a:rPr lang="en">
                <a:solidFill>
                  <a:srgbClr val="980000"/>
                </a:solidFill>
                <a:latin typeface="Calibri"/>
                <a:ea typeface="Calibri"/>
                <a:cs typeface="Calibri"/>
                <a:sym typeface="Calibri"/>
              </a:rPr>
              <a:t> </a:t>
            </a:r>
            <a:r>
              <a:rPr lang="en">
                <a:solidFill>
                  <a:srgbClr val="6AA84F"/>
                </a:solidFill>
                <a:latin typeface="Calibri"/>
                <a:ea typeface="Calibri"/>
                <a:cs typeface="Calibri"/>
                <a:sym typeface="Calibri"/>
              </a:rPr>
              <a:t>-O cancel </a:t>
            </a:r>
            <a:r>
              <a:rPr lang="en">
                <a:solidFill>
                  <a:srgbClr val="FF9900"/>
                </a:solidFill>
                <a:latin typeface="Calibri"/>
                <a:ea typeface="Calibri"/>
                <a:cs typeface="Calibri"/>
                <a:sym typeface="Calibri"/>
              </a:rPr>
              <a:t>-D 9050</a:t>
            </a:r>
            <a:endParaRPr>
              <a:solidFill>
                <a:srgbClr val="99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9900FF"/>
                </a:solidFill>
                <a:latin typeface="Calibri"/>
                <a:ea typeface="Calibri"/>
                <a:cs typeface="Calibri"/>
                <a:sym typeface="Calibri"/>
              </a:rPr>
              <a:t>ssh</a:t>
            </a:r>
            <a:r>
              <a:rPr b="0" i="0" lang="en" sz="1400" u="none" cap="none" strike="noStrike">
                <a:solidFill>
                  <a:srgbClr val="FF00FF"/>
                </a:solidFill>
                <a:latin typeface="Calibri"/>
                <a:ea typeface="Calibri"/>
                <a:cs typeface="Calibri"/>
                <a:sym typeface="Calibri"/>
              </a:rPr>
              <a:t> -S /tmp/T4 </a:t>
            </a:r>
            <a:r>
              <a:rPr b="0" i="0" lang="en" sz="1400" u="none" cap="none" strike="noStrike">
                <a:solidFill>
                  <a:srgbClr val="FF0000"/>
                </a:solidFill>
                <a:latin typeface="Calibri"/>
                <a:ea typeface="Calibri"/>
                <a:cs typeface="Calibri"/>
                <a:sym typeface="Calibri"/>
              </a:rPr>
              <a:t>dummy</a:t>
            </a:r>
            <a:r>
              <a:rPr b="0" i="0" lang="en" sz="1400" u="none" cap="none" strike="noStrike">
                <a:solidFill>
                  <a:srgbClr val="980000"/>
                </a:solidFill>
                <a:latin typeface="Calibri"/>
                <a:ea typeface="Calibri"/>
                <a:cs typeface="Calibri"/>
                <a:sym typeface="Calibri"/>
              </a:rPr>
              <a:t> </a:t>
            </a:r>
            <a:r>
              <a:rPr b="0" i="0" lang="en" sz="1400" u="none" cap="none" strike="noStrike">
                <a:solidFill>
                  <a:srgbClr val="6AA84F"/>
                </a:solidFill>
                <a:latin typeface="Calibri"/>
                <a:ea typeface="Calibri"/>
                <a:cs typeface="Calibri"/>
                <a:sym typeface="Calibri"/>
              </a:rPr>
              <a:t>-O cancel </a:t>
            </a:r>
            <a:r>
              <a:rPr b="0" i="0" lang="en" sz="1400" u="none" cap="none" strike="noStrike">
                <a:solidFill>
                  <a:srgbClr val="FF9900"/>
                </a:solidFill>
                <a:latin typeface="Calibri"/>
                <a:ea typeface="Calibri"/>
                <a:cs typeface="Calibri"/>
                <a:sym typeface="Calibri"/>
              </a:rPr>
              <a:t>-R12345:127.0.0.1:5555</a:t>
            </a:r>
            <a:endParaRPr b="0" i="0" sz="1400" u="none" cap="none" strike="noStrike">
              <a:solidFill>
                <a:srgbClr val="FF99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9900FF"/>
                </a:solidFill>
                <a:latin typeface="Calibri"/>
                <a:ea typeface="Calibri"/>
                <a:cs typeface="Calibri"/>
                <a:sym typeface="Calibri"/>
              </a:rPr>
              <a:t>ssh</a:t>
            </a:r>
            <a:r>
              <a:rPr b="0" i="0" lang="en" sz="1400" u="none" cap="none" strike="noStrike">
                <a:solidFill>
                  <a:srgbClr val="FF00FF"/>
                </a:solidFill>
                <a:latin typeface="Calibri"/>
                <a:ea typeface="Calibri"/>
                <a:cs typeface="Calibri"/>
                <a:sym typeface="Calibri"/>
              </a:rPr>
              <a:t> -S /tmp/T2 </a:t>
            </a:r>
            <a:r>
              <a:rPr b="0" i="0" lang="en" sz="1400" u="none" cap="none" strike="noStrike">
                <a:solidFill>
                  <a:srgbClr val="FF0000"/>
                </a:solidFill>
                <a:latin typeface="Calibri"/>
                <a:ea typeface="Calibri"/>
                <a:cs typeface="Calibri"/>
                <a:sym typeface="Calibri"/>
              </a:rPr>
              <a:t>dummy</a:t>
            </a:r>
            <a:r>
              <a:rPr b="0" i="0" lang="en" sz="1400" u="none" cap="none" strike="noStrike">
                <a:solidFill>
                  <a:srgbClr val="980000"/>
                </a:solidFill>
                <a:latin typeface="Calibri"/>
                <a:ea typeface="Calibri"/>
                <a:cs typeface="Calibri"/>
                <a:sym typeface="Calibri"/>
              </a:rPr>
              <a:t> </a:t>
            </a:r>
            <a:r>
              <a:rPr b="0" i="0" lang="en" sz="1400" u="none" cap="none" strike="noStrike">
                <a:solidFill>
                  <a:srgbClr val="6AA84F"/>
                </a:solidFill>
                <a:latin typeface="Calibri"/>
                <a:ea typeface="Calibri"/>
                <a:cs typeface="Calibri"/>
                <a:sym typeface="Calibri"/>
              </a:rPr>
              <a:t>-O cancel </a:t>
            </a:r>
            <a:r>
              <a:rPr b="0" i="0" lang="en" sz="1400" u="none" cap="none" strike="noStrike">
                <a:solidFill>
                  <a:srgbClr val="FF9900"/>
                </a:solidFill>
                <a:latin typeface="Calibri"/>
                <a:ea typeface="Calibri"/>
                <a:cs typeface="Calibri"/>
                <a:sym typeface="Calibri"/>
              </a:rPr>
              <a:t>-L3333:192.168.0.3:2203</a:t>
            </a:r>
            <a:endParaRPr b="0" i="0" sz="1400" u="none" cap="none" strike="noStrike">
              <a:solidFill>
                <a:srgbClr val="FF99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9900FF"/>
                </a:solidFill>
                <a:latin typeface="Calibri"/>
                <a:ea typeface="Calibri"/>
                <a:cs typeface="Calibri"/>
                <a:sym typeface="Calibri"/>
              </a:rPr>
              <a:t>ssh</a:t>
            </a:r>
            <a:r>
              <a:rPr b="0" i="0" lang="en" sz="1400" u="none" cap="none" strike="noStrike">
                <a:solidFill>
                  <a:srgbClr val="FF00FF"/>
                </a:solidFill>
                <a:latin typeface="Calibri"/>
                <a:ea typeface="Calibri"/>
                <a:cs typeface="Calibri"/>
                <a:sym typeface="Calibri"/>
              </a:rPr>
              <a:t> -S /tmp/T4 </a:t>
            </a:r>
            <a:r>
              <a:rPr b="0" i="0" lang="en" sz="1400" u="none" cap="none" strike="noStrike">
                <a:solidFill>
                  <a:srgbClr val="FF0000"/>
                </a:solidFill>
                <a:latin typeface="Calibri"/>
                <a:ea typeface="Calibri"/>
                <a:cs typeface="Calibri"/>
                <a:sym typeface="Calibri"/>
              </a:rPr>
              <a:t>dummy</a:t>
            </a:r>
            <a:r>
              <a:rPr b="0" i="0" lang="en" sz="1400" u="none" cap="none" strike="noStrike">
                <a:solidFill>
                  <a:srgbClr val="980000"/>
                </a:solidFill>
                <a:latin typeface="Calibri"/>
                <a:ea typeface="Calibri"/>
                <a:cs typeface="Calibri"/>
                <a:sym typeface="Calibri"/>
              </a:rPr>
              <a:t> </a:t>
            </a:r>
            <a:r>
              <a:rPr b="0" i="0" lang="en" sz="1400" u="none" cap="none" strike="noStrike">
                <a:solidFill>
                  <a:srgbClr val="6AA84F"/>
                </a:solidFill>
                <a:latin typeface="Calibri"/>
                <a:ea typeface="Calibri"/>
                <a:cs typeface="Calibri"/>
                <a:sym typeface="Calibri"/>
              </a:rPr>
              <a:t>-O forward </a:t>
            </a:r>
            <a:r>
              <a:rPr b="0" i="0" lang="en" sz="1400" u="none" cap="none" strike="noStrike">
                <a:solidFill>
                  <a:srgbClr val="FF9900"/>
                </a:solidFill>
                <a:latin typeface="Calibri"/>
                <a:ea typeface="Calibri"/>
                <a:cs typeface="Calibri"/>
                <a:sym typeface="Calibri"/>
              </a:rPr>
              <a:t>-L3333:192.168.0.6:2206</a:t>
            </a:r>
            <a:endParaRPr b="0" i="0" sz="1400" u="none" cap="none" strike="noStrike">
              <a:solidFill>
                <a:srgbClr val="FF9900"/>
              </a:solidFill>
              <a:latin typeface="Calibri"/>
              <a:ea typeface="Calibri"/>
              <a:cs typeface="Calibri"/>
              <a:sym typeface="Calibri"/>
            </a:endParaRPr>
          </a:p>
        </p:txBody>
      </p:sp>
      <p:sp>
        <p:nvSpPr>
          <p:cNvPr id="499" name="Google Shape;499;p56"/>
          <p:cNvSpPr txBox="1"/>
          <p:nvPr/>
        </p:nvSpPr>
        <p:spPr>
          <a:xfrm>
            <a:off x="559650" y="3309975"/>
            <a:ext cx="7611900" cy="76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Future Connection - Where are we going from here?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6AA84F"/>
              </a:buClr>
              <a:buSzPts val="1400"/>
              <a:buFont typeface="Arial"/>
              <a:buAutoNum type="arabicPeriod"/>
            </a:pPr>
            <a:r>
              <a:rPr b="0" i="0" lang="en" sz="1400" u="none" cap="none" strike="noStrike">
                <a:solidFill>
                  <a:srgbClr val="6AA84F"/>
                </a:solidFill>
                <a:latin typeface="Arial"/>
                <a:ea typeface="Arial"/>
                <a:cs typeface="Arial"/>
                <a:sym typeface="Arial"/>
              </a:rPr>
              <a:t>Options: start with -O and either “cancel” to close or “forward” to open a tunnel</a:t>
            </a:r>
            <a:endParaRPr b="0" i="0" sz="1400" u="none" cap="none" strike="noStrike">
              <a:solidFill>
                <a:srgbClr val="6AA84F"/>
              </a:solidFill>
              <a:latin typeface="Arial"/>
              <a:ea typeface="Arial"/>
              <a:cs typeface="Arial"/>
              <a:sym typeface="Arial"/>
            </a:endParaRPr>
          </a:p>
          <a:p>
            <a:pPr indent="-317500" lvl="0" marL="457200" marR="0" rtl="0" algn="l">
              <a:lnSpc>
                <a:spcPct val="100000"/>
              </a:lnSpc>
              <a:spcBef>
                <a:spcPts val="0"/>
              </a:spcBef>
              <a:spcAft>
                <a:spcPts val="0"/>
              </a:spcAft>
              <a:buClr>
                <a:srgbClr val="FF9900"/>
              </a:buClr>
              <a:buSzPts val="1400"/>
              <a:buFont typeface="Arial"/>
              <a:buAutoNum type="arabicPeriod"/>
            </a:pPr>
            <a:r>
              <a:rPr b="0" i="0" lang="en" sz="1400" u="none" cap="none" strike="noStrike">
                <a:solidFill>
                  <a:srgbClr val="FF9900"/>
                </a:solidFill>
                <a:latin typeface="Arial"/>
                <a:ea typeface="Arial"/>
                <a:cs typeface="Arial"/>
                <a:sym typeface="Arial"/>
              </a:rPr>
              <a:t>Tunnel syntax -  What tunnel do we want to create or remove?</a:t>
            </a:r>
            <a:endParaRPr b="0" i="0" sz="1400" u="none" cap="none" strike="noStrike">
              <a:solidFill>
                <a:srgbClr val="FF9900"/>
              </a:solidFill>
              <a:latin typeface="Arial"/>
              <a:ea typeface="Arial"/>
              <a:cs typeface="Arial"/>
              <a:sym typeface="Arial"/>
            </a:endParaRPr>
          </a:p>
        </p:txBody>
      </p:sp>
      <p:sp>
        <p:nvSpPr>
          <p:cNvPr id="500" name="Google Shape;500;p56"/>
          <p:cNvSpPr txBox="1"/>
          <p:nvPr/>
        </p:nvSpPr>
        <p:spPr>
          <a:xfrm>
            <a:off x="559650" y="4543550"/>
            <a:ext cx="7611900" cy="36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6"/>
          <p:cNvSpPr txBox="1"/>
          <p:nvPr/>
        </p:nvSpPr>
        <p:spPr>
          <a:xfrm>
            <a:off x="559650" y="4143175"/>
            <a:ext cx="8112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For the purposes of this class, all tunnels will be set-up as needed using the </a:t>
            </a:r>
            <a:r>
              <a:rPr b="0" i="0" lang="en" sz="1400" u="none" cap="none" strike="noStrike">
                <a:solidFill>
                  <a:srgbClr val="6AA84F"/>
                </a:solidFill>
                <a:latin typeface="Arial"/>
                <a:ea typeface="Arial"/>
                <a:cs typeface="Arial"/>
                <a:sym typeface="Arial"/>
              </a:rPr>
              <a:t>-O forward</a:t>
            </a:r>
            <a:r>
              <a:rPr b="0" i="0" lang="en" sz="1400" u="none" cap="none" strike="noStrike">
                <a:solidFill>
                  <a:srgbClr val="000000"/>
                </a:solidFill>
                <a:latin typeface="Arial"/>
                <a:ea typeface="Arial"/>
                <a:cs typeface="Arial"/>
                <a:sym typeface="Arial"/>
              </a:rPr>
              <a:t> option, and torn down when no longer needed using the </a:t>
            </a:r>
            <a:r>
              <a:rPr b="0" i="0" lang="en" sz="1400" u="none" cap="none" strike="noStrike">
                <a:solidFill>
                  <a:srgbClr val="6AA84F"/>
                </a:solidFill>
                <a:latin typeface="Arial"/>
                <a:ea typeface="Arial"/>
                <a:cs typeface="Arial"/>
                <a:sym typeface="Arial"/>
              </a:rPr>
              <a:t>-O cancel</a:t>
            </a:r>
            <a:r>
              <a:rPr b="0" i="0" lang="en" sz="1400" u="none" cap="none" strike="noStrike">
                <a:solidFill>
                  <a:srgbClr val="000000"/>
                </a:solidFill>
                <a:latin typeface="Arial"/>
                <a:ea typeface="Arial"/>
                <a:cs typeface="Arial"/>
                <a:sym typeface="Arial"/>
              </a:rPr>
              <a:t> option to prevent accidentally connecting </a:t>
            </a:r>
            <a:r>
              <a:rPr b="0" i="0" lang="en" sz="1400" u="none" cap="none" strike="noStrike">
                <a:solidFill>
                  <a:schemeClr val="dk1"/>
                </a:solidFill>
                <a:latin typeface="Arial"/>
                <a:ea typeface="Arial"/>
                <a:cs typeface="Arial"/>
                <a:sym typeface="Arial"/>
              </a:rPr>
              <a:t>[or receiving a connection] </a:t>
            </a:r>
            <a:r>
              <a:rPr b="0" i="0" lang="en" sz="1400" u="none" cap="none" strike="noStrike">
                <a:solidFill>
                  <a:srgbClr val="000000"/>
                </a:solidFill>
                <a:latin typeface="Arial"/>
                <a:ea typeface="Arial"/>
                <a:cs typeface="Arial"/>
                <a:sym typeface="Arial"/>
              </a:rPr>
              <a:t>before you are ready to connect.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57"/>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507" name="Google Shape;507;p57"/>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57"/>
          <p:cNvSpPr/>
          <p:nvPr/>
        </p:nvSpPr>
        <p:spPr>
          <a:xfrm>
            <a:off x="2312675" y="1129625"/>
            <a:ext cx="1841400" cy="275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509" name="Google Shape;509;p57"/>
          <p:cNvSpPr/>
          <p:nvPr/>
        </p:nvSpPr>
        <p:spPr>
          <a:xfrm>
            <a:off x="2189325" y="1495475"/>
            <a:ext cx="3503400" cy="23115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3333:172.16.0.3:2203</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-L 4444:172.16.0.4:2204</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510" name="Google Shape;510;p57"/>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lo:2222</a:t>
            </a:r>
            <a:endParaRPr sz="1000"/>
          </a:p>
        </p:txBody>
      </p:sp>
      <p:sp>
        <p:nvSpPr>
          <p:cNvPr id="511" name="Google Shape;511;p57"/>
          <p:cNvSpPr/>
          <p:nvPr/>
        </p:nvSpPr>
        <p:spPr>
          <a:xfrm>
            <a:off x="2189325" y="2464775"/>
            <a:ext cx="4259400" cy="364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lo:4444</a:t>
            </a:r>
            <a:endParaRPr sz="1000"/>
          </a:p>
        </p:txBody>
      </p:sp>
      <p:sp>
        <p:nvSpPr>
          <p:cNvPr id="512" name="Google Shape;512;p57"/>
          <p:cNvSpPr/>
          <p:nvPr/>
        </p:nvSpPr>
        <p:spPr>
          <a:xfrm>
            <a:off x="2081425" y="2695175"/>
            <a:ext cx="5123400" cy="1014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3333:10.10.0.6:2206</a:t>
            </a:r>
            <a:endParaRPr sz="1000"/>
          </a:p>
          <a:p>
            <a:pPr indent="0" lvl="0" marL="0" rtl="0" algn="r">
              <a:spcBef>
                <a:spcPts val="0"/>
              </a:spcBef>
              <a:spcAft>
                <a:spcPts val="0"/>
              </a:spcAft>
              <a:buNone/>
            </a:pPr>
            <a:r>
              <a:t/>
            </a:r>
            <a:endParaRPr sz="1000"/>
          </a:p>
          <a:p>
            <a:pPr indent="0" lvl="0" marL="0" rtl="0" algn="l">
              <a:spcBef>
                <a:spcPts val="0"/>
              </a:spcBef>
              <a:spcAft>
                <a:spcPts val="0"/>
              </a:spcAft>
              <a:buNone/>
            </a:pPr>
            <a:r>
              <a:t/>
            </a:r>
            <a:endParaRPr sz="1000"/>
          </a:p>
          <a:p>
            <a:pPr indent="0" lvl="0" marL="0" rtl="0" algn="r">
              <a:spcBef>
                <a:spcPts val="0"/>
              </a:spcBef>
              <a:spcAft>
                <a:spcPts val="0"/>
              </a:spcAft>
              <a:buNone/>
            </a:pPr>
            <a:r>
              <a:t/>
            </a:r>
            <a:endParaRPr sz="1000"/>
          </a:p>
          <a:p>
            <a:pPr indent="0" lvl="0" marL="0" rtl="0" algn="r">
              <a:spcBef>
                <a:spcPts val="0"/>
              </a:spcBef>
              <a:spcAft>
                <a:spcPts val="0"/>
              </a:spcAft>
              <a:buNone/>
            </a:pPr>
            <a:r>
              <a:t/>
            </a:r>
            <a:endParaRPr sz="1000"/>
          </a:p>
          <a:p>
            <a:pPr indent="0" lvl="0" marL="0" rtl="0" algn="r">
              <a:spcBef>
                <a:spcPts val="0"/>
              </a:spcBef>
              <a:spcAft>
                <a:spcPts val="0"/>
              </a:spcAft>
              <a:buNone/>
            </a:pPr>
            <a:r>
              <a:t/>
            </a:r>
            <a:endParaRPr sz="1000"/>
          </a:p>
          <a:p>
            <a:pPr indent="0" lvl="0" marL="0" rtl="0" algn="l">
              <a:spcBef>
                <a:spcPts val="0"/>
              </a:spcBef>
              <a:spcAft>
                <a:spcPts val="0"/>
              </a:spcAft>
              <a:buNone/>
            </a:pPr>
            <a:r>
              <a:t/>
            </a:r>
            <a:endParaRPr sz="1000"/>
          </a:p>
        </p:txBody>
      </p:sp>
      <p:sp>
        <p:nvSpPr>
          <p:cNvPr id="513" name="Google Shape;513;p57"/>
          <p:cNvSpPr/>
          <p:nvPr/>
        </p:nvSpPr>
        <p:spPr>
          <a:xfrm>
            <a:off x="6903350" y="2633850"/>
            <a:ext cx="474714" cy="540756"/>
          </a:xfrm>
          <a:prstGeom prst="irregularSeal1">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4" name="Google Shape;514;p57"/>
          <p:cNvSpPr/>
          <p:nvPr/>
        </p:nvSpPr>
        <p:spPr>
          <a:xfrm>
            <a:off x="7133750" y="2748525"/>
            <a:ext cx="9606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515" name="Google Shape;515;p57"/>
          <p:cNvSpPr txBox="1"/>
          <p:nvPr/>
        </p:nvSpPr>
        <p:spPr>
          <a:xfrm>
            <a:off x="7910225" y="3344100"/>
            <a:ext cx="738300" cy="3909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10.10.0.6</a:t>
            </a:r>
            <a:endParaRPr sz="1000"/>
          </a:p>
          <a:p>
            <a:pPr indent="0" lvl="0" marL="0" rtl="0" algn="l">
              <a:spcBef>
                <a:spcPts val="0"/>
              </a:spcBef>
              <a:spcAft>
                <a:spcPts val="0"/>
              </a:spcAft>
              <a:buNone/>
            </a:pPr>
            <a:r>
              <a:rPr lang="en" sz="1000"/>
              <a:t>&gt; 2205</a:t>
            </a:r>
            <a:endParaRPr sz="1000"/>
          </a:p>
        </p:txBody>
      </p:sp>
      <p:sp>
        <p:nvSpPr>
          <p:cNvPr id="516" name="Google Shape;516;p57"/>
          <p:cNvSpPr txBox="1"/>
          <p:nvPr/>
        </p:nvSpPr>
        <p:spPr>
          <a:xfrm>
            <a:off x="6448725" y="2633850"/>
            <a:ext cx="10263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t>Port Closed:</a:t>
            </a:r>
            <a:endParaRPr b="1" sz="1200"/>
          </a:p>
          <a:p>
            <a:pPr indent="0" lvl="0" marL="0" rtl="0" algn="l">
              <a:spcBef>
                <a:spcPts val="0"/>
              </a:spcBef>
              <a:spcAft>
                <a:spcPts val="0"/>
              </a:spcAft>
              <a:buNone/>
            </a:pPr>
            <a:r>
              <a:rPr b="1" lang="en" sz="1200"/>
              <a:t>RST!</a:t>
            </a:r>
            <a:endParaRPr b="1" sz="12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8"/>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Modifying Existing Tunnels</a:t>
            </a:r>
            <a:endParaRPr b="0" i="0" sz="3000" u="none" cap="none" strike="noStrike">
              <a:solidFill>
                <a:schemeClr val="dk1"/>
              </a:solidFill>
              <a:latin typeface="Calibri"/>
              <a:ea typeface="Calibri"/>
              <a:cs typeface="Calibri"/>
              <a:sym typeface="Calibri"/>
            </a:endParaRPr>
          </a:p>
        </p:txBody>
      </p:sp>
      <p:sp>
        <p:nvSpPr>
          <p:cNvPr id="522" name="Google Shape;522;p58"/>
          <p:cNvSpPr txBox="1"/>
          <p:nvPr/>
        </p:nvSpPr>
        <p:spPr>
          <a:xfrm>
            <a:off x="537075" y="777375"/>
            <a:ext cx="7611900" cy="373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6AA84F"/>
                </a:solidFill>
                <a:latin typeface="Arial"/>
                <a:ea typeface="Arial"/>
                <a:cs typeface="Arial"/>
                <a:sym typeface="Arial"/>
              </a:rPr>
              <a:t>&gt; T1: </a:t>
            </a:r>
            <a:r>
              <a:rPr lang="en" sz="1600">
                <a:solidFill>
                  <a:srgbClr val="6AA84F"/>
                </a:solidFill>
              </a:rPr>
              <a:t>12.34.56.78</a:t>
            </a:r>
            <a:r>
              <a:rPr b="0" i="0" lang="en" sz="1600" u="none" cap="none" strike="noStrike">
                <a:solidFill>
                  <a:srgbClr val="6AA84F"/>
                </a:solidFill>
                <a:latin typeface="Arial"/>
                <a:ea typeface="Arial"/>
                <a:cs typeface="Arial"/>
                <a:sym typeface="Arial"/>
              </a:rPr>
              <a:t>:2022 / 192.168.0.1</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6AA84F"/>
                </a:solidFill>
                <a:latin typeface="Arial"/>
                <a:ea typeface="Arial"/>
                <a:cs typeface="Arial"/>
                <a:sym typeface="Arial"/>
              </a:rPr>
              <a:t>-&gt; T2: </a:t>
            </a:r>
            <a:r>
              <a:rPr lang="en" sz="1600">
                <a:solidFill>
                  <a:srgbClr val="6AA84F"/>
                </a:solidFill>
              </a:rPr>
              <a:t>192.168.0.2:22 / 172.16.0.2</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sngStrike">
                <a:solidFill>
                  <a:srgbClr val="6AA84F"/>
                </a:solidFill>
                <a:latin typeface="Arial"/>
                <a:ea typeface="Arial"/>
                <a:cs typeface="Arial"/>
                <a:sym typeface="Arial"/>
              </a:rPr>
              <a:t>--&gt; T3: </a:t>
            </a:r>
            <a:r>
              <a:rPr lang="en" sz="1600" strike="sngStrike">
                <a:solidFill>
                  <a:srgbClr val="6AA84F"/>
                </a:solidFill>
              </a:rPr>
              <a:t>172.16.0.3</a:t>
            </a:r>
            <a:r>
              <a:rPr b="0" i="0" lang="en" sz="1600" u="none" cap="none" strike="sngStrike">
                <a:solidFill>
                  <a:srgbClr val="6AA84F"/>
                </a:solidFill>
                <a:latin typeface="Arial"/>
                <a:ea typeface="Arial"/>
                <a:cs typeface="Arial"/>
                <a:sym typeface="Arial"/>
              </a:rPr>
              <a:t>:2203</a:t>
            </a:r>
            <a:endParaRPr b="0" i="0" sz="1600" u="none" cap="none" strike="sng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6AA84F"/>
                </a:solidFill>
                <a:latin typeface="Arial"/>
                <a:ea typeface="Arial"/>
                <a:cs typeface="Arial"/>
                <a:sym typeface="Arial"/>
              </a:rPr>
              <a:t>--&gt; T4: </a:t>
            </a:r>
            <a:r>
              <a:rPr lang="en" sz="1600">
                <a:solidFill>
                  <a:srgbClr val="6AA84F"/>
                </a:solidFill>
              </a:rPr>
              <a:t>172.16.0.4</a:t>
            </a:r>
            <a:r>
              <a:rPr b="0" i="0" lang="en" sz="1600" u="none" cap="none" strike="noStrike">
                <a:solidFill>
                  <a:srgbClr val="6AA84F"/>
                </a:solidFill>
                <a:latin typeface="Arial"/>
                <a:ea typeface="Arial"/>
                <a:cs typeface="Arial"/>
                <a:sym typeface="Arial"/>
              </a:rPr>
              <a:t>:2204 / 10.10.0.4</a:t>
            </a:r>
            <a:endParaRPr b="0" i="0" sz="16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sngStrike">
                <a:solidFill>
                  <a:srgbClr val="6AA84F"/>
                </a:solidFill>
                <a:latin typeface="Arial"/>
                <a:ea typeface="Arial"/>
                <a:cs typeface="Arial"/>
                <a:sym typeface="Arial"/>
              </a:rPr>
              <a:t>---&lt; T5: </a:t>
            </a:r>
            <a:r>
              <a:rPr lang="en" sz="1600" strike="sngStrike">
                <a:solidFill>
                  <a:srgbClr val="6AA84F"/>
                </a:solidFill>
              </a:rPr>
              <a:t>10.10.0.5</a:t>
            </a:r>
            <a:r>
              <a:rPr b="0" i="0" lang="en" sz="1600" u="none" cap="none" strike="sngStrike">
                <a:solidFill>
                  <a:srgbClr val="6AA84F"/>
                </a:solidFill>
                <a:latin typeface="Arial"/>
                <a:ea typeface="Arial"/>
                <a:cs typeface="Arial"/>
                <a:sym typeface="Arial"/>
              </a:rPr>
              <a:t> (beacon to TCP 12345)</a:t>
            </a:r>
            <a:endParaRPr b="0" i="0" sz="1600" u="none" cap="none" strike="sng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Arial"/>
                <a:ea typeface="Arial"/>
                <a:cs typeface="Arial"/>
                <a:sym typeface="Arial"/>
              </a:rPr>
              <a:t>---&gt; T6: </a:t>
            </a:r>
            <a:r>
              <a:rPr lang="en" sz="1600">
                <a:solidFill>
                  <a:srgbClr val="FF0000"/>
                </a:solidFill>
              </a:rPr>
              <a:t>10.10.0.6:2206</a:t>
            </a:r>
            <a:endParaRPr b="0" i="0" sz="16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 sz="1600"/>
              <a:t>Sweet! My ss -tunap doesn’t show those 3333 or 9050 listeners anymore on my Ops box, and T4’s ss -tunap isn’t showing the 12345 listener anymore. And reduce, reuse, recycle, right? Now we have our ops box listening on 3333 ready to send stuff off to T6. </a:t>
            </a:r>
            <a:endParaRPr sz="1600"/>
          </a:p>
          <a:p>
            <a:pPr indent="0" lvl="0" marL="0" marR="0" rtl="0" algn="l">
              <a:lnSpc>
                <a:spcPct val="100000"/>
              </a:lnSpc>
              <a:spcBef>
                <a:spcPts val="0"/>
              </a:spcBef>
              <a:spcAft>
                <a:spcPts val="0"/>
              </a:spcAft>
              <a:buClr>
                <a:srgbClr val="000000"/>
              </a:buClr>
              <a:buSzPts val="1600"/>
              <a:buFont typeface="Arial"/>
              <a:buNone/>
            </a:pPr>
            <a:r>
              <a:t/>
            </a:r>
            <a:endParaRPr sz="1600"/>
          </a:p>
          <a:p>
            <a:pPr indent="0" lvl="0" marL="0" marR="0" rtl="0" algn="l">
              <a:lnSpc>
                <a:spcPct val="100000"/>
              </a:lnSpc>
              <a:spcBef>
                <a:spcPts val="0"/>
              </a:spcBef>
              <a:spcAft>
                <a:spcPts val="0"/>
              </a:spcAft>
              <a:buClr>
                <a:srgbClr val="000000"/>
              </a:buClr>
              <a:buSzPts val="1600"/>
              <a:buFont typeface="Arial"/>
              <a:buNone/>
            </a:pPr>
            <a:r>
              <a:rPr lang="en" sz="1600"/>
              <a:t>Life is good.</a:t>
            </a:r>
            <a:endParaRPr sz="16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59"/>
          <p:cNvPicPr preferRelativeResize="0"/>
          <p:nvPr/>
        </p:nvPicPr>
        <p:blipFill>
          <a:blip r:embed="rId3">
            <a:alphaModFix/>
          </a:blip>
          <a:stretch>
            <a:fillRect/>
          </a:stretch>
        </p:blipFill>
        <p:spPr>
          <a:xfrm>
            <a:off x="1379900" y="152400"/>
            <a:ext cx="7611699" cy="4677930"/>
          </a:xfrm>
          <a:prstGeom prst="rect">
            <a:avLst/>
          </a:prstGeom>
          <a:noFill/>
          <a:ln>
            <a:noFill/>
          </a:ln>
        </p:spPr>
      </p:pic>
      <p:sp>
        <p:nvSpPr>
          <p:cNvPr id="528" name="Google Shape;528;p59"/>
          <p:cNvSpPr/>
          <p:nvPr/>
        </p:nvSpPr>
        <p:spPr>
          <a:xfrm>
            <a:off x="2472775" y="889375"/>
            <a:ext cx="9606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59"/>
          <p:cNvSpPr/>
          <p:nvPr/>
        </p:nvSpPr>
        <p:spPr>
          <a:xfrm>
            <a:off x="2312675" y="1129625"/>
            <a:ext cx="1841400" cy="275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2222:192.168.0.2:22</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p:txBody>
      </p:sp>
      <p:sp>
        <p:nvSpPr>
          <p:cNvPr id="530" name="Google Shape;530;p59"/>
          <p:cNvSpPr/>
          <p:nvPr/>
        </p:nvSpPr>
        <p:spPr>
          <a:xfrm>
            <a:off x="2189325" y="1495475"/>
            <a:ext cx="3503400" cy="23115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 3333:172.16.0.3:2203</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-L 4444:172.16.0.4:2204</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 </a:t>
            </a:r>
            <a:r>
              <a:rPr lang="en"/>
              <a:t>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531" name="Google Shape;531;p59"/>
          <p:cNvSpPr/>
          <p:nvPr/>
        </p:nvSpPr>
        <p:spPr>
          <a:xfrm>
            <a:off x="2312675" y="1254175"/>
            <a:ext cx="2637300" cy="3648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ssh user@lo:2222</a:t>
            </a:r>
            <a:endParaRPr sz="1000"/>
          </a:p>
        </p:txBody>
      </p:sp>
      <p:sp>
        <p:nvSpPr>
          <p:cNvPr id="532" name="Google Shape;532;p59"/>
          <p:cNvSpPr/>
          <p:nvPr/>
        </p:nvSpPr>
        <p:spPr>
          <a:xfrm>
            <a:off x="2189325" y="2389350"/>
            <a:ext cx="4259400" cy="364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ssh user@lo:4444</a:t>
            </a:r>
            <a:endParaRPr sz="1000"/>
          </a:p>
        </p:txBody>
      </p:sp>
      <p:sp>
        <p:nvSpPr>
          <p:cNvPr id="533" name="Google Shape;533;p59"/>
          <p:cNvSpPr/>
          <p:nvPr/>
        </p:nvSpPr>
        <p:spPr>
          <a:xfrm>
            <a:off x="2081425" y="2695175"/>
            <a:ext cx="5123400" cy="1014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 10.10.0.4:12345:127.0.0.1:5555</a:t>
            </a:r>
            <a:endParaRPr sz="1000"/>
          </a:p>
          <a:p>
            <a:pPr indent="0" lvl="0" marL="0" rtl="0" algn="r">
              <a:spcBef>
                <a:spcPts val="0"/>
              </a:spcBef>
              <a:spcAft>
                <a:spcPts val="0"/>
              </a:spcAft>
              <a:buNone/>
            </a:pPr>
            <a:r>
              <a:rPr lang="en" sz="1000"/>
              <a:t>10.10.0.4:12345</a:t>
            </a:r>
            <a:endParaRPr sz="1000"/>
          </a:p>
          <a:p>
            <a:pPr indent="0" lvl="0" marL="0" rtl="0" algn="l">
              <a:spcBef>
                <a:spcPts val="0"/>
              </a:spcBef>
              <a:spcAft>
                <a:spcPts val="0"/>
              </a:spcAft>
              <a:buNone/>
            </a:pPr>
            <a:r>
              <a:t/>
            </a:r>
            <a:endParaRPr sz="1000"/>
          </a:p>
          <a:p>
            <a:pPr indent="0" lvl="0" marL="0" rtl="0" algn="r">
              <a:spcBef>
                <a:spcPts val="0"/>
              </a:spcBef>
              <a:spcAft>
                <a:spcPts val="0"/>
              </a:spcAft>
              <a:buNone/>
            </a:pPr>
            <a:r>
              <a:t/>
            </a:r>
            <a:endParaRPr sz="1000"/>
          </a:p>
          <a:p>
            <a:pPr indent="0" lvl="0" marL="0" rtl="0" algn="l">
              <a:spcBef>
                <a:spcPts val="0"/>
              </a:spcBef>
              <a:spcAft>
                <a:spcPts val="0"/>
              </a:spcAft>
              <a:buNone/>
            </a:pPr>
            <a:r>
              <a:rPr lang="en" sz="1000"/>
              <a:t>-L 6666:10.10.0.6:2206</a:t>
            </a:r>
            <a:endParaRPr sz="1000"/>
          </a:p>
          <a:p>
            <a:pPr indent="0" lvl="0" marL="0" rtl="0" algn="r">
              <a:spcBef>
                <a:spcPts val="0"/>
              </a:spcBef>
              <a:spcAft>
                <a:spcPts val="0"/>
              </a:spcAft>
              <a:buNone/>
            </a:pPr>
            <a:r>
              <a:t/>
            </a:r>
            <a:endParaRPr sz="1000"/>
          </a:p>
          <a:p>
            <a:pPr indent="0" lvl="0" marL="0" rtl="0" algn="l">
              <a:spcBef>
                <a:spcPts val="0"/>
              </a:spcBef>
              <a:spcAft>
                <a:spcPts val="0"/>
              </a:spcAft>
              <a:buNone/>
            </a:pPr>
            <a:r>
              <a:t/>
            </a:r>
            <a:endParaRPr sz="1000"/>
          </a:p>
        </p:txBody>
      </p:sp>
      <p:sp>
        <p:nvSpPr>
          <p:cNvPr id="534" name="Google Shape;534;p59"/>
          <p:cNvSpPr/>
          <p:nvPr/>
        </p:nvSpPr>
        <p:spPr>
          <a:xfrm>
            <a:off x="7133750" y="2748525"/>
            <a:ext cx="9606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535" name="Google Shape;535;p59"/>
          <p:cNvSpPr txBox="1"/>
          <p:nvPr/>
        </p:nvSpPr>
        <p:spPr>
          <a:xfrm>
            <a:off x="1645575" y="2597325"/>
            <a:ext cx="587100" cy="4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nc -lp</a:t>
            </a:r>
            <a:endParaRPr sz="1000"/>
          </a:p>
          <a:p>
            <a:pPr indent="0" lvl="0" marL="0" rtl="0" algn="l">
              <a:spcBef>
                <a:spcPts val="0"/>
              </a:spcBef>
              <a:spcAft>
                <a:spcPts val="0"/>
              </a:spcAft>
              <a:buNone/>
            </a:pPr>
            <a:r>
              <a:rPr lang="en" sz="1000"/>
              <a:t>5555</a:t>
            </a:r>
            <a:endParaRPr sz="1000"/>
          </a:p>
        </p:txBody>
      </p:sp>
      <p:sp>
        <p:nvSpPr>
          <p:cNvPr id="536" name="Google Shape;536;p59"/>
          <p:cNvSpPr/>
          <p:nvPr/>
        </p:nvSpPr>
        <p:spPr>
          <a:xfrm>
            <a:off x="1993675" y="2770775"/>
            <a:ext cx="4126200" cy="311400"/>
          </a:xfrm>
          <a:prstGeom prst="left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T4:12345</a:t>
            </a:r>
            <a:endParaRPr sz="1000"/>
          </a:p>
        </p:txBody>
      </p:sp>
      <p:sp>
        <p:nvSpPr>
          <p:cNvPr id="537" name="Google Shape;537;p59"/>
          <p:cNvSpPr txBox="1"/>
          <p:nvPr/>
        </p:nvSpPr>
        <p:spPr>
          <a:xfrm>
            <a:off x="7870225" y="3287725"/>
            <a:ext cx="901500" cy="5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highlight>
                  <a:srgbClr val="C9DAF8"/>
                </a:highlight>
              </a:rPr>
              <a:t>10.10.0.6</a:t>
            </a:r>
            <a:br>
              <a:rPr lang="en" sz="1200">
                <a:highlight>
                  <a:srgbClr val="C9DAF8"/>
                </a:highlight>
              </a:rPr>
            </a:br>
            <a:r>
              <a:rPr lang="en" sz="1200">
                <a:highlight>
                  <a:srgbClr val="C9DAF8"/>
                </a:highlight>
              </a:rPr>
              <a:t>&gt;2206</a:t>
            </a:r>
            <a:endParaRPr sz="1200">
              <a:highlight>
                <a:srgbClr val="C9DAF8"/>
              </a:highlight>
            </a:endParaRPr>
          </a:p>
        </p:txBody>
      </p:sp>
      <p:sp>
        <p:nvSpPr>
          <p:cNvPr id="538" name="Google Shape;538;p59"/>
          <p:cNvSpPr/>
          <p:nvPr/>
        </p:nvSpPr>
        <p:spPr>
          <a:xfrm>
            <a:off x="2081425" y="3364975"/>
            <a:ext cx="5788800" cy="364800"/>
          </a:xfrm>
          <a:prstGeom prst="righ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ssh user@lo:3333</a:t>
            </a:r>
            <a:endParaRPr sz="10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0"/>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Host Checking Revisited</a:t>
            </a:r>
            <a:endParaRPr b="0" i="0" sz="3000" u="none" cap="none" strike="noStrike">
              <a:solidFill>
                <a:schemeClr val="dk1"/>
              </a:solidFill>
              <a:latin typeface="Calibri"/>
              <a:ea typeface="Calibri"/>
              <a:cs typeface="Calibri"/>
              <a:sym typeface="Calibri"/>
            </a:endParaRPr>
          </a:p>
        </p:txBody>
      </p:sp>
      <p:sp>
        <p:nvSpPr>
          <p:cNvPr id="544" name="Google Shape;544;p60"/>
          <p:cNvSpPr txBox="1"/>
          <p:nvPr/>
        </p:nvSpPr>
        <p:spPr>
          <a:xfrm>
            <a:off x="537075" y="777375"/>
            <a:ext cx="6940500" cy="120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Now I can get to T6!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Arial"/>
                <a:ea typeface="Arial"/>
                <a:cs typeface="Arial"/>
                <a:sym typeface="Arial"/>
              </a:rPr>
              <a:t>ssh -M -S /tmp/T6 -p 3333 student@127.0.0.1</a:t>
            </a:r>
            <a:endParaRPr b="0" i="0" sz="16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And… Aww man. What’s this? This does NOT look good!</a:t>
            </a:r>
            <a:endParaRPr b="0" i="0" sz="1600" u="none" cap="none" strike="noStrike">
              <a:solidFill>
                <a:srgbClr val="000000"/>
              </a:solidFill>
              <a:latin typeface="Arial"/>
              <a:ea typeface="Arial"/>
              <a:cs typeface="Arial"/>
              <a:sym typeface="Arial"/>
            </a:endParaRPr>
          </a:p>
        </p:txBody>
      </p:sp>
      <p:pic>
        <p:nvPicPr>
          <p:cNvPr id="545" name="Google Shape;545;p60"/>
          <p:cNvPicPr preferRelativeResize="0"/>
          <p:nvPr/>
        </p:nvPicPr>
        <p:blipFill rotWithShape="1">
          <a:blip r:embed="rId3">
            <a:alphaModFix/>
          </a:blip>
          <a:srcRect b="0" l="0" r="0" t="0"/>
          <a:stretch/>
        </p:blipFill>
        <p:spPr>
          <a:xfrm>
            <a:off x="234163" y="1680800"/>
            <a:ext cx="8749874" cy="295246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1"/>
          <p:cNvSpPr txBox="1"/>
          <p:nvPr/>
        </p:nvSpPr>
        <p:spPr>
          <a:xfrm>
            <a:off x="125500" y="2109350"/>
            <a:ext cx="8722200" cy="281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9900FF"/>
                </a:solidFill>
                <a:latin typeface="Calibri"/>
                <a:ea typeface="Calibri"/>
                <a:cs typeface="Calibri"/>
                <a:sym typeface="Calibri"/>
              </a:rPr>
              <a:t>1      </a:t>
            </a:r>
            <a:r>
              <a:rPr b="0" i="0" lang="en" sz="1400" u="none" cap="none" strike="noStrike">
                <a:solidFill>
                  <a:srgbClr val="0000FF"/>
                </a:solidFill>
                <a:latin typeface="Calibri"/>
                <a:ea typeface="Calibri"/>
                <a:cs typeface="Calibri"/>
                <a:sym typeface="Calibri"/>
              </a:rPr>
              <a:t>2 </a:t>
            </a:r>
            <a:r>
              <a:rPr b="0" i="0" lang="en" sz="1400" u="none" cap="none" strike="noStrike">
                <a:solidFill>
                  <a:srgbClr val="9900FF"/>
                </a:solidFill>
                <a:latin typeface="Calibri"/>
                <a:ea typeface="Calibri"/>
                <a:cs typeface="Calibri"/>
                <a:sym typeface="Calibri"/>
              </a:rPr>
              <a:t>      </a:t>
            </a:r>
            <a:r>
              <a:rPr b="0" i="0" lang="en" sz="1400" u="none" cap="none" strike="noStrike">
                <a:solidFill>
                  <a:srgbClr val="4A86E8"/>
                </a:solidFill>
                <a:latin typeface="Calibri"/>
                <a:ea typeface="Calibri"/>
                <a:cs typeface="Calibri"/>
                <a:sym typeface="Calibri"/>
              </a:rPr>
              <a:t> 3   </a:t>
            </a:r>
            <a:r>
              <a:rPr b="0" i="0" lang="en" sz="1400" u="none" cap="none" strike="noStrike">
                <a:solidFill>
                  <a:srgbClr val="9900FF"/>
                </a:solidFill>
                <a:latin typeface="Calibri"/>
                <a:ea typeface="Calibri"/>
                <a:cs typeface="Calibri"/>
                <a:sym typeface="Calibri"/>
              </a:rPr>
              <a:t>           </a:t>
            </a:r>
            <a:r>
              <a:rPr b="0" i="0" lang="en" sz="1400" u="none" cap="none" strike="noStrike">
                <a:solidFill>
                  <a:schemeClr val="accent6"/>
                </a:solidFill>
                <a:latin typeface="Calibri"/>
                <a:ea typeface="Calibri"/>
                <a:cs typeface="Calibri"/>
                <a:sym typeface="Calibri"/>
              </a:rPr>
              <a:t> 4 </a:t>
            </a:r>
            <a:r>
              <a:rPr b="0" i="0" lang="en" sz="1400" u="none" cap="none" strike="noStrike">
                <a:solidFill>
                  <a:srgbClr val="9900FF"/>
                </a:solidFill>
                <a:latin typeface="Calibri"/>
                <a:ea typeface="Calibri"/>
                <a:cs typeface="Calibri"/>
                <a:sym typeface="Calibri"/>
              </a:rPr>
              <a:t>                                           </a:t>
            </a:r>
            <a:r>
              <a:rPr b="0" i="0" lang="en" sz="1400" u="none" cap="none" strike="noStrike">
                <a:solidFill>
                  <a:srgbClr val="FF9900"/>
                </a:solidFill>
                <a:latin typeface="Calibri"/>
                <a:ea typeface="Calibri"/>
                <a:cs typeface="Calibri"/>
                <a:sym typeface="Calibri"/>
              </a:rPr>
              <a:t>   5      </a:t>
            </a:r>
            <a:r>
              <a:rPr b="0" i="0" lang="en" sz="1400" u="none" cap="none" strike="noStrike">
                <a:solidFill>
                  <a:srgbClr val="9900FF"/>
                </a:solidFill>
                <a:latin typeface="Calibri"/>
                <a:ea typeface="Calibri"/>
                <a:cs typeface="Calibri"/>
                <a:sym typeface="Calibri"/>
              </a:rPr>
              <a:t>                                                                        </a:t>
            </a:r>
            <a:r>
              <a:rPr b="0" i="0" lang="en" sz="1400" u="none" cap="none" strike="noStrike">
                <a:solidFill>
                  <a:srgbClr val="FF0000"/>
                </a:solidFill>
                <a:latin typeface="Calibri"/>
                <a:ea typeface="Calibri"/>
                <a:cs typeface="Calibri"/>
                <a:sym typeface="Calibri"/>
              </a:rPr>
              <a:t>6 </a:t>
            </a:r>
            <a:r>
              <a:rPr b="0" i="0" lang="en" sz="1400" u="none" cap="none" strike="noStrike">
                <a:solidFill>
                  <a:srgbClr val="9900FF"/>
                </a:solidFill>
                <a:latin typeface="Calibri"/>
                <a:ea typeface="Calibri"/>
                <a:cs typeface="Calibri"/>
                <a:sym typeface="Calibri"/>
              </a:rPr>
              <a:t>        </a:t>
            </a:r>
            <a:r>
              <a:rPr b="0" i="0" lang="en" sz="1400" u="none" cap="none" strike="noStrike">
                <a:solidFill>
                  <a:srgbClr val="980000"/>
                </a:solidFill>
                <a:latin typeface="Calibri"/>
                <a:ea typeface="Calibri"/>
                <a:cs typeface="Calibri"/>
                <a:sym typeface="Calibri"/>
              </a:rPr>
              <a:t> 7</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9900FF"/>
                </a:solidFill>
                <a:latin typeface="Calibri"/>
                <a:ea typeface="Calibri"/>
                <a:cs typeface="Calibri"/>
                <a:sym typeface="Calibri"/>
              </a:rPr>
              <a:t>ssh</a:t>
            </a:r>
            <a:r>
              <a:rPr b="0" i="0" lang="en" sz="1400" u="none" cap="none" strike="noStrike">
                <a:solidFill>
                  <a:schemeClr val="dk1"/>
                </a:solidFill>
                <a:latin typeface="Calibri"/>
                <a:ea typeface="Calibri"/>
                <a:cs typeface="Calibri"/>
                <a:sym typeface="Calibri"/>
              </a:rPr>
              <a:t> </a:t>
            </a:r>
            <a:r>
              <a:rPr b="0" i="0" lang="en" sz="1400" u="none" cap="none" strike="noStrike">
                <a:solidFill>
                  <a:srgbClr val="0000FF"/>
                </a:solidFill>
                <a:latin typeface="Calibri"/>
                <a:ea typeface="Calibri"/>
                <a:cs typeface="Calibri"/>
                <a:sym typeface="Calibri"/>
              </a:rPr>
              <a:t>-M</a:t>
            </a:r>
            <a:r>
              <a:rPr b="0" i="0" lang="en" sz="1400" u="none" cap="none" strike="noStrike">
                <a:solidFill>
                  <a:schemeClr val="dk1"/>
                </a:solidFill>
                <a:latin typeface="Calibri"/>
                <a:ea typeface="Calibri"/>
                <a:cs typeface="Calibri"/>
                <a:sym typeface="Calibri"/>
              </a:rPr>
              <a:t> </a:t>
            </a:r>
            <a:r>
              <a:rPr b="0" i="0" lang="en" sz="1400" u="none" cap="none" strike="noStrike">
                <a:solidFill>
                  <a:srgbClr val="4A86E8"/>
                </a:solidFill>
                <a:latin typeface="Calibri"/>
                <a:ea typeface="Calibri"/>
                <a:cs typeface="Calibri"/>
                <a:sym typeface="Calibri"/>
              </a:rPr>
              <a:t>-S /tmp/T6</a:t>
            </a:r>
            <a:r>
              <a:rPr b="0" i="0" lang="en" sz="1400" u="none" cap="none" strike="noStrike">
                <a:solidFill>
                  <a:schemeClr val="dk1"/>
                </a:solidFill>
                <a:latin typeface="Calibri"/>
                <a:ea typeface="Calibri"/>
                <a:cs typeface="Calibri"/>
                <a:sym typeface="Calibri"/>
              </a:rPr>
              <a:t> </a:t>
            </a:r>
            <a:r>
              <a:rPr b="0" i="0" lang="en" sz="1400" u="none" cap="none" strike="noStrike">
                <a:solidFill>
                  <a:schemeClr val="accent6"/>
                </a:solidFill>
                <a:latin typeface="Calibri"/>
                <a:ea typeface="Calibri"/>
                <a:cs typeface="Calibri"/>
                <a:sym typeface="Calibri"/>
              </a:rPr>
              <a:t>-p 3333</a:t>
            </a:r>
            <a:r>
              <a:rPr b="0" i="0" lang="en" sz="1400" u="none" cap="none" strike="noStrike">
                <a:solidFill>
                  <a:schemeClr val="dk1"/>
                </a:solidFill>
                <a:latin typeface="Calibri"/>
                <a:ea typeface="Calibri"/>
                <a:cs typeface="Calibri"/>
                <a:sym typeface="Calibri"/>
              </a:rPr>
              <a:t> </a:t>
            </a:r>
            <a:r>
              <a:rPr b="0" i="0" lang="en" sz="1400" u="none" cap="none" strike="noStrike">
                <a:solidFill>
                  <a:srgbClr val="FF9900"/>
                </a:solidFill>
                <a:latin typeface="Calibri"/>
                <a:ea typeface="Calibri"/>
                <a:cs typeface="Calibri"/>
                <a:sym typeface="Calibri"/>
              </a:rPr>
              <a:t>-o StrictHostKeyChecking=no -o UserKnownHostsFile=/dev/null</a:t>
            </a:r>
            <a:r>
              <a:rPr b="0" i="0" lang="en" sz="1400" u="none" cap="none" strike="noStrike">
                <a:solidFill>
                  <a:schemeClr val="dk1"/>
                </a:solidFill>
                <a:latin typeface="Calibri"/>
                <a:ea typeface="Calibri"/>
                <a:cs typeface="Calibri"/>
                <a:sym typeface="Calibri"/>
              </a:rPr>
              <a:t> </a:t>
            </a:r>
            <a:r>
              <a:rPr b="0" i="0" lang="en" sz="1400" u="none" cap="none" strike="noStrike">
                <a:solidFill>
                  <a:srgbClr val="FF0000"/>
                </a:solidFill>
                <a:latin typeface="Calibri"/>
                <a:ea typeface="Calibri"/>
                <a:cs typeface="Calibri"/>
                <a:sym typeface="Calibri"/>
              </a:rPr>
              <a:t>student</a:t>
            </a:r>
            <a:r>
              <a:rPr b="0" i="0" lang="en" sz="1400" u="none" cap="none" strike="noStrike">
                <a:solidFill>
                  <a:srgbClr val="980000"/>
                </a:solidFill>
                <a:latin typeface="Calibri"/>
                <a:ea typeface="Calibri"/>
                <a:cs typeface="Calibri"/>
                <a:sym typeface="Calibri"/>
              </a:rPr>
              <a:t>@127.0.0.1</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9900FF"/>
              </a:buClr>
              <a:buSzPts val="1400"/>
              <a:buFont typeface="Calibri"/>
              <a:buAutoNum type="arabicPeriod"/>
            </a:pPr>
            <a:r>
              <a:rPr b="0" i="0" lang="en" sz="1400" u="none" cap="none" strike="noStrike">
                <a:solidFill>
                  <a:srgbClr val="9900FF"/>
                </a:solidFill>
                <a:latin typeface="Calibri"/>
                <a:ea typeface="Calibri"/>
                <a:cs typeface="Calibri"/>
                <a:sym typeface="Calibri"/>
              </a:rPr>
              <a:t>Calls ssh command binary</a:t>
            </a:r>
            <a:endParaRPr b="0" i="0" sz="1400" u="none" cap="none" strike="noStrike">
              <a:solidFill>
                <a:srgbClr val="9900FF"/>
              </a:solidFill>
              <a:latin typeface="Calibri"/>
              <a:ea typeface="Calibri"/>
              <a:cs typeface="Calibri"/>
              <a:sym typeface="Calibri"/>
            </a:endParaRPr>
          </a:p>
          <a:p>
            <a:pPr indent="-317500" lvl="0" marL="457200" marR="0" rtl="0" algn="l">
              <a:lnSpc>
                <a:spcPct val="100000"/>
              </a:lnSpc>
              <a:spcBef>
                <a:spcPts val="0"/>
              </a:spcBef>
              <a:spcAft>
                <a:spcPts val="0"/>
              </a:spcAft>
              <a:buClr>
                <a:srgbClr val="0000FF"/>
              </a:buClr>
              <a:buSzPts val="1400"/>
              <a:buFont typeface="Calibri"/>
              <a:buAutoNum type="arabicPeriod"/>
            </a:pPr>
            <a:r>
              <a:rPr b="0" i="0" lang="en" sz="1400" u="none" cap="none" strike="noStrike">
                <a:solidFill>
                  <a:srgbClr val="0000FF"/>
                </a:solidFill>
                <a:latin typeface="Calibri"/>
                <a:ea typeface="Calibri"/>
                <a:cs typeface="Calibri"/>
                <a:sym typeface="Calibri"/>
              </a:rPr>
              <a:t>Creates the Master Control Socket {not used when using a secondary socket}</a:t>
            </a:r>
            <a:endParaRPr b="0" i="0" sz="1400" u="none" cap="none" strike="noStrike">
              <a:solidFill>
                <a:srgbClr val="0000FF"/>
              </a:solidFill>
              <a:latin typeface="Calibri"/>
              <a:ea typeface="Calibri"/>
              <a:cs typeface="Calibri"/>
              <a:sym typeface="Calibri"/>
            </a:endParaRPr>
          </a:p>
          <a:p>
            <a:pPr indent="-317500" lvl="0" marL="457200" marR="0" rtl="0" algn="l">
              <a:lnSpc>
                <a:spcPct val="100000"/>
              </a:lnSpc>
              <a:spcBef>
                <a:spcPts val="0"/>
              </a:spcBef>
              <a:spcAft>
                <a:spcPts val="0"/>
              </a:spcAft>
              <a:buClr>
                <a:srgbClr val="4A86E8"/>
              </a:buClr>
              <a:buSzPts val="1400"/>
              <a:buFont typeface="Calibri"/>
              <a:buAutoNum type="arabicPeriod"/>
            </a:pPr>
            <a:r>
              <a:rPr b="0" i="0" lang="en" sz="1400" u="none" cap="none" strike="noStrike">
                <a:solidFill>
                  <a:srgbClr val="4A86E8"/>
                </a:solidFill>
                <a:latin typeface="Calibri"/>
                <a:ea typeface="Calibri"/>
                <a:cs typeface="Calibri"/>
                <a:sym typeface="Calibri"/>
              </a:rPr>
              <a:t>Declares where socket information is stored for Secondary socket use</a:t>
            </a:r>
            <a:endParaRPr b="0" i="0" sz="1400" u="none" cap="none" strike="noStrike">
              <a:solidFill>
                <a:srgbClr val="4A86E8"/>
              </a:solidFill>
              <a:latin typeface="Calibri"/>
              <a:ea typeface="Calibri"/>
              <a:cs typeface="Calibri"/>
              <a:sym typeface="Calibri"/>
            </a:endParaRPr>
          </a:p>
          <a:p>
            <a:pPr indent="-317500" lvl="0" marL="457200" marR="0" rtl="0" algn="l">
              <a:lnSpc>
                <a:spcPct val="100000"/>
              </a:lnSpc>
              <a:spcBef>
                <a:spcPts val="0"/>
              </a:spcBef>
              <a:spcAft>
                <a:spcPts val="0"/>
              </a:spcAft>
              <a:buClr>
                <a:schemeClr val="accent6"/>
              </a:buClr>
              <a:buSzPts val="1400"/>
              <a:buFont typeface="Calibri"/>
              <a:buAutoNum type="arabicPeriod"/>
            </a:pPr>
            <a:r>
              <a:rPr b="0" i="0" lang="en" sz="1400" u="none" cap="none" strike="noStrike">
                <a:solidFill>
                  <a:schemeClr val="accent6"/>
                </a:solidFill>
                <a:latin typeface="Calibri"/>
                <a:ea typeface="Calibri"/>
                <a:cs typeface="Calibri"/>
                <a:sym typeface="Calibri"/>
              </a:rPr>
              <a:t>Identifies the ssh port to connect to; if excluded, uses default port 22 {not used when using a secondary socket}</a:t>
            </a:r>
            <a:endParaRPr b="0" i="0" sz="1400" u="none" cap="none" strike="noStrike">
              <a:solidFill>
                <a:schemeClr val="accent6"/>
              </a:solidFill>
              <a:latin typeface="Calibri"/>
              <a:ea typeface="Calibri"/>
              <a:cs typeface="Calibri"/>
              <a:sym typeface="Calibri"/>
            </a:endParaRPr>
          </a:p>
          <a:p>
            <a:pPr indent="-317500" lvl="0" marL="457200" marR="0" rtl="0" algn="l">
              <a:lnSpc>
                <a:spcPct val="100000"/>
              </a:lnSpc>
              <a:spcBef>
                <a:spcPts val="0"/>
              </a:spcBef>
              <a:spcAft>
                <a:spcPts val="0"/>
              </a:spcAft>
              <a:buClr>
                <a:srgbClr val="FF9900"/>
              </a:buClr>
              <a:buSzPts val="1400"/>
              <a:buFont typeface="Calibri"/>
              <a:buAutoNum type="arabicPeriod"/>
            </a:pPr>
            <a:r>
              <a:rPr b="0" i="0" lang="en" sz="1400" u="none" cap="none" strike="noStrike">
                <a:solidFill>
                  <a:srgbClr val="FF9900"/>
                </a:solidFill>
                <a:latin typeface="Calibri"/>
                <a:ea typeface="Calibri"/>
                <a:cs typeface="Calibri"/>
                <a:sym typeface="Calibri"/>
              </a:rPr>
              <a:t>Prevents authentication failure due to conflicting stored ssh connection data</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Calibri"/>
                <a:ea typeface="Calibri"/>
                <a:cs typeface="Calibri"/>
                <a:sym typeface="Calibri"/>
              </a:rPr>
              <a:t>  6. 	Username {any value can be used when using a secondary socket but there must be </a:t>
            </a:r>
            <a:r>
              <a:rPr b="0" i="1" lang="en" sz="1400" u="none" cap="none" strike="noStrike">
                <a:solidFill>
                  <a:srgbClr val="FF0000"/>
                </a:solidFill>
                <a:latin typeface="Calibri"/>
                <a:ea typeface="Calibri"/>
                <a:cs typeface="Calibri"/>
                <a:sym typeface="Calibri"/>
              </a:rPr>
              <a:t>a </a:t>
            </a:r>
            <a:r>
              <a:rPr b="0" i="0" lang="en" sz="1400" u="none" cap="none" strike="noStrike">
                <a:solidFill>
                  <a:srgbClr val="FF0000"/>
                </a:solidFill>
                <a:latin typeface="Calibri"/>
                <a:ea typeface="Calibri"/>
                <a:cs typeface="Calibri"/>
                <a:sym typeface="Calibri"/>
              </a:rPr>
              <a:t>value}</a:t>
            </a:r>
            <a:endParaRPr b="0" i="0" sz="1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980000"/>
                </a:solidFill>
                <a:latin typeface="Calibri"/>
                <a:ea typeface="Calibri"/>
                <a:cs typeface="Calibri"/>
                <a:sym typeface="Calibri"/>
              </a:rPr>
              <a:t>  7. 	IP to which the ssh connection request is sent {not used when using a secondary socket}</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accent6"/>
              </a:solidFill>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rPr lang="en">
                <a:solidFill>
                  <a:schemeClr val="dk1"/>
                </a:solidFill>
                <a:latin typeface="Calibri"/>
                <a:ea typeface="Calibri"/>
                <a:cs typeface="Calibri"/>
                <a:sym typeface="Calibri"/>
              </a:rPr>
              <a:t>You can also clear out your stored known host signatures on your local box with:</a:t>
            </a:r>
            <a:r>
              <a:rPr lang="en">
                <a:solidFill>
                  <a:srgbClr val="980000"/>
                </a:solidFill>
                <a:latin typeface="Calibri"/>
                <a:ea typeface="Calibri"/>
                <a:cs typeface="Calibri"/>
                <a:sym typeface="Calibri"/>
              </a:rPr>
              <a:t> </a:t>
            </a:r>
            <a:r>
              <a:rPr lang="en">
                <a:solidFill>
                  <a:srgbClr val="FF0000"/>
                </a:solidFill>
                <a:latin typeface="Calibri"/>
                <a:ea typeface="Calibri"/>
                <a:cs typeface="Calibri"/>
                <a:sym typeface="Calibri"/>
              </a:rPr>
              <a:t>cat /dev/null &gt; ./.ssh/known_hosts</a:t>
            </a:r>
            <a:endParaRPr sz="1200">
              <a:solidFill>
                <a:schemeClr val="accent6"/>
              </a:solidFill>
              <a:latin typeface="Calibri"/>
              <a:ea typeface="Calibri"/>
              <a:cs typeface="Calibri"/>
              <a:sym typeface="Calibri"/>
            </a:endParaRPr>
          </a:p>
        </p:txBody>
      </p:sp>
      <p:sp>
        <p:nvSpPr>
          <p:cNvPr id="551" name="Google Shape;551;p61"/>
          <p:cNvSpPr txBox="1"/>
          <p:nvPr>
            <p:ph type="title"/>
          </p:nvPr>
        </p:nvSpPr>
        <p:spPr>
          <a:xfrm>
            <a:off x="1072925" y="182975"/>
            <a:ext cx="7437600" cy="4545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 No Host Check Syntax</a:t>
            </a:r>
            <a:endParaRPr b="0" i="0" sz="3000" u="none" cap="none" strike="noStrike">
              <a:solidFill>
                <a:schemeClr val="dk1"/>
              </a:solidFill>
              <a:latin typeface="Calibri"/>
              <a:ea typeface="Calibri"/>
              <a:cs typeface="Calibri"/>
              <a:sym typeface="Calibri"/>
            </a:endParaRPr>
          </a:p>
        </p:txBody>
      </p:sp>
      <p:sp>
        <p:nvSpPr>
          <p:cNvPr id="552" name="Google Shape;552;p61"/>
          <p:cNvSpPr txBox="1"/>
          <p:nvPr/>
        </p:nvSpPr>
        <p:spPr>
          <a:xfrm>
            <a:off x="322525" y="709550"/>
            <a:ext cx="7546800" cy="139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When you typed “yes” to that prompt earlier, you told it to store ssh connection information linking this username (student), this IP (127.0.0.1), and this port (3333). SSH, to make sure you are safe, checked its stored info and determined you weren’t safe because even though you’re really going to the .6 and not the .3, it still thinks you’re just going to 127.0.0.1. The records don’t match, so it’s “protecting” you. You’ll need to prevent it from checking your ~/.ssh/known_hosts file and to throw future known host information directly into /dev/null.</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2"/>
          <p:cNvSpPr txBox="1"/>
          <p:nvPr>
            <p:ph type="title"/>
          </p:nvPr>
        </p:nvSpPr>
        <p:spPr>
          <a:xfrm>
            <a:off x="623888" y="996555"/>
            <a:ext cx="7886700" cy="2139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lang="en"/>
              <a:t>Tunnel Syntax Review</a:t>
            </a:r>
            <a:endParaRPr b="1" i="0" sz="3400" u="none" cap="none" strike="noStrik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3"/>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 Tunnel Syntax Summary</a:t>
            </a:r>
            <a:endParaRPr b="0" i="0" sz="3000" u="none" cap="none" strike="noStrike">
              <a:solidFill>
                <a:schemeClr val="dk1"/>
              </a:solidFill>
              <a:latin typeface="Calibri"/>
              <a:ea typeface="Calibri"/>
              <a:cs typeface="Calibri"/>
              <a:sym typeface="Calibri"/>
            </a:endParaRPr>
          </a:p>
        </p:txBody>
      </p:sp>
      <p:sp>
        <p:nvSpPr>
          <p:cNvPr id="563" name="Google Shape;563;p63"/>
          <p:cNvSpPr txBox="1"/>
          <p:nvPr/>
        </p:nvSpPr>
        <p:spPr>
          <a:xfrm>
            <a:off x="932250" y="803675"/>
            <a:ext cx="7447500" cy="39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solidFill>
                  <a:schemeClr val="dk1"/>
                </a:solidFill>
              </a:rPr>
              <a:t>Let’s review our tunnel syntax in general.</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chemeClr val="dk1"/>
                </a:solidFill>
              </a:rPr>
              <a:t>The five parts of every successful tunnel</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FF0000"/>
                </a:solidFill>
              </a:rPr>
              <a:t>-TunnelType</a:t>
            </a:r>
            <a:r>
              <a:rPr lang="en">
                <a:solidFill>
                  <a:schemeClr val="dk1"/>
                </a:solidFill>
              </a:rPr>
              <a:t> </a:t>
            </a:r>
            <a:r>
              <a:rPr lang="en">
                <a:solidFill>
                  <a:srgbClr val="FF9900"/>
                </a:solidFill>
              </a:rPr>
              <a:t>Listen/BindAddress</a:t>
            </a:r>
            <a:r>
              <a:rPr lang="en">
                <a:solidFill>
                  <a:schemeClr val="dk1"/>
                </a:solidFill>
              </a:rPr>
              <a:t>:</a:t>
            </a:r>
            <a:r>
              <a:rPr lang="en">
                <a:solidFill>
                  <a:schemeClr val="accent6"/>
                </a:solidFill>
              </a:rPr>
              <a:t>Listen/BindPort</a:t>
            </a:r>
            <a:r>
              <a:rPr lang="en">
                <a:solidFill>
                  <a:schemeClr val="dk1"/>
                </a:solidFill>
              </a:rPr>
              <a:t>:</a:t>
            </a:r>
            <a:r>
              <a:rPr lang="en">
                <a:solidFill>
                  <a:srgbClr val="4A86E8"/>
                </a:solidFill>
              </a:rPr>
              <a:t>ServerAddress</a:t>
            </a:r>
            <a:r>
              <a:rPr lang="en">
                <a:solidFill>
                  <a:schemeClr val="dk1"/>
                </a:solidFill>
              </a:rPr>
              <a:t>:</a:t>
            </a:r>
            <a:r>
              <a:rPr lang="en">
                <a:solidFill>
                  <a:srgbClr val="9900FF"/>
                </a:solidFill>
              </a:rPr>
              <a:t>ServerPort</a:t>
            </a:r>
            <a:endParaRPr>
              <a:solidFill>
                <a:srgbClr val="9900FF"/>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FF0000"/>
                </a:solidFill>
              </a:rPr>
              <a:t>-L</a:t>
            </a:r>
            <a:r>
              <a:rPr lang="en">
                <a:solidFill>
                  <a:schemeClr val="dk1"/>
                </a:solidFill>
              </a:rPr>
              <a:t> = create the listener on the Local host I’m running the command from.</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FF0000"/>
                </a:solidFill>
              </a:rPr>
              <a:t>-R</a:t>
            </a:r>
            <a:r>
              <a:rPr lang="en">
                <a:solidFill>
                  <a:schemeClr val="dk1"/>
                </a:solidFill>
              </a:rPr>
              <a:t> = create the listener on the Remote host I’m authenticating to right now.</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FF0000"/>
                </a:solidFill>
              </a:rPr>
              <a:t>-D</a:t>
            </a:r>
            <a:r>
              <a:rPr lang="en">
                <a:solidFill>
                  <a:schemeClr val="dk1"/>
                </a:solidFill>
              </a:rPr>
              <a:t> = create the listener on the Local host I’m running the command from.</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FF9900"/>
                </a:solidFill>
              </a:rPr>
              <a:t>Listen Address = What IP on the device indicated above (local or remote) am I listening for connections on? Probably 127.0.0.1 unless another device needs to use this tunnel.</a:t>
            </a:r>
            <a:endParaRPr>
              <a:solidFill>
                <a:srgbClr val="FF9900"/>
              </a:solidFill>
            </a:endParaRPr>
          </a:p>
          <a:p>
            <a:pPr indent="0" lvl="0" marL="0" rtl="0" algn="l">
              <a:spcBef>
                <a:spcPts val="0"/>
              </a:spcBef>
              <a:spcAft>
                <a:spcPts val="0"/>
              </a:spcAft>
              <a:buClr>
                <a:schemeClr val="dk1"/>
              </a:buClr>
              <a:buSzPts val="1400"/>
              <a:buFont typeface="Arial"/>
              <a:buNone/>
            </a:pPr>
            <a:r>
              <a:rPr lang="en">
                <a:solidFill>
                  <a:schemeClr val="accent6"/>
                </a:solidFill>
              </a:rPr>
              <a:t>Listen Port = What port on the above device/IP will be listening for TCP connections?</a:t>
            </a:r>
            <a:endParaRPr>
              <a:solidFill>
                <a:schemeClr val="accent6"/>
              </a:solidFill>
            </a:endParaRPr>
          </a:p>
          <a:p>
            <a:pPr indent="0" lvl="0" marL="0" rtl="0" algn="l">
              <a:spcBef>
                <a:spcPts val="0"/>
              </a:spcBef>
              <a:spcAft>
                <a:spcPts val="0"/>
              </a:spcAft>
              <a:buClr>
                <a:schemeClr val="dk1"/>
              </a:buClr>
              <a:buSzPts val="1400"/>
              <a:buFont typeface="Arial"/>
              <a:buNone/>
            </a:pPr>
            <a:r>
              <a:t/>
            </a:r>
            <a:endParaRPr>
              <a:solidFill>
                <a:srgbClr val="4A86E8"/>
              </a:solidFill>
            </a:endParaRPr>
          </a:p>
          <a:p>
            <a:pPr indent="0" lvl="0" marL="0" rtl="0" algn="l">
              <a:spcBef>
                <a:spcPts val="0"/>
              </a:spcBef>
              <a:spcAft>
                <a:spcPts val="0"/>
              </a:spcAft>
              <a:buClr>
                <a:schemeClr val="dk1"/>
              </a:buClr>
              <a:buSzPts val="1400"/>
              <a:buFont typeface="Arial"/>
              <a:buNone/>
            </a:pPr>
            <a:r>
              <a:rPr lang="en">
                <a:solidFill>
                  <a:srgbClr val="4A86E8"/>
                </a:solidFill>
              </a:rPr>
              <a:t>Server Address = What IP will the other side of my current connection give tunnel contents to? Usually–but not always–the next hop for -L and 127.0.0.1 for -R</a:t>
            </a:r>
            <a:endParaRPr>
              <a:solidFill>
                <a:srgbClr val="4A86E8"/>
              </a:solidFill>
            </a:endParaRPr>
          </a:p>
          <a:p>
            <a:pPr indent="0" lvl="0" marL="0" rtl="0" algn="l">
              <a:spcBef>
                <a:spcPts val="0"/>
              </a:spcBef>
              <a:spcAft>
                <a:spcPts val="0"/>
              </a:spcAft>
              <a:buClr>
                <a:schemeClr val="dk1"/>
              </a:buClr>
              <a:buSzPts val="1400"/>
              <a:buFont typeface="Arial"/>
              <a:buNone/>
            </a:pPr>
            <a:r>
              <a:rPr lang="en">
                <a:solidFill>
                  <a:srgbClr val="9900FF"/>
                </a:solidFill>
              </a:rPr>
              <a:t>Server Port = What port on the target IP is waiting for my traffic? Usually a service port such as ssh or http, but could also be another tunnel entrance.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4"/>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-L Tunnel Syntax Summary</a:t>
            </a:r>
            <a:endParaRPr b="0" i="0" sz="3000" u="none" cap="none" strike="noStrike">
              <a:solidFill>
                <a:schemeClr val="dk1"/>
              </a:solidFill>
              <a:latin typeface="Calibri"/>
              <a:ea typeface="Calibri"/>
              <a:cs typeface="Calibri"/>
              <a:sym typeface="Calibri"/>
            </a:endParaRPr>
          </a:p>
        </p:txBody>
      </p:sp>
      <p:sp>
        <p:nvSpPr>
          <p:cNvPr id="569" name="Google Shape;569;p64"/>
          <p:cNvSpPr txBox="1"/>
          <p:nvPr/>
        </p:nvSpPr>
        <p:spPr>
          <a:xfrm>
            <a:off x="932250" y="803675"/>
            <a:ext cx="7447500" cy="39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solidFill>
                  <a:schemeClr val="dk1"/>
                </a:solidFill>
              </a:rPr>
              <a:t>The Local Listener Tunnel initiates locally and tells the remote side where to send traffic.</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FF0000"/>
                </a:solidFill>
              </a:rPr>
              <a:t>-TunnelType</a:t>
            </a:r>
            <a:r>
              <a:rPr lang="en">
                <a:solidFill>
                  <a:schemeClr val="dk1"/>
                </a:solidFill>
              </a:rPr>
              <a:t> </a:t>
            </a:r>
            <a:r>
              <a:rPr lang="en">
                <a:solidFill>
                  <a:srgbClr val="FF9900"/>
                </a:solidFill>
              </a:rPr>
              <a:t>Listen/BindAddress</a:t>
            </a:r>
            <a:r>
              <a:rPr lang="en">
                <a:solidFill>
                  <a:schemeClr val="dk1"/>
                </a:solidFill>
              </a:rPr>
              <a:t>:</a:t>
            </a:r>
            <a:r>
              <a:rPr lang="en">
                <a:solidFill>
                  <a:schemeClr val="accent6"/>
                </a:solidFill>
              </a:rPr>
              <a:t>Listen/BindPort</a:t>
            </a:r>
            <a:r>
              <a:rPr lang="en">
                <a:solidFill>
                  <a:schemeClr val="dk1"/>
                </a:solidFill>
              </a:rPr>
              <a:t>:</a:t>
            </a:r>
            <a:r>
              <a:rPr lang="en">
                <a:solidFill>
                  <a:srgbClr val="4A86E8"/>
                </a:solidFill>
              </a:rPr>
              <a:t>ServerAddress</a:t>
            </a:r>
            <a:r>
              <a:rPr lang="en">
                <a:solidFill>
                  <a:schemeClr val="dk1"/>
                </a:solidFill>
              </a:rPr>
              <a:t>:</a:t>
            </a:r>
            <a:r>
              <a:rPr lang="en">
                <a:solidFill>
                  <a:srgbClr val="9900FF"/>
                </a:solidFill>
              </a:rPr>
              <a:t>ServerPort</a:t>
            </a:r>
            <a:endParaRPr>
              <a:solidFill>
                <a:srgbClr val="9900FF"/>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ctr">
              <a:spcBef>
                <a:spcPts val="0"/>
              </a:spcBef>
              <a:spcAft>
                <a:spcPts val="0"/>
              </a:spcAft>
              <a:buClr>
                <a:schemeClr val="dk1"/>
              </a:buClr>
              <a:buSzPts val="1400"/>
              <a:buFont typeface="Arial"/>
              <a:buNone/>
            </a:pPr>
            <a:r>
              <a:rPr lang="en">
                <a:solidFill>
                  <a:srgbClr val="FF0000"/>
                </a:solidFill>
              </a:rPr>
              <a:t>-L</a:t>
            </a:r>
            <a:r>
              <a:rPr lang="en">
                <a:solidFill>
                  <a:schemeClr val="dk1"/>
                </a:solidFill>
              </a:rPr>
              <a:t> </a:t>
            </a:r>
            <a:r>
              <a:rPr lang="en">
                <a:solidFill>
                  <a:srgbClr val="FF9900"/>
                </a:solidFill>
              </a:rPr>
              <a:t>127.0.0.1</a:t>
            </a:r>
            <a:r>
              <a:rPr lang="en">
                <a:solidFill>
                  <a:schemeClr val="dk1"/>
                </a:solidFill>
              </a:rPr>
              <a:t>:</a:t>
            </a:r>
            <a:r>
              <a:rPr lang="en">
                <a:solidFill>
                  <a:schemeClr val="accent6"/>
                </a:solidFill>
              </a:rPr>
              <a:t>2222</a:t>
            </a:r>
            <a:r>
              <a:rPr lang="en">
                <a:solidFill>
                  <a:schemeClr val="dk1"/>
                </a:solidFill>
              </a:rPr>
              <a:t>:</a:t>
            </a:r>
            <a:r>
              <a:rPr lang="en">
                <a:solidFill>
                  <a:srgbClr val="4A86E8"/>
                </a:solidFill>
              </a:rPr>
              <a:t>192.168.0.5</a:t>
            </a:r>
            <a:r>
              <a:rPr lang="en">
                <a:solidFill>
                  <a:schemeClr val="dk1"/>
                </a:solidFill>
              </a:rPr>
              <a:t>:</a:t>
            </a:r>
            <a:r>
              <a:rPr lang="en">
                <a:solidFill>
                  <a:srgbClr val="9900FF"/>
                </a:solidFill>
              </a:rPr>
              <a:t>22</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FF0000"/>
                </a:solidFill>
              </a:rPr>
              <a:t>-L </a:t>
            </a:r>
            <a:r>
              <a:rPr lang="en">
                <a:solidFill>
                  <a:schemeClr val="dk1"/>
                </a:solidFill>
              </a:rPr>
              <a:t>= I want to set up my listener Locally on my current device (probably your opstation). </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FF9900"/>
                </a:solidFill>
              </a:rPr>
              <a:t>127.0.0.1 </a:t>
            </a:r>
            <a:r>
              <a:rPr lang="en">
                <a:solidFill>
                  <a:schemeClr val="dk1"/>
                </a:solidFill>
              </a:rPr>
              <a:t>= The IP on my local device I wish to listen on. I want to listen on my loopback, but you could also listen on an outward facing IP. Since 127.0.0.1 is the default, you can and often will leave this part off.</a:t>
            </a:r>
            <a:endParaRPr>
              <a:solidFill>
                <a:srgbClr val="FF9900"/>
              </a:solidFill>
            </a:endParaRPr>
          </a:p>
          <a:p>
            <a:pPr indent="0" lvl="0" marL="0" rtl="0" algn="l">
              <a:spcBef>
                <a:spcPts val="0"/>
              </a:spcBef>
              <a:spcAft>
                <a:spcPts val="0"/>
              </a:spcAft>
              <a:buClr>
                <a:schemeClr val="dk1"/>
              </a:buClr>
              <a:buSzPts val="1400"/>
              <a:buFont typeface="Arial"/>
              <a:buNone/>
            </a:pPr>
            <a:r>
              <a:rPr lang="en">
                <a:solidFill>
                  <a:schemeClr val="accent6"/>
                </a:solidFill>
              </a:rPr>
              <a:t>2222 </a:t>
            </a:r>
            <a:r>
              <a:rPr lang="en">
                <a:solidFill>
                  <a:schemeClr val="dk1"/>
                </a:solidFill>
              </a:rPr>
              <a:t>= I chose to open port 2222 on my opstation’s loopback, but I could be any unbound port. Since it is on my optstation, no one will see this but me.</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4A86E8"/>
                </a:solidFill>
              </a:rPr>
              <a:t>192.168.0.5 </a:t>
            </a:r>
            <a:r>
              <a:rPr lang="en">
                <a:solidFill>
                  <a:schemeClr val="dk1"/>
                </a:solidFill>
              </a:rPr>
              <a:t>= I want the device I am connecting to right now to forward any tunnel traffic I receive to this IP, usually the device I want to access next. </a:t>
            </a:r>
            <a:endParaRPr>
              <a:solidFill>
                <a:srgbClr val="4A86E8"/>
              </a:solidFill>
            </a:endParaRPr>
          </a:p>
          <a:p>
            <a:pPr indent="0" lvl="0" marL="0" rtl="0" algn="l">
              <a:spcBef>
                <a:spcPts val="0"/>
              </a:spcBef>
              <a:spcAft>
                <a:spcPts val="0"/>
              </a:spcAft>
              <a:buClr>
                <a:schemeClr val="dk1"/>
              </a:buClr>
              <a:buSzPts val="1400"/>
              <a:buFont typeface="Arial"/>
              <a:buNone/>
            </a:pPr>
            <a:r>
              <a:rPr lang="en">
                <a:solidFill>
                  <a:srgbClr val="9900FF"/>
                </a:solidFill>
              </a:rPr>
              <a:t>22 </a:t>
            </a:r>
            <a:r>
              <a:rPr lang="en">
                <a:solidFill>
                  <a:schemeClr val="dk1"/>
                </a:solidFill>
              </a:rPr>
              <a:t>= I want my forwarded traffic to go to this port on the above IP. We used 22/ssh here, but it could be any port that accepts TCP traffic. Note: I’m not creating a listener on the .5, nor have I touched it. I am pointing my tunnel at a port that is already listening for connections.</a:t>
            </a:r>
            <a:endParaRPr>
              <a:solidFill>
                <a:schemeClr val="dk1"/>
              </a:solidFill>
            </a:endParaRPr>
          </a:p>
        </p:txBody>
      </p:sp>
      <p:sp>
        <p:nvSpPr>
          <p:cNvPr id="570" name="Google Shape;570;p64"/>
          <p:cNvSpPr txBox="1"/>
          <p:nvPr/>
        </p:nvSpPr>
        <p:spPr>
          <a:xfrm>
            <a:off x="139050" y="2528325"/>
            <a:ext cx="953100" cy="25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Local</a:t>
            </a:r>
            <a:endParaRPr/>
          </a:p>
          <a:p>
            <a:pPr indent="0" lvl="0" marL="0" rtl="0" algn="l">
              <a:spcBef>
                <a:spcPts val="0"/>
              </a:spcBef>
              <a:spcAft>
                <a:spcPts val="0"/>
              </a:spcAft>
              <a:buNone/>
            </a:pPr>
            <a:r>
              <a:rPr lang="en"/>
              <a:t>Side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Remote</a:t>
            </a:r>
            <a:endParaRPr/>
          </a:p>
          <a:p>
            <a:pPr indent="0" lvl="0" marL="0" rtl="0" algn="l">
              <a:spcBef>
                <a:spcPts val="0"/>
              </a:spcBef>
              <a:spcAft>
                <a:spcPts val="0"/>
              </a:spcAft>
              <a:buNone/>
            </a:pPr>
            <a:r>
              <a:rPr lang="en"/>
              <a:t>Side</a:t>
            </a:r>
            <a:endParaRPr/>
          </a:p>
          <a:p>
            <a:pPr indent="0" lvl="0" marL="0" rtl="0" algn="l">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5"/>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-R Tunnel Syntax Summary</a:t>
            </a:r>
            <a:endParaRPr b="0" i="0" sz="3000" u="none" cap="none" strike="noStrike">
              <a:solidFill>
                <a:schemeClr val="dk1"/>
              </a:solidFill>
              <a:latin typeface="Calibri"/>
              <a:ea typeface="Calibri"/>
              <a:cs typeface="Calibri"/>
              <a:sym typeface="Calibri"/>
            </a:endParaRPr>
          </a:p>
        </p:txBody>
      </p:sp>
      <p:sp>
        <p:nvSpPr>
          <p:cNvPr id="576" name="Google Shape;576;p65"/>
          <p:cNvSpPr txBox="1"/>
          <p:nvPr/>
        </p:nvSpPr>
        <p:spPr>
          <a:xfrm>
            <a:off x="932250" y="803675"/>
            <a:ext cx="7447500" cy="39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solidFill>
                  <a:schemeClr val="dk1"/>
                </a:solidFill>
              </a:rPr>
              <a:t>The Remote Listener Tunnel initiates remotely and tells the local device where to send traffic</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FF0000"/>
                </a:solidFill>
              </a:rPr>
              <a:t>-TunnelType</a:t>
            </a:r>
            <a:r>
              <a:rPr lang="en">
                <a:solidFill>
                  <a:schemeClr val="dk1"/>
                </a:solidFill>
              </a:rPr>
              <a:t> </a:t>
            </a:r>
            <a:r>
              <a:rPr lang="en">
                <a:solidFill>
                  <a:srgbClr val="FF9900"/>
                </a:solidFill>
              </a:rPr>
              <a:t>Listen/BindAddress</a:t>
            </a:r>
            <a:r>
              <a:rPr lang="en">
                <a:solidFill>
                  <a:schemeClr val="dk1"/>
                </a:solidFill>
              </a:rPr>
              <a:t>:</a:t>
            </a:r>
            <a:r>
              <a:rPr lang="en">
                <a:solidFill>
                  <a:schemeClr val="accent6"/>
                </a:solidFill>
              </a:rPr>
              <a:t>Listen/BindPort</a:t>
            </a:r>
            <a:r>
              <a:rPr lang="en">
                <a:solidFill>
                  <a:schemeClr val="dk1"/>
                </a:solidFill>
              </a:rPr>
              <a:t>:</a:t>
            </a:r>
            <a:r>
              <a:rPr lang="en">
                <a:solidFill>
                  <a:srgbClr val="4A86E8"/>
                </a:solidFill>
              </a:rPr>
              <a:t>ServerAddress</a:t>
            </a:r>
            <a:r>
              <a:rPr lang="en">
                <a:solidFill>
                  <a:schemeClr val="dk1"/>
                </a:solidFill>
              </a:rPr>
              <a:t>:</a:t>
            </a:r>
            <a:r>
              <a:rPr lang="en">
                <a:solidFill>
                  <a:srgbClr val="9900FF"/>
                </a:solidFill>
              </a:rPr>
              <a:t>ServerPort</a:t>
            </a:r>
            <a:endParaRPr>
              <a:solidFill>
                <a:srgbClr val="9900FF"/>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ctr">
              <a:spcBef>
                <a:spcPts val="0"/>
              </a:spcBef>
              <a:spcAft>
                <a:spcPts val="0"/>
              </a:spcAft>
              <a:buClr>
                <a:schemeClr val="dk1"/>
              </a:buClr>
              <a:buSzPts val="1400"/>
              <a:buFont typeface="Arial"/>
              <a:buNone/>
            </a:pPr>
            <a:r>
              <a:rPr lang="en">
                <a:solidFill>
                  <a:srgbClr val="FF0000"/>
                </a:solidFill>
              </a:rPr>
              <a:t>-R</a:t>
            </a:r>
            <a:r>
              <a:rPr lang="en">
                <a:solidFill>
                  <a:schemeClr val="dk1"/>
                </a:solidFill>
              </a:rPr>
              <a:t> </a:t>
            </a:r>
            <a:r>
              <a:rPr lang="en">
                <a:solidFill>
                  <a:srgbClr val="FF9900"/>
                </a:solidFill>
              </a:rPr>
              <a:t>127.0.0.1</a:t>
            </a:r>
            <a:r>
              <a:rPr lang="en">
                <a:solidFill>
                  <a:schemeClr val="dk1"/>
                </a:solidFill>
              </a:rPr>
              <a:t>:</a:t>
            </a:r>
            <a:r>
              <a:rPr lang="en">
                <a:solidFill>
                  <a:schemeClr val="accent6"/>
                </a:solidFill>
              </a:rPr>
              <a:t>48907</a:t>
            </a:r>
            <a:r>
              <a:rPr lang="en">
                <a:solidFill>
                  <a:schemeClr val="dk1"/>
                </a:solidFill>
              </a:rPr>
              <a:t>:</a:t>
            </a:r>
            <a:r>
              <a:rPr lang="en">
                <a:solidFill>
                  <a:srgbClr val="4A86E8"/>
                </a:solidFill>
              </a:rPr>
              <a:t>127.0.0.1</a:t>
            </a:r>
            <a:r>
              <a:rPr lang="en">
                <a:solidFill>
                  <a:schemeClr val="dk1"/>
                </a:solidFill>
              </a:rPr>
              <a:t>:</a:t>
            </a:r>
            <a:r>
              <a:rPr lang="en">
                <a:solidFill>
                  <a:srgbClr val="9900FF"/>
                </a:solidFill>
              </a:rPr>
              <a:t>22</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FF0000"/>
                </a:solidFill>
              </a:rPr>
              <a:t>-R </a:t>
            </a:r>
            <a:r>
              <a:rPr lang="en">
                <a:solidFill>
                  <a:schemeClr val="dk1"/>
                </a:solidFill>
              </a:rPr>
              <a:t>= I want to set up my listener Remotely on the device I’m authenticating to right now. </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FF9900"/>
                </a:solidFill>
              </a:rPr>
              <a:t>127.0.0.1 </a:t>
            </a:r>
            <a:r>
              <a:rPr lang="en">
                <a:solidFill>
                  <a:schemeClr val="dk1"/>
                </a:solidFill>
              </a:rPr>
              <a:t>= The IP on my remote device I wish to listen on. If you have permissions, you could set it up on an outward facing IP to receive a beacon coming to this device, or you could set it up on the loopback to create a tunnel internally for future use.</a:t>
            </a:r>
            <a:endParaRPr>
              <a:solidFill>
                <a:srgbClr val="FF9900"/>
              </a:solidFill>
            </a:endParaRPr>
          </a:p>
          <a:p>
            <a:pPr indent="0" lvl="0" marL="0" rtl="0" algn="l">
              <a:spcBef>
                <a:spcPts val="0"/>
              </a:spcBef>
              <a:spcAft>
                <a:spcPts val="0"/>
              </a:spcAft>
              <a:buClr>
                <a:schemeClr val="dk1"/>
              </a:buClr>
              <a:buSzPts val="1400"/>
              <a:buFont typeface="Arial"/>
              <a:buNone/>
            </a:pPr>
            <a:r>
              <a:rPr lang="en">
                <a:solidFill>
                  <a:schemeClr val="accent6"/>
                </a:solidFill>
              </a:rPr>
              <a:t>48907 </a:t>
            </a:r>
            <a:r>
              <a:rPr lang="en">
                <a:solidFill>
                  <a:schemeClr val="dk1"/>
                </a:solidFill>
              </a:rPr>
              <a:t>= I chose to open port 48907 on the remote host, but I could use any unbound port. Admins can see this, so I should match the port to the port the beacon calls to, or if I’m setting up an internal tunnel, something that will blend in.</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
                <a:solidFill>
                  <a:srgbClr val="4A86E8"/>
                </a:solidFill>
              </a:rPr>
              <a:t>127.0.0.1 </a:t>
            </a:r>
            <a:r>
              <a:rPr lang="en">
                <a:solidFill>
                  <a:schemeClr val="dk1"/>
                </a:solidFill>
              </a:rPr>
              <a:t>= When the remote device receives traffic and pushes it into our tunnel, I want my local device (probably the opstation) to send it to this IP, usually the loopback. </a:t>
            </a:r>
            <a:endParaRPr>
              <a:solidFill>
                <a:srgbClr val="4A86E8"/>
              </a:solidFill>
            </a:endParaRPr>
          </a:p>
          <a:p>
            <a:pPr indent="0" lvl="0" marL="0" rtl="0" algn="l">
              <a:spcBef>
                <a:spcPts val="0"/>
              </a:spcBef>
              <a:spcAft>
                <a:spcPts val="0"/>
              </a:spcAft>
              <a:buClr>
                <a:schemeClr val="dk1"/>
              </a:buClr>
              <a:buSzPts val="1400"/>
              <a:buFont typeface="Arial"/>
              <a:buNone/>
            </a:pPr>
            <a:r>
              <a:rPr lang="en">
                <a:solidFill>
                  <a:srgbClr val="9900FF"/>
                </a:solidFill>
              </a:rPr>
              <a:t>22 </a:t>
            </a:r>
            <a:r>
              <a:rPr lang="en">
                <a:solidFill>
                  <a:schemeClr val="dk1"/>
                </a:solidFill>
              </a:rPr>
              <a:t>= Forwarded traffic should go to this port. In this case, I want to send traffic to my internal ssh port, but if it’s not pointing to a listening port, I will need to create a listener to catch it.</a:t>
            </a:r>
            <a:endParaRPr>
              <a:solidFill>
                <a:srgbClr val="9900FF"/>
              </a:solidFill>
            </a:endParaRPr>
          </a:p>
          <a:p>
            <a:pPr indent="0" lvl="0" marL="0" marR="0" rtl="0" algn="l">
              <a:lnSpc>
                <a:spcPct val="100000"/>
              </a:lnSpc>
              <a:spcBef>
                <a:spcPts val="0"/>
              </a:spcBef>
              <a:spcAft>
                <a:spcPts val="0"/>
              </a:spcAft>
              <a:buClr>
                <a:srgbClr val="000000"/>
              </a:buClr>
              <a:buSzPts val="1400"/>
              <a:buFont typeface="Arial"/>
              <a:buNone/>
            </a:pPr>
            <a:r>
              <a:t/>
            </a:r>
            <a:endParaRPr/>
          </a:p>
        </p:txBody>
      </p:sp>
      <p:sp>
        <p:nvSpPr>
          <p:cNvPr id="577" name="Google Shape;577;p65"/>
          <p:cNvSpPr txBox="1"/>
          <p:nvPr/>
        </p:nvSpPr>
        <p:spPr>
          <a:xfrm>
            <a:off x="139050" y="2528325"/>
            <a:ext cx="953100" cy="25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Remote</a:t>
            </a:r>
            <a:endParaRPr/>
          </a:p>
          <a:p>
            <a:pPr indent="0" lvl="0" marL="0" rtl="0" algn="l">
              <a:spcBef>
                <a:spcPts val="0"/>
              </a:spcBef>
              <a:spcAft>
                <a:spcPts val="0"/>
              </a:spcAft>
              <a:buNone/>
            </a:pPr>
            <a:r>
              <a:rPr lang="en"/>
              <a:t>Side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Local</a:t>
            </a:r>
            <a:endParaRPr/>
          </a:p>
          <a:p>
            <a:pPr indent="0" lvl="0" marL="0" rtl="0" algn="l">
              <a:spcBef>
                <a:spcPts val="0"/>
              </a:spcBef>
              <a:spcAft>
                <a:spcPts val="0"/>
              </a:spcAft>
              <a:buNone/>
            </a:pPr>
            <a:r>
              <a:rPr lang="en"/>
              <a:t>Side</a:t>
            </a:r>
            <a:endParaRPr/>
          </a:p>
          <a:p>
            <a:pPr indent="0" lvl="0" marL="0" rtl="0" algn="l">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6"/>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-D Tunnel Syntax Summary</a:t>
            </a:r>
            <a:endParaRPr b="0" i="0" sz="3000" u="none" cap="none" strike="noStrike">
              <a:solidFill>
                <a:schemeClr val="dk1"/>
              </a:solidFill>
              <a:latin typeface="Calibri"/>
              <a:ea typeface="Calibri"/>
              <a:cs typeface="Calibri"/>
              <a:sym typeface="Calibri"/>
            </a:endParaRPr>
          </a:p>
        </p:txBody>
      </p:sp>
      <p:sp>
        <p:nvSpPr>
          <p:cNvPr id="583" name="Google Shape;583;p66"/>
          <p:cNvSpPr txBox="1"/>
          <p:nvPr/>
        </p:nvSpPr>
        <p:spPr>
          <a:xfrm>
            <a:off x="932250" y="647225"/>
            <a:ext cx="7447500" cy="409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The Dynamic Listener Tunnel. Server Address and Port are not specified until connection.</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rtl="0" algn="l">
              <a:spcBef>
                <a:spcPts val="0"/>
              </a:spcBef>
              <a:spcAft>
                <a:spcPts val="0"/>
              </a:spcAft>
              <a:buClr>
                <a:schemeClr val="dk1"/>
              </a:buClr>
              <a:buSzPts val="1400"/>
              <a:buFont typeface="Arial"/>
              <a:buNone/>
            </a:pPr>
            <a:r>
              <a:rPr lang="en">
                <a:solidFill>
                  <a:srgbClr val="FF0000"/>
                </a:solidFill>
              </a:rPr>
              <a:t>-TunnelType</a:t>
            </a:r>
            <a:r>
              <a:rPr lang="en">
                <a:solidFill>
                  <a:schemeClr val="dk1"/>
                </a:solidFill>
              </a:rPr>
              <a:t> </a:t>
            </a:r>
            <a:r>
              <a:rPr lang="en">
                <a:solidFill>
                  <a:srgbClr val="FF9900"/>
                </a:solidFill>
              </a:rPr>
              <a:t>Listen/BindAddress</a:t>
            </a:r>
            <a:r>
              <a:rPr lang="en">
                <a:solidFill>
                  <a:schemeClr val="dk1"/>
                </a:solidFill>
              </a:rPr>
              <a:t>:</a:t>
            </a:r>
            <a:r>
              <a:rPr lang="en">
                <a:solidFill>
                  <a:schemeClr val="accent6"/>
                </a:solidFill>
              </a:rPr>
              <a:t>Listen/BindPort</a:t>
            </a:r>
            <a:r>
              <a:rPr lang="en">
                <a:solidFill>
                  <a:schemeClr val="dk1"/>
                </a:solidFill>
              </a:rPr>
              <a:t>:</a:t>
            </a:r>
            <a:r>
              <a:rPr lang="en">
                <a:solidFill>
                  <a:srgbClr val="4A86E8"/>
                </a:solidFill>
              </a:rPr>
              <a:t>ServerAddress</a:t>
            </a:r>
            <a:r>
              <a:rPr lang="en">
                <a:solidFill>
                  <a:schemeClr val="dk1"/>
                </a:solidFill>
              </a:rPr>
              <a:t>:</a:t>
            </a:r>
            <a:r>
              <a:rPr lang="en">
                <a:solidFill>
                  <a:srgbClr val="9900FF"/>
                </a:solidFill>
              </a:rPr>
              <a:t>ServerPort</a:t>
            </a:r>
            <a:endParaRPr>
              <a:solidFill>
                <a:srgbClr val="9900FF"/>
              </a:solidFill>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ctr">
              <a:lnSpc>
                <a:spcPct val="100000"/>
              </a:lnSpc>
              <a:spcBef>
                <a:spcPts val="0"/>
              </a:spcBef>
              <a:spcAft>
                <a:spcPts val="0"/>
              </a:spcAft>
              <a:buClr>
                <a:srgbClr val="000000"/>
              </a:buClr>
              <a:buSzPts val="1400"/>
              <a:buFont typeface="Arial"/>
              <a:buNone/>
            </a:pPr>
            <a:r>
              <a:rPr lang="en">
                <a:solidFill>
                  <a:srgbClr val="FF0000"/>
                </a:solidFill>
              </a:rPr>
              <a:t>-D</a:t>
            </a:r>
            <a:r>
              <a:rPr lang="en"/>
              <a:t> </a:t>
            </a:r>
            <a:r>
              <a:rPr lang="en">
                <a:solidFill>
                  <a:srgbClr val="FF9900"/>
                </a:solidFill>
              </a:rPr>
              <a:t>127.0.0.1</a:t>
            </a:r>
            <a:r>
              <a:rPr lang="en">
                <a:solidFill>
                  <a:schemeClr val="dk1"/>
                </a:solidFill>
              </a:rPr>
              <a:t>:</a:t>
            </a:r>
            <a:r>
              <a:rPr lang="en">
                <a:solidFill>
                  <a:schemeClr val="accent6"/>
                </a:solidFill>
              </a:rPr>
              <a:t>9050</a:t>
            </a:r>
            <a:endParaRPr>
              <a:solidFill>
                <a:schemeClr val="accent6"/>
              </a:solidFill>
            </a:endParaRPr>
          </a:p>
          <a:p>
            <a:pPr indent="0" lvl="0" marL="0" rtl="0" algn="ctr">
              <a:spcBef>
                <a:spcPts val="0"/>
              </a:spcBef>
              <a:spcAft>
                <a:spcPts val="0"/>
              </a:spcAft>
              <a:buClr>
                <a:schemeClr val="dk1"/>
              </a:buClr>
              <a:buSzPts val="1400"/>
              <a:buFont typeface="Arial"/>
              <a:buNone/>
            </a:pPr>
            <a:r>
              <a:rPr lang="en">
                <a:solidFill>
                  <a:schemeClr val="dk1"/>
                </a:solidFill>
              </a:rPr>
              <a:t>proxychains nmap -Pn -sT </a:t>
            </a:r>
            <a:r>
              <a:rPr lang="en">
                <a:solidFill>
                  <a:srgbClr val="4A86E8"/>
                </a:solidFill>
              </a:rPr>
              <a:t>192.168.0.0/26</a:t>
            </a:r>
            <a:r>
              <a:rPr lang="en">
                <a:solidFill>
                  <a:schemeClr val="dk1"/>
                </a:solidFill>
              </a:rPr>
              <a:t> -p </a:t>
            </a:r>
            <a:r>
              <a:rPr lang="en">
                <a:solidFill>
                  <a:srgbClr val="9900FF"/>
                </a:solidFill>
              </a:rPr>
              <a:t>21-23,80*</a:t>
            </a:r>
            <a:endParaRPr>
              <a:solidFill>
                <a:schemeClr val="accent6"/>
              </a:solidFill>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rtl="0" algn="l">
              <a:spcBef>
                <a:spcPts val="0"/>
              </a:spcBef>
              <a:spcAft>
                <a:spcPts val="0"/>
              </a:spcAft>
              <a:buClr>
                <a:schemeClr val="dk1"/>
              </a:buClr>
              <a:buSzPts val="1400"/>
              <a:buFont typeface="Arial"/>
              <a:buNone/>
            </a:pPr>
            <a:r>
              <a:rPr lang="en">
                <a:solidFill>
                  <a:srgbClr val="FF0000"/>
                </a:solidFill>
              </a:rPr>
              <a:t>-D </a:t>
            </a:r>
            <a:r>
              <a:rPr lang="en">
                <a:solidFill>
                  <a:schemeClr val="dk1"/>
                </a:solidFill>
              </a:rPr>
              <a:t>= I want to set up my listener Locally on my current device (probably your opstation). </a:t>
            </a:r>
            <a:endParaRPr>
              <a:solidFill>
                <a:schemeClr val="dk1"/>
              </a:solidFill>
            </a:endParaRPr>
          </a:p>
          <a:p>
            <a:pPr indent="0" lvl="0" marL="0" rtl="0" algn="l">
              <a:spcBef>
                <a:spcPts val="0"/>
              </a:spcBef>
              <a:spcAft>
                <a:spcPts val="0"/>
              </a:spcAft>
              <a:buClr>
                <a:schemeClr val="dk1"/>
              </a:buClr>
              <a:buSzPts val="1400"/>
              <a:buFont typeface="Arial"/>
              <a:buNone/>
            </a:pPr>
            <a:r>
              <a:t/>
            </a:r>
            <a:endParaRPr>
              <a:solidFill>
                <a:schemeClr val="dk1"/>
              </a:solidFill>
            </a:endParaRPr>
          </a:p>
          <a:p>
            <a:pPr indent="0" lvl="0" marL="0" marR="0" rtl="0" algn="l">
              <a:lnSpc>
                <a:spcPct val="100000"/>
              </a:lnSpc>
              <a:spcBef>
                <a:spcPts val="0"/>
              </a:spcBef>
              <a:spcAft>
                <a:spcPts val="0"/>
              </a:spcAft>
              <a:buNone/>
            </a:pPr>
            <a:r>
              <a:rPr lang="en">
                <a:solidFill>
                  <a:srgbClr val="FF9900"/>
                </a:solidFill>
              </a:rPr>
              <a:t>127.0.0.1 </a:t>
            </a:r>
            <a:r>
              <a:rPr lang="en">
                <a:solidFill>
                  <a:schemeClr val="dk1"/>
                </a:solidFill>
              </a:rPr>
              <a:t>= The IP on my local device I wish to listen on. Since 127.0.0.1 is the default, you can and often will leave this part off.</a:t>
            </a:r>
            <a:endParaRPr b="0" i="0" sz="1400" u="none" cap="none" strike="noStrike">
              <a:solidFill>
                <a:srgbClr val="FF99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n">
                <a:solidFill>
                  <a:schemeClr val="accent6"/>
                </a:solidFill>
              </a:rPr>
              <a:t>9050 </a:t>
            </a:r>
            <a:r>
              <a:rPr lang="en">
                <a:solidFill>
                  <a:schemeClr val="dk1"/>
                </a:solidFill>
              </a:rPr>
              <a:t>= I chose to open port 9050 on my opstation’s loopback because it is the default specified in proxychains.conf, but I could be any unbound port. Since it is on my optstation, no one will see this but me.</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
                <a:solidFill>
                  <a:srgbClr val="4A86E8"/>
                </a:solidFill>
              </a:rPr>
              <a:t>192.168.0.0/26 </a:t>
            </a:r>
            <a:r>
              <a:rPr lang="en">
                <a:solidFill>
                  <a:schemeClr val="dk1"/>
                </a:solidFill>
              </a:rPr>
              <a:t>= I want the device I am connecting to right now to forward any tunnel traffic I receive to these IPs, which are not provided until I actually use the tunnel.</a:t>
            </a:r>
            <a:endParaRPr>
              <a:solidFill>
                <a:srgbClr val="4A86E8"/>
              </a:solidFill>
            </a:endParaRPr>
          </a:p>
          <a:p>
            <a:pPr indent="0" lvl="0" marL="0" marR="0" rtl="0" algn="l">
              <a:lnSpc>
                <a:spcPct val="100000"/>
              </a:lnSpc>
              <a:spcBef>
                <a:spcPts val="0"/>
              </a:spcBef>
              <a:spcAft>
                <a:spcPts val="0"/>
              </a:spcAft>
              <a:buClr>
                <a:srgbClr val="000000"/>
              </a:buClr>
              <a:buSzPts val="1400"/>
              <a:buFont typeface="Arial"/>
              <a:buNone/>
            </a:pPr>
            <a:r>
              <a:rPr lang="en">
                <a:solidFill>
                  <a:srgbClr val="9900FF"/>
                </a:solidFill>
              </a:rPr>
              <a:t>21-23,80 </a:t>
            </a:r>
            <a:r>
              <a:rPr lang="en">
                <a:solidFill>
                  <a:schemeClr val="dk1"/>
                </a:solidFill>
              </a:rPr>
              <a:t>= These are the ports I am dynamically declaring I want to connect to at the time of execution which are not provided until I actually use the tunnel.</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 sz="1100">
                <a:solidFill>
                  <a:schemeClr val="dk1"/>
                </a:solidFill>
              </a:rPr>
              <a:t>*Doesn’t need to be nmap. Could be ‘proxychains wget 192.168.0.5:8080’ or telnet or nc any other TCP-based tool.</a:t>
            </a:r>
            <a:endParaRPr sz="1100">
              <a:solidFill>
                <a:schemeClr val="dk1"/>
              </a:solidFill>
            </a:endParaRPr>
          </a:p>
        </p:txBody>
      </p:sp>
      <p:sp>
        <p:nvSpPr>
          <p:cNvPr id="584" name="Google Shape;584;p66"/>
          <p:cNvSpPr txBox="1"/>
          <p:nvPr/>
        </p:nvSpPr>
        <p:spPr>
          <a:xfrm>
            <a:off x="139200" y="2565425"/>
            <a:ext cx="953100" cy="25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Local</a:t>
            </a:r>
            <a:endParaRPr/>
          </a:p>
          <a:p>
            <a:pPr indent="0" lvl="0" marL="0" rtl="0" algn="l">
              <a:spcBef>
                <a:spcPts val="0"/>
              </a:spcBef>
              <a:spcAft>
                <a:spcPts val="0"/>
              </a:spcAft>
              <a:buNone/>
            </a:pPr>
            <a:r>
              <a:rPr lang="en"/>
              <a:t>Side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Remote</a:t>
            </a:r>
            <a:endParaRPr/>
          </a:p>
          <a:p>
            <a:pPr indent="0" lvl="0" marL="0" rtl="0" algn="l">
              <a:spcBef>
                <a:spcPts val="0"/>
              </a:spcBef>
              <a:spcAft>
                <a:spcPts val="0"/>
              </a:spcAft>
              <a:buNone/>
            </a:pPr>
            <a:r>
              <a:rPr lang="en"/>
              <a:t>Side</a:t>
            </a:r>
            <a:endParaRPr/>
          </a:p>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67"/>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 Helpful Hints </a:t>
            </a:r>
            <a:endParaRPr b="0" i="0" sz="3000" u="none" cap="none" strike="noStrike">
              <a:solidFill>
                <a:schemeClr val="dk1"/>
              </a:solidFill>
              <a:latin typeface="Calibri"/>
              <a:ea typeface="Calibri"/>
              <a:cs typeface="Calibri"/>
              <a:sym typeface="Calibri"/>
            </a:endParaRPr>
          </a:p>
        </p:txBody>
      </p:sp>
      <p:sp>
        <p:nvSpPr>
          <p:cNvPr id="590" name="Google Shape;590;p67"/>
          <p:cNvSpPr txBox="1"/>
          <p:nvPr/>
        </p:nvSpPr>
        <p:spPr>
          <a:xfrm>
            <a:off x="932250" y="647225"/>
            <a:ext cx="7447500" cy="40956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SzPts val="1400"/>
              <a:buChar char="●"/>
            </a:pPr>
            <a:r>
              <a:rPr lang="en"/>
              <a:t>Your ssh connect lines from your Ops box should ONLY ever use your pivot IP or your localhost IP. </a:t>
            </a:r>
            <a:endParaRPr/>
          </a:p>
          <a:p>
            <a:pPr indent="0" lvl="0" marL="0" marR="0" rtl="0" algn="l">
              <a:lnSpc>
                <a:spcPct val="100000"/>
              </a:lnSpc>
              <a:spcBef>
                <a:spcPts val="0"/>
              </a:spcBef>
              <a:spcAft>
                <a:spcPts val="0"/>
              </a:spcAft>
              <a:buNone/>
            </a:pPr>
            <a:r>
              <a:t/>
            </a:r>
            <a:endParaRPr/>
          </a:p>
          <a:p>
            <a:pPr indent="-317500" lvl="0" marL="457200" marR="0" rtl="0" algn="l">
              <a:lnSpc>
                <a:spcPct val="100000"/>
              </a:lnSpc>
              <a:spcBef>
                <a:spcPts val="0"/>
              </a:spcBef>
              <a:spcAft>
                <a:spcPts val="0"/>
              </a:spcAft>
              <a:buSzPts val="1400"/>
              <a:buChar char="●"/>
            </a:pPr>
            <a:r>
              <a:rPr lang="en"/>
              <a:t>Every connection has a local/client side, where I’m running the command, and a remote/server side, the device I am connecting to right now.</a:t>
            </a:r>
            <a:endParaRPr/>
          </a:p>
          <a:p>
            <a:pPr indent="0" lvl="0" marL="0" marR="0" rtl="0" algn="l">
              <a:lnSpc>
                <a:spcPct val="100000"/>
              </a:lnSpc>
              <a:spcBef>
                <a:spcPts val="0"/>
              </a:spcBef>
              <a:spcAft>
                <a:spcPts val="0"/>
              </a:spcAft>
              <a:buNone/>
            </a:pPr>
            <a:r>
              <a:t/>
            </a:r>
            <a:endParaRPr/>
          </a:p>
          <a:p>
            <a:pPr indent="-317500" lvl="0" marL="457200" marR="0" rtl="0" algn="l">
              <a:lnSpc>
                <a:spcPct val="100000"/>
              </a:lnSpc>
              <a:spcBef>
                <a:spcPts val="0"/>
              </a:spcBef>
              <a:spcAft>
                <a:spcPts val="0"/>
              </a:spcAft>
              <a:buSzPts val="1400"/>
              <a:buChar char="●"/>
            </a:pPr>
            <a:r>
              <a:rPr lang="en"/>
              <a:t>If I want to go </a:t>
            </a:r>
            <a:r>
              <a:rPr lang="en">
                <a:solidFill>
                  <a:srgbClr val="9900FF"/>
                </a:solidFill>
              </a:rPr>
              <a:t>here</a:t>
            </a:r>
            <a:r>
              <a:rPr lang="en"/>
              <a:t>, I need to point my ssh connection </a:t>
            </a:r>
            <a:r>
              <a:rPr lang="en">
                <a:solidFill>
                  <a:srgbClr val="FF0000"/>
                </a:solidFill>
              </a:rPr>
              <a:t>here</a:t>
            </a:r>
            <a:r>
              <a:rPr lang="en"/>
              <a:t>.</a:t>
            </a:r>
            <a:endParaRPr/>
          </a:p>
          <a:p>
            <a:pPr indent="-317500" lvl="1" marL="914400" marR="0" rtl="0" algn="l">
              <a:lnSpc>
                <a:spcPct val="100000"/>
              </a:lnSpc>
              <a:spcBef>
                <a:spcPts val="0"/>
              </a:spcBef>
              <a:spcAft>
                <a:spcPts val="0"/>
              </a:spcAft>
              <a:buSzPts val="1400"/>
              <a:buChar char="○"/>
            </a:pPr>
            <a:r>
              <a:rPr lang="en"/>
              <a:t>-L </a:t>
            </a:r>
            <a:r>
              <a:rPr lang="en">
                <a:solidFill>
                  <a:srgbClr val="FF0000"/>
                </a:solidFill>
              </a:rPr>
              <a:t>127.0.0.1:4321</a:t>
            </a:r>
            <a:r>
              <a:rPr lang="en"/>
              <a:t>:</a:t>
            </a:r>
            <a:r>
              <a:rPr lang="en">
                <a:solidFill>
                  <a:srgbClr val="9900FF"/>
                </a:solidFill>
              </a:rPr>
              <a:t>192.168.0.2:22</a:t>
            </a:r>
            <a:endParaRPr>
              <a:solidFill>
                <a:srgbClr val="9900FF"/>
              </a:solidFill>
            </a:endParaRPr>
          </a:p>
          <a:p>
            <a:pPr indent="0" lvl="0" marL="0" marR="0" rtl="0" algn="l">
              <a:lnSpc>
                <a:spcPct val="100000"/>
              </a:lnSpc>
              <a:spcBef>
                <a:spcPts val="0"/>
              </a:spcBef>
              <a:spcAft>
                <a:spcPts val="0"/>
              </a:spcAft>
              <a:buNone/>
            </a:pPr>
            <a:r>
              <a:t/>
            </a:r>
            <a:endParaRPr/>
          </a:p>
          <a:p>
            <a:pPr indent="-317500" lvl="0" marL="457200" marR="0" rtl="0" algn="l">
              <a:lnSpc>
                <a:spcPct val="100000"/>
              </a:lnSpc>
              <a:spcBef>
                <a:spcPts val="0"/>
              </a:spcBef>
              <a:spcAft>
                <a:spcPts val="0"/>
              </a:spcAft>
              <a:buSzPts val="1400"/>
              <a:buChar char="●"/>
            </a:pPr>
            <a:r>
              <a:rPr lang="en"/>
              <a:t>If you have a habit of trying to connect directly to a device after setting up a tunnel on your client’s localhost, specifying your listening IP may help you remember where your listening port is located.</a:t>
            </a:r>
            <a:endParaRPr/>
          </a:p>
          <a:p>
            <a:pPr indent="-317500" lvl="1" marL="914400" marR="0" rtl="0" algn="l">
              <a:lnSpc>
                <a:spcPct val="100000"/>
              </a:lnSpc>
              <a:spcBef>
                <a:spcPts val="0"/>
              </a:spcBef>
              <a:spcAft>
                <a:spcPts val="0"/>
              </a:spcAft>
              <a:buSzPts val="1400"/>
              <a:buChar char="○"/>
            </a:pPr>
            <a:r>
              <a:rPr lang="en"/>
              <a:t>I.e. ssh user@1.2.3.4 -L </a:t>
            </a:r>
            <a:r>
              <a:rPr lang="en">
                <a:solidFill>
                  <a:srgbClr val="FF0000"/>
                </a:solidFill>
              </a:rPr>
              <a:t>127.0.0.1</a:t>
            </a:r>
            <a:r>
              <a:rPr lang="en"/>
              <a:t>:</a:t>
            </a:r>
            <a:r>
              <a:rPr lang="en">
                <a:solidFill>
                  <a:schemeClr val="accent6"/>
                </a:solidFill>
              </a:rPr>
              <a:t>4321</a:t>
            </a:r>
            <a:r>
              <a:rPr lang="en"/>
              <a:t>:192.168.0.2:22</a:t>
            </a:r>
            <a:endParaRPr/>
          </a:p>
          <a:p>
            <a:pPr indent="-317500" lvl="1" marL="914400" marR="0" rtl="0" algn="l">
              <a:lnSpc>
                <a:spcPct val="100000"/>
              </a:lnSpc>
              <a:spcBef>
                <a:spcPts val="0"/>
              </a:spcBef>
              <a:spcAft>
                <a:spcPts val="0"/>
              </a:spcAft>
              <a:buSzPts val="1400"/>
              <a:buChar char="○"/>
            </a:pPr>
            <a:r>
              <a:rPr lang="en"/>
              <a:t>ssh user@</a:t>
            </a:r>
            <a:r>
              <a:rPr lang="en">
                <a:solidFill>
                  <a:srgbClr val="FF0000"/>
                </a:solidFill>
              </a:rPr>
              <a:t>127.0.0.1</a:t>
            </a:r>
            <a:r>
              <a:rPr lang="en"/>
              <a:t> -p </a:t>
            </a:r>
            <a:r>
              <a:rPr lang="en">
                <a:solidFill>
                  <a:schemeClr val="accent6"/>
                </a:solidFill>
              </a:rPr>
              <a:t>4321</a:t>
            </a:r>
            <a:endParaRPr>
              <a:solidFill>
                <a:schemeClr val="accent6"/>
              </a:solidFill>
            </a:endParaRPr>
          </a:p>
          <a:p>
            <a:pPr indent="0" lvl="0" marL="0" marR="0" rtl="0" algn="l">
              <a:lnSpc>
                <a:spcPct val="100000"/>
              </a:lnSpc>
              <a:spcBef>
                <a:spcPts val="0"/>
              </a:spcBef>
              <a:spcAft>
                <a:spcPts val="0"/>
              </a:spcAft>
              <a:buNone/>
            </a:pPr>
            <a:r>
              <a:t/>
            </a:r>
            <a:endParaRPr/>
          </a:p>
          <a:p>
            <a:pPr indent="-317500" lvl="0" marL="457200" marR="0" rtl="0" algn="l">
              <a:lnSpc>
                <a:spcPct val="100000"/>
              </a:lnSpc>
              <a:spcBef>
                <a:spcPts val="0"/>
              </a:spcBef>
              <a:spcAft>
                <a:spcPts val="0"/>
              </a:spcAft>
              <a:buSzPts val="1400"/>
              <a:buChar char="●"/>
            </a:pPr>
            <a:r>
              <a:rPr lang="en"/>
              <a:t>127.0.0.1 and localhost are always relative to whoever is sending the packet. </a:t>
            </a:r>
            <a:endParaRPr/>
          </a:p>
          <a:p>
            <a:pPr indent="-317500" lvl="1" marL="914400" marR="0" rtl="0" algn="l">
              <a:lnSpc>
                <a:spcPct val="100000"/>
              </a:lnSpc>
              <a:spcBef>
                <a:spcPts val="0"/>
              </a:spcBef>
              <a:spcAft>
                <a:spcPts val="0"/>
              </a:spcAft>
              <a:buSzPts val="1400"/>
              <a:buChar char="○"/>
            </a:pPr>
            <a:r>
              <a:rPr lang="en"/>
              <a:t>ssh user@</a:t>
            </a:r>
            <a:r>
              <a:rPr lang="en">
                <a:solidFill>
                  <a:srgbClr val="FF0000"/>
                </a:solidFill>
              </a:rPr>
              <a:t>localhost</a:t>
            </a:r>
            <a:r>
              <a:rPr lang="en"/>
              <a:t> -L </a:t>
            </a:r>
            <a:r>
              <a:rPr lang="en">
                <a:solidFill>
                  <a:srgbClr val="FF0000"/>
                </a:solidFill>
              </a:rPr>
              <a:t>localhost</a:t>
            </a:r>
            <a:r>
              <a:rPr lang="en"/>
              <a:t>:1234:</a:t>
            </a:r>
            <a:r>
              <a:rPr lang="en">
                <a:solidFill>
                  <a:srgbClr val="0000FF"/>
                </a:solidFill>
              </a:rPr>
              <a:t>localhost</a:t>
            </a:r>
            <a:r>
              <a:rPr lang="en"/>
              <a:t>:22 -R </a:t>
            </a:r>
            <a:r>
              <a:rPr lang="en">
                <a:solidFill>
                  <a:srgbClr val="0000FF"/>
                </a:solidFill>
              </a:rPr>
              <a:t>localhost</a:t>
            </a:r>
            <a:r>
              <a:rPr lang="en"/>
              <a:t>:4321:</a:t>
            </a:r>
            <a:r>
              <a:rPr lang="en">
                <a:solidFill>
                  <a:srgbClr val="FF0000"/>
                </a:solidFill>
              </a:rPr>
              <a:t>localhost</a:t>
            </a:r>
            <a:r>
              <a:rPr lang="en"/>
              <a:t>:8765</a:t>
            </a:r>
            <a:endParaRPr/>
          </a:p>
          <a:p>
            <a:pPr indent="-317500" lvl="1" marL="914400" marR="0" rtl="0" algn="l">
              <a:lnSpc>
                <a:spcPct val="100000"/>
              </a:lnSpc>
              <a:spcBef>
                <a:spcPts val="0"/>
              </a:spcBef>
              <a:spcAft>
                <a:spcPts val="0"/>
              </a:spcAft>
              <a:buSzPts val="1400"/>
              <a:buChar char="○"/>
            </a:pPr>
            <a:r>
              <a:rPr lang="en">
                <a:solidFill>
                  <a:srgbClr val="FF0000"/>
                </a:solidFill>
              </a:rPr>
              <a:t>(Local) Client’s localhost </a:t>
            </a:r>
            <a:r>
              <a:rPr lang="en"/>
              <a:t>    </a:t>
            </a:r>
            <a:r>
              <a:rPr lang="en">
                <a:solidFill>
                  <a:srgbClr val="0000FF"/>
                </a:solidFill>
              </a:rPr>
              <a:t>(Remote) server’s localhost</a:t>
            </a:r>
            <a:endParaRPr>
              <a:solidFill>
                <a:srgbClr val="0000FF"/>
              </a:solidFill>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sz="110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68"/>
          <p:cNvSpPr txBox="1"/>
          <p:nvPr>
            <p:ph type="title"/>
          </p:nvPr>
        </p:nvSpPr>
        <p:spPr>
          <a:xfrm>
            <a:off x="1092300" y="172625"/>
            <a:ext cx="78204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SSH Tunnel - Troubleshooting </a:t>
            </a:r>
            <a:endParaRPr b="0" i="0" sz="3000" u="none" cap="none" strike="noStrike">
              <a:solidFill>
                <a:schemeClr val="dk1"/>
              </a:solidFill>
              <a:latin typeface="Calibri"/>
              <a:ea typeface="Calibri"/>
              <a:cs typeface="Calibri"/>
              <a:sym typeface="Calibri"/>
            </a:endParaRPr>
          </a:p>
        </p:txBody>
      </p:sp>
      <p:sp>
        <p:nvSpPr>
          <p:cNvPr id="596" name="Google Shape;596;p68"/>
          <p:cNvSpPr txBox="1"/>
          <p:nvPr/>
        </p:nvSpPr>
        <p:spPr>
          <a:xfrm>
            <a:off x="932250" y="647225"/>
            <a:ext cx="7447500" cy="409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a:t>So you’ve set up a tunnel, but you’re still unable to reach the host you’re aiming for. Check for the following for common tunneling mistakes.</a:t>
            </a:r>
            <a:endParaRPr/>
          </a:p>
          <a:p>
            <a:pPr indent="0" lvl="0" marL="0" marR="0" rtl="0" algn="l">
              <a:lnSpc>
                <a:spcPct val="100000"/>
              </a:lnSpc>
              <a:spcBef>
                <a:spcPts val="0"/>
              </a:spcBef>
              <a:spcAft>
                <a:spcPts val="0"/>
              </a:spcAft>
              <a:buNone/>
            </a:pPr>
            <a:r>
              <a:t/>
            </a:r>
            <a:endParaRPr/>
          </a:p>
          <a:p>
            <a:pPr indent="-317500" lvl="0" marL="457200" marR="0" rtl="0" algn="l">
              <a:lnSpc>
                <a:spcPct val="100000"/>
              </a:lnSpc>
              <a:spcBef>
                <a:spcPts val="0"/>
              </a:spcBef>
              <a:spcAft>
                <a:spcPts val="0"/>
              </a:spcAft>
              <a:buSzPts val="1400"/>
              <a:buChar char="●"/>
            </a:pPr>
            <a:r>
              <a:rPr lang="en"/>
              <a:t>Is your ssh connection syntax pointing at your tunnel or someplace else? </a:t>
            </a:r>
            <a:br>
              <a:rPr lang="en"/>
            </a:br>
            <a:r>
              <a:rPr lang="en"/>
              <a:t>Me &gt; 10.50.100.200:22 &gt; 192.168.0.3:22 – -L 127.0.0.1:3333:192.168.0.3:3333</a:t>
            </a:r>
            <a:endParaRPr/>
          </a:p>
          <a:p>
            <a:pPr indent="-317500" lvl="1" marL="914400" marR="0" rtl="0" algn="l">
              <a:lnSpc>
                <a:spcPct val="100000"/>
              </a:lnSpc>
              <a:spcBef>
                <a:spcPts val="0"/>
              </a:spcBef>
              <a:spcAft>
                <a:spcPts val="0"/>
              </a:spcAft>
              <a:buSzPts val="1400"/>
              <a:buChar char="○"/>
            </a:pPr>
            <a:r>
              <a:rPr lang="en"/>
              <a:t>Correct: ssh user@127.0.0.1 -p 3333</a:t>
            </a:r>
            <a:endParaRPr/>
          </a:p>
          <a:p>
            <a:pPr indent="-317500" lvl="1" marL="914400" marR="0" rtl="0" algn="l">
              <a:lnSpc>
                <a:spcPct val="100000"/>
              </a:lnSpc>
              <a:spcBef>
                <a:spcPts val="0"/>
              </a:spcBef>
              <a:spcAft>
                <a:spcPts val="0"/>
              </a:spcAft>
              <a:buSzPts val="1400"/>
              <a:buChar char="○"/>
            </a:pPr>
            <a:r>
              <a:rPr lang="en"/>
              <a:t>Incorrect: ssh user@10.50.100.200 -p 3333</a:t>
            </a:r>
            <a:endParaRPr/>
          </a:p>
          <a:p>
            <a:pPr indent="-317500" lvl="1" marL="914400" marR="0" rtl="0" algn="l">
              <a:lnSpc>
                <a:spcPct val="100000"/>
              </a:lnSpc>
              <a:spcBef>
                <a:spcPts val="0"/>
              </a:spcBef>
              <a:spcAft>
                <a:spcPts val="0"/>
              </a:spcAft>
              <a:buSzPts val="1400"/>
              <a:buChar char="○"/>
            </a:pPr>
            <a:r>
              <a:rPr lang="en"/>
              <a:t>Incorrect: ssh user@192.168.0.3 -p 3333</a:t>
            </a:r>
            <a:endParaRPr/>
          </a:p>
          <a:p>
            <a:pPr indent="-317500" lvl="1" marL="914400" rtl="0" algn="l">
              <a:spcBef>
                <a:spcPts val="0"/>
              </a:spcBef>
              <a:spcAft>
                <a:spcPts val="0"/>
              </a:spcAft>
              <a:buClr>
                <a:schemeClr val="dk2"/>
              </a:buClr>
              <a:buSzPts val="1400"/>
              <a:buChar char="○"/>
            </a:pPr>
            <a:r>
              <a:rPr lang="en">
                <a:solidFill>
                  <a:schemeClr val="dk2"/>
                </a:solidFill>
              </a:rPr>
              <a:t>Incorrect: ssh user@192.168.0.3 -p 22</a:t>
            </a:r>
            <a:endParaRPr>
              <a:solidFill>
                <a:schemeClr val="dk2"/>
              </a:solidFill>
            </a:endParaRPr>
          </a:p>
          <a:p>
            <a:pPr indent="-317500" lvl="0" marL="457200" marR="0" rtl="0" algn="l">
              <a:lnSpc>
                <a:spcPct val="100000"/>
              </a:lnSpc>
              <a:spcBef>
                <a:spcPts val="0"/>
              </a:spcBef>
              <a:spcAft>
                <a:spcPts val="0"/>
              </a:spcAft>
              <a:buSzPts val="1400"/>
              <a:buChar char="●"/>
            </a:pPr>
            <a:r>
              <a:rPr lang="en"/>
              <a:t>Did you establish the tunnel on the wrong device? </a:t>
            </a:r>
            <a:r>
              <a:rPr lang="en">
                <a:solidFill>
                  <a:schemeClr val="dk2"/>
                </a:solidFill>
              </a:rPr>
              <a:t>Look at who you connected to when you established the tunnel. It should be the previous hop.</a:t>
            </a:r>
            <a:endParaRPr>
              <a:solidFill>
                <a:schemeClr val="dk2"/>
              </a:solidFill>
            </a:endParaRPr>
          </a:p>
          <a:p>
            <a:pPr indent="-317500" lvl="0" marL="457200" marR="0" rtl="0" algn="l">
              <a:lnSpc>
                <a:spcPct val="100000"/>
              </a:lnSpc>
              <a:spcBef>
                <a:spcPts val="0"/>
              </a:spcBef>
              <a:spcAft>
                <a:spcPts val="0"/>
              </a:spcAft>
              <a:buClr>
                <a:schemeClr val="dk2"/>
              </a:buClr>
              <a:buSzPts val="1400"/>
              <a:buChar char="●"/>
            </a:pPr>
            <a:r>
              <a:rPr lang="en">
                <a:solidFill>
                  <a:schemeClr val="dk2"/>
                </a:solidFill>
              </a:rPr>
              <a:t>Was the port already bound? If you’ve used the same port number earlier on a previous tunnel and that session is still active, all traffic is being sent to that old session, not your new one. This is especially common when doing dynamic -D 9050</a:t>
            </a:r>
            <a:endParaRPr>
              <a:solidFill>
                <a:schemeClr val="dk2"/>
              </a:solidFill>
            </a:endParaRPr>
          </a:p>
          <a:p>
            <a:pPr indent="-317500" lvl="0" marL="457200" marR="0" rtl="0" algn="l">
              <a:lnSpc>
                <a:spcPct val="100000"/>
              </a:lnSpc>
              <a:spcBef>
                <a:spcPts val="0"/>
              </a:spcBef>
              <a:spcAft>
                <a:spcPts val="0"/>
              </a:spcAft>
              <a:buClr>
                <a:schemeClr val="dk2"/>
              </a:buClr>
              <a:buSzPts val="1400"/>
              <a:buChar char="●"/>
            </a:pPr>
            <a:r>
              <a:rPr lang="en">
                <a:solidFill>
                  <a:schemeClr val="dk2"/>
                </a:solidFill>
              </a:rPr>
              <a:t>Are you running your ssh connection command from the same device you established the tunnel? If you built the tunnel from your opstation but are attempting to connect to the tunnel from your jump box, you’re gonna have problems.</a:t>
            </a:r>
            <a:endParaRPr>
              <a:solidFill>
                <a:schemeClr val="dk2"/>
              </a:solidFill>
            </a:endParaRPr>
          </a:p>
          <a:p>
            <a:pPr indent="-317500" lvl="0" marL="457200" marR="0" rtl="0" algn="l">
              <a:lnSpc>
                <a:spcPct val="100000"/>
              </a:lnSpc>
              <a:spcBef>
                <a:spcPts val="0"/>
              </a:spcBef>
              <a:spcAft>
                <a:spcPts val="0"/>
              </a:spcAft>
              <a:buClr>
                <a:schemeClr val="dk2"/>
              </a:buClr>
              <a:buSzPts val="1400"/>
              <a:buChar char="●"/>
            </a:pPr>
            <a:r>
              <a:rPr lang="en">
                <a:solidFill>
                  <a:schemeClr val="dk2"/>
                </a:solidFill>
              </a:rPr>
              <a:t>Check credentials and tunnel IPs and ports very carefully for typoes. It happens. A lot.</a:t>
            </a:r>
            <a:endParaRPr>
              <a:solidFill>
                <a:schemeClr val="dk2"/>
              </a:solidFill>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sz="1100">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69"/>
          <p:cNvSpPr txBox="1"/>
          <p:nvPr>
            <p:ph type="title"/>
          </p:nvPr>
        </p:nvSpPr>
        <p:spPr>
          <a:xfrm>
            <a:off x="623888" y="996555"/>
            <a:ext cx="7886700" cy="2139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lang="en"/>
              <a:t>BONUS TUNNELING!</a:t>
            </a:r>
            <a:br>
              <a:rPr lang="en"/>
            </a:br>
            <a:br>
              <a:rPr lang="en"/>
            </a:br>
            <a:r>
              <a:rPr lang="en"/>
              <a:t>The TELNET-SSH</a:t>
            </a:r>
            <a:br>
              <a:rPr lang="en"/>
            </a:br>
            <a:r>
              <a:rPr lang="en"/>
              <a:t>-R Loop De Loop</a:t>
            </a:r>
            <a:endParaRPr b="1" i="0" sz="3400" u="none" cap="none" strike="noStrike">
              <a:solidFill>
                <a:schemeClr val="dk1"/>
              </a:solidFill>
              <a:latin typeface="Arial"/>
              <a:ea typeface="Arial"/>
              <a:cs typeface="Arial"/>
              <a:sym typeface="Arial"/>
            </a:endParaRPr>
          </a:p>
        </p:txBody>
      </p:sp>
      <p:sp>
        <p:nvSpPr>
          <p:cNvPr id="602" name="Google Shape;602;p69"/>
          <p:cNvSpPr txBox="1"/>
          <p:nvPr>
            <p:ph idx="1" type="body"/>
          </p:nvPr>
        </p:nvSpPr>
        <p:spPr>
          <a:xfrm>
            <a:off x="623888" y="3156349"/>
            <a:ext cx="7886700" cy="1596300"/>
          </a:xfrm>
          <a:prstGeom prst="rect">
            <a:avLst/>
          </a:prstGeom>
          <a:noFill/>
          <a:ln>
            <a:noFill/>
          </a:ln>
        </p:spPr>
        <p:txBody>
          <a:bodyPr anchorCtr="0" anchor="t" bIns="68575" lIns="68575" spcFirstLastPara="1" rIns="68575" wrap="square" tIns="68575">
            <a:noAutofit/>
          </a:bodyPr>
          <a:lstStyle/>
          <a:p>
            <a:pPr indent="0" lvl="0" marL="0" marR="0" rtl="0" algn="ctr">
              <a:lnSpc>
                <a:spcPct val="90000"/>
              </a:lnSpc>
              <a:spcBef>
                <a:spcPts val="600"/>
              </a:spcBef>
              <a:spcAft>
                <a:spcPts val="0"/>
              </a:spcAft>
              <a:buClr>
                <a:srgbClr val="888888"/>
              </a:buClr>
              <a:buSzPts val="1600"/>
              <a:buFont typeface="Arial"/>
              <a:buNone/>
            </a:pPr>
            <a:r>
              <a:rPr lang="en"/>
              <a:t>Basics, Master Control Sockets</a:t>
            </a:r>
            <a:endParaRPr b="0" i="0" sz="1400" u="none" cap="none" strike="noStrike">
              <a:solidFill>
                <a:srgbClr val="888888"/>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pic>
        <p:nvPicPr>
          <p:cNvPr id="607" name="Google Shape;607;p70"/>
          <p:cNvPicPr preferRelativeResize="0"/>
          <p:nvPr/>
        </p:nvPicPr>
        <p:blipFill>
          <a:blip r:embed="rId3">
            <a:alphaModFix/>
          </a:blip>
          <a:stretch>
            <a:fillRect/>
          </a:stretch>
        </p:blipFill>
        <p:spPr>
          <a:xfrm>
            <a:off x="4177075" y="125225"/>
            <a:ext cx="4787125" cy="4893050"/>
          </a:xfrm>
          <a:prstGeom prst="rect">
            <a:avLst/>
          </a:prstGeom>
          <a:noFill/>
          <a:ln>
            <a:noFill/>
          </a:ln>
        </p:spPr>
      </p:pic>
      <p:sp>
        <p:nvSpPr>
          <p:cNvPr id="608" name="Google Shape;608;p70"/>
          <p:cNvSpPr txBox="1"/>
          <p:nvPr/>
        </p:nvSpPr>
        <p:spPr>
          <a:xfrm>
            <a:off x="115575" y="834775"/>
            <a:ext cx="3852900" cy="39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 really want to ssh into T2 because I want to scan that 172.16.0.0/24 network, but darn the luck. T2 is in an internal network, and insult to injury, it looks like the ssh port on T2 is only listening internally on its loopback interface. I can’t access T2’s ssh from anywhere but inside T2, and I really need to set up that -D 9050 dynamic tunnel.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 can I get there? </a:t>
            </a:r>
            <a:r>
              <a:rPr lang="en">
                <a:solidFill>
                  <a:schemeClr val="dk1"/>
                </a:solidFill>
              </a:rPr>
              <a:t>T1 has ssh open internally and externally, but what good does that do me?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Answer: Lots</a:t>
            </a:r>
            <a:endParaRPr/>
          </a:p>
        </p:txBody>
      </p:sp>
      <p:sp>
        <p:nvSpPr>
          <p:cNvPr id="609" name="Google Shape;609;p70"/>
          <p:cNvSpPr txBox="1"/>
          <p:nvPr/>
        </p:nvSpPr>
        <p:spPr>
          <a:xfrm>
            <a:off x="1091625" y="218325"/>
            <a:ext cx="3544500" cy="5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Telnet -R Loop De Loop</a:t>
            </a:r>
            <a:endParaRPr sz="18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p71"/>
          <p:cNvPicPr preferRelativeResize="0"/>
          <p:nvPr/>
        </p:nvPicPr>
        <p:blipFill>
          <a:blip r:embed="rId3">
            <a:alphaModFix/>
          </a:blip>
          <a:stretch>
            <a:fillRect/>
          </a:stretch>
        </p:blipFill>
        <p:spPr>
          <a:xfrm>
            <a:off x="4177075" y="125225"/>
            <a:ext cx="4787125" cy="4893050"/>
          </a:xfrm>
          <a:prstGeom prst="rect">
            <a:avLst/>
          </a:prstGeom>
          <a:noFill/>
          <a:ln>
            <a:noFill/>
          </a:ln>
        </p:spPr>
      </p:pic>
      <p:sp>
        <p:nvSpPr>
          <p:cNvPr id="615" name="Google Shape;615;p71"/>
          <p:cNvSpPr/>
          <p:nvPr/>
        </p:nvSpPr>
        <p:spPr>
          <a:xfrm>
            <a:off x="4944425" y="924675"/>
            <a:ext cx="1425600" cy="411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user@.78</a:t>
            </a:r>
            <a:endParaRPr/>
          </a:p>
        </p:txBody>
      </p:sp>
      <p:sp>
        <p:nvSpPr>
          <p:cNvPr id="616" name="Google Shape;616;p71"/>
          <p:cNvSpPr txBox="1"/>
          <p:nvPr/>
        </p:nvSpPr>
        <p:spPr>
          <a:xfrm>
            <a:off x="115575" y="834775"/>
            <a:ext cx="3852900" cy="39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SSH from Me to T1’s ssh port, and while we’re at it, set up a tunnel to T2’s telnet port. I can’t ssh into T2, but I can telnet, so let me take what crumbs I can.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Me:</a:t>
            </a:r>
            <a:endParaRPr/>
          </a:p>
          <a:p>
            <a:pPr indent="0" lvl="0" marL="0" rtl="0" algn="l">
              <a:spcBef>
                <a:spcPts val="0"/>
              </a:spcBef>
              <a:spcAft>
                <a:spcPts val="0"/>
              </a:spcAft>
              <a:buNone/>
            </a:pPr>
            <a:r>
              <a:rPr lang="en">
                <a:solidFill>
                  <a:srgbClr val="FF0000"/>
                </a:solidFill>
              </a:rPr>
              <a:t>ssh user@12.34.56.78 -L2323:192.168.0.2:23</a:t>
            </a:r>
            <a:endParaRPr>
              <a:solidFill>
                <a:srgbClr val="FF0000"/>
              </a:solidFill>
            </a:endParaRPr>
          </a:p>
        </p:txBody>
      </p:sp>
      <p:sp>
        <p:nvSpPr>
          <p:cNvPr id="617" name="Google Shape;617;p71"/>
          <p:cNvSpPr/>
          <p:nvPr/>
        </p:nvSpPr>
        <p:spPr>
          <a:xfrm>
            <a:off x="4931600" y="1232900"/>
            <a:ext cx="2249700" cy="52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 2323:192.168.0.2:23</a:t>
            </a:r>
            <a:endParaRPr/>
          </a:p>
          <a:p>
            <a:pPr indent="0" lvl="0" marL="0" rtl="0" algn="l">
              <a:spcBef>
                <a:spcPts val="0"/>
              </a:spcBef>
              <a:spcAft>
                <a:spcPts val="0"/>
              </a:spcAft>
              <a:buNone/>
            </a:pPr>
            <a:r>
              <a:t/>
            </a:r>
            <a:endParaRPr/>
          </a:p>
        </p:txBody>
      </p:sp>
      <p:sp>
        <p:nvSpPr>
          <p:cNvPr id="618" name="Google Shape;618;p71"/>
          <p:cNvSpPr txBox="1"/>
          <p:nvPr/>
        </p:nvSpPr>
        <p:spPr>
          <a:xfrm>
            <a:off x="1091625" y="218325"/>
            <a:ext cx="3544500" cy="5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Telnet -R Loop De Loop</a:t>
            </a:r>
            <a:endParaRPr sz="18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pic>
        <p:nvPicPr>
          <p:cNvPr id="623" name="Google Shape;623;p72"/>
          <p:cNvPicPr preferRelativeResize="0"/>
          <p:nvPr/>
        </p:nvPicPr>
        <p:blipFill>
          <a:blip r:embed="rId3">
            <a:alphaModFix/>
          </a:blip>
          <a:stretch>
            <a:fillRect/>
          </a:stretch>
        </p:blipFill>
        <p:spPr>
          <a:xfrm>
            <a:off x="4177075" y="125225"/>
            <a:ext cx="4787125" cy="4893050"/>
          </a:xfrm>
          <a:prstGeom prst="rect">
            <a:avLst/>
          </a:prstGeom>
          <a:noFill/>
          <a:ln>
            <a:noFill/>
          </a:ln>
        </p:spPr>
      </p:pic>
      <p:sp>
        <p:nvSpPr>
          <p:cNvPr id="624" name="Google Shape;624;p72"/>
          <p:cNvSpPr/>
          <p:nvPr/>
        </p:nvSpPr>
        <p:spPr>
          <a:xfrm>
            <a:off x="4944425" y="924675"/>
            <a:ext cx="1425600" cy="411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user@.78</a:t>
            </a:r>
            <a:endParaRPr/>
          </a:p>
        </p:txBody>
      </p:sp>
      <p:sp>
        <p:nvSpPr>
          <p:cNvPr id="625" name="Google Shape;625;p72"/>
          <p:cNvSpPr txBox="1"/>
          <p:nvPr/>
        </p:nvSpPr>
        <p:spPr>
          <a:xfrm>
            <a:off x="115575" y="834775"/>
            <a:ext cx="3852900" cy="39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From Me:</a:t>
            </a:r>
            <a:endParaRPr/>
          </a:p>
          <a:p>
            <a:pPr indent="0" lvl="0" marL="0" rtl="0" algn="l">
              <a:spcBef>
                <a:spcPts val="0"/>
              </a:spcBef>
              <a:spcAft>
                <a:spcPts val="0"/>
              </a:spcAft>
              <a:buNone/>
            </a:pPr>
            <a:r>
              <a:rPr lang="en"/>
              <a:t>ssh user@12.34.56.78 -L2323:192.168.0.2:23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we telnet to T2 via our tunnel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Me: </a:t>
            </a:r>
            <a:endParaRPr/>
          </a:p>
          <a:p>
            <a:pPr indent="0" lvl="0" marL="0" rtl="0" algn="l">
              <a:spcBef>
                <a:spcPts val="0"/>
              </a:spcBef>
              <a:spcAft>
                <a:spcPts val="0"/>
              </a:spcAft>
              <a:buNone/>
            </a:pPr>
            <a:r>
              <a:rPr lang="en">
                <a:solidFill>
                  <a:srgbClr val="FF0000"/>
                </a:solidFill>
              </a:rPr>
              <a:t>telnet 127.0.0.1 2323</a:t>
            </a:r>
            <a:endParaRPr>
              <a:solidFill>
                <a:srgbClr val="FF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Cool. Now I’m on T2, but gross. I’m in an unencrypted telnet session. And I can still only SSH in locally. What to do?</a:t>
            </a:r>
            <a:endParaRPr/>
          </a:p>
        </p:txBody>
      </p:sp>
      <p:sp>
        <p:nvSpPr>
          <p:cNvPr id="626" name="Google Shape;626;p72"/>
          <p:cNvSpPr/>
          <p:nvPr/>
        </p:nvSpPr>
        <p:spPr>
          <a:xfrm>
            <a:off x="4931600" y="1232900"/>
            <a:ext cx="2208900" cy="41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 2323:192.168.0.2:23</a:t>
            </a:r>
            <a:endParaRPr/>
          </a:p>
          <a:p>
            <a:pPr indent="0" lvl="0" marL="0" rtl="0" algn="ctr">
              <a:spcBef>
                <a:spcPts val="0"/>
              </a:spcBef>
              <a:spcAft>
                <a:spcPts val="0"/>
              </a:spcAft>
              <a:buNone/>
            </a:pPr>
            <a:r>
              <a:t/>
            </a:r>
            <a:endParaRPr/>
          </a:p>
        </p:txBody>
      </p:sp>
      <p:sp>
        <p:nvSpPr>
          <p:cNvPr id="627" name="Google Shape;627;p72"/>
          <p:cNvSpPr txBox="1"/>
          <p:nvPr/>
        </p:nvSpPr>
        <p:spPr>
          <a:xfrm>
            <a:off x="1091625" y="218325"/>
            <a:ext cx="3544500" cy="5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Telnet -R Loop De Loop</a:t>
            </a:r>
            <a:endParaRPr sz="1800"/>
          </a:p>
        </p:txBody>
      </p:sp>
      <p:sp>
        <p:nvSpPr>
          <p:cNvPr id="628" name="Google Shape;628;p72"/>
          <p:cNvSpPr/>
          <p:nvPr/>
        </p:nvSpPr>
        <p:spPr>
          <a:xfrm>
            <a:off x="4879863" y="1381100"/>
            <a:ext cx="3108000" cy="321000"/>
          </a:xfrm>
          <a:prstGeom prst="righ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Telnet 127.0.0.1 2323</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pic>
        <p:nvPicPr>
          <p:cNvPr id="633" name="Google Shape;633;p73"/>
          <p:cNvPicPr preferRelativeResize="0"/>
          <p:nvPr/>
        </p:nvPicPr>
        <p:blipFill>
          <a:blip r:embed="rId3">
            <a:alphaModFix/>
          </a:blip>
          <a:stretch>
            <a:fillRect/>
          </a:stretch>
        </p:blipFill>
        <p:spPr>
          <a:xfrm>
            <a:off x="4177075" y="125225"/>
            <a:ext cx="4787125" cy="4893050"/>
          </a:xfrm>
          <a:prstGeom prst="rect">
            <a:avLst/>
          </a:prstGeom>
          <a:noFill/>
          <a:ln>
            <a:noFill/>
          </a:ln>
        </p:spPr>
      </p:pic>
      <p:sp>
        <p:nvSpPr>
          <p:cNvPr id="634" name="Google Shape;634;p73"/>
          <p:cNvSpPr/>
          <p:nvPr/>
        </p:nvSpPr>
        <p:spPr>
          <a:xfrm>
            <a:off x="4944425" y="924675"/>
            <a:ext cx="1425600" cy="411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user@.78</a:t>
            </a:r>
            <a:endParaRPr/>
          </a:p>
        </p:txBody>
      </p:sp>
      <p:sp>
        <p:nvSpPr>
          <p:cNvPr id="635" name="Google Shape;635;p73"/>
          <p:cNvSpPr txBox="1"/>
          <p:nvPr/>
        </p:nvSpPr>
        <p:spPr>
          <a:xfrm>
            <a:off x="115575" y="834775"/>
            <a:ext cx="3852900" cy="39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 From Me: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ssh user@12.34.56.78 -L2323:192.168.0.2:23</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2. From Me: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telnet 127.0.0.1 2323</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T2 may be untrusting of inbound ssh, but it allows outbound, and T1 is a lot more receptive to my ssh requests, and is more than happy to forward traffic for me. Let’s take advantage of that.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 can ssh out to T1, and then tell T1 to listen on its loopback 12022 (or any port, really) and send it back to T2 to deliver to its own loopback on port 22!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From T2:</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FF0000"/>
                </a:solidFill>
              </a:rPr>
              <a:t>ssh user@192.168.0.1 -R 12022:127.0.0.1:22</a:t>
            </a:r>
            <a:endParaRPr>
              <a:solidFill>
                <a:srgbClr val="FF0000"/>
              </a:solidFill>
            </a:endParaRPr>
          </a:p>
        </p:txBody>
      </p:sp>
      <p:sp>
        <p:nvSpPr>
          <p:cNvPr id="636" name="Google Shape;636;p73"/>
          <p:cNvSpPr/>
          <p:nvPr/>
        </p:nvSpPr>
        <p:spPr>
          <a:xfrm>
            <a:off x="4931600" y="1232900"/>
            <a:ext cx="2208900" cy="41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 2323:192.168.0.2:23</a:t>
            </a:r>
            <a:endParaRPr/>
          </a:p>
          <a:p>
            <a:pPr indent="0" lvl="0" marL="0" rtl="0" algn="ctr">
              <a:spcBef>
                <a:spcPts val="0"/>
              </a:spcBef>
              <a:spcAft>
                <a:spcPts val="0"/>
              </a:spcAft>
              <a:buNone/>
            </a:pPr>
            <a:r>
              <a:t/>
            </a:r>
            <a:endParaRPr/>
          </a:p>
        </p:txBody>
      </p:sp>
      <p:sp>
        <p:nvSpPr>
          <p:cNvPr id="637" name="Google Shape;637;p73"/>
          <p:cNvSpPr txBox="1"/>
          <p:nvPr/>
        </p:nvSpPr>
        <p:spPr>
          <a:xfrm>
            <a:off x="1091625" y="218325"/>
            <a:ext cx="3544500" cy="5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Telnet -R Loop De Loop</a:t>
            </a:r>
            <a:endParaRPr sz="1800"/>
          </a:p>
        </p:txBody>
      </p:sp>
      <p:sp>
        <p:nvSpPr>
          <p:cNvPr id="638" name="Google Shape;638;p73"/>
          <p:cNvSpPr/>
          <p:nvPr/>
        </p:nvSpPr>
        <p:spPr>
          <a:xfrm>
            <a:off x="4879863" y="1381100"/>
            <a:ext cx="3108000" cy="321000"/>
          </a:xfrm>
          <a:prstGeom prst="righ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Telnet 127.0.0.1 2323</a:t>
            </a:r>
            <a:endParaRPr/>
          </a:p>
        </p:txBody>
      </p:sp>
      <p:sp>
        <p:nvSpPr>
          <p:cNvPr id="639" name="Google Shape;639;p73"/>
          <p:cNvSpPr/>
          <p:nvPr/>
        </p:nvSpPr>
        <p:spPr>
          <a:xfrm rot="5400000">
            <a:off x="8469600" y="1474575"/>
            <a:ext cx="346800" cy="411000"/>
          </a:xfrm>
          <a:prstGeom prst="uturnArrow">
            <a:avLst>
              <a:gd fmla="val 25000" name="adj1"/>
              <a:gd fmla="val 25000" name="adj2"/>
              <a:gd fmla="val 25000" name="adj3"/>
              <a:gd fmla="val 43750" name="adj4"/>
              <a:gd fmla="val 75000" name="adj5"/>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73"/>
          <p:cNvSpPr/>
          <p:nvPr/>
        </p:nvSpPr>
        <p:spPr>
          <a:xfrm>
            <a:off x="7140500" y="1956875"/>
            <a:ext cx="1113900" cy="48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-R 12022:lo:22</a:t>
            </a:r>
            <a:endParaRPr sz="1100"/>
          </a:p>
          <a:p>
            <a:pPr indent="0" lvl="0" marL="0" rtl="0" algn="l">
              <a:spcBef>
                <a:spcPts val="0"/>
              </a:spcBef>
              <a:spcAft>
                <a:spcPts val="0"/>
              </a:spcAft>
              <a:buNone/>
            </a:pPr>
            <a:r>
              <a:rPr lang="en" sz="1100"/>
              <a:t>&gt;12022</a:t>
            </a:r>
            <a:endParaRPr sz="1100"/>
          </a:p>
          <a:p>
            <a:pPr indent="0" lvl="0" marL="0" rtl="0" algn="l">
              <a:spcBef>
                <a:spcPts val="0"/>
              </a:spcBef>
              <a:spcAft>
                <a:spcPts val="0"/>
              </a:spcAft>
              <a:buNone/>
            </a:pPr>
            <a:r>
              <a:t/>
            </a:r>
            <a:endParaRPr sz="1100"/>
          </a:p>
        </p:txBody>
      </p:sp>
      <p:sp>
        <p:nvSpPr>
          <p:cNvPr id="641" name="Google Shape;641;p73"/>
          <p:cNvSpPr/>
          <p:nvPr/>
        </p:nvSpPr>
        <p:spPr>
          <a:xfrm>
            <a:off x="7076400" y="1702100"/>
            <a:ext cx="1361100" cy="321000"/>
          </a:xfrm>
          <a:prstGeom prst="lef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user@.1</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pic>
        <p:nvPicPr>
          <p:cNvPr id="646" name="Google Shape;646;p74"/>
          <p:cNvPicPr preferRelativeResize="0"/>
          <p:nvPr/>
        </p:nvPicPr>
        <p:blipFill>
          <a:blip r:embed="rId3">
            <a:alphaModFix/>
          </a:blip>
          <a:stretch>
            <a:fillRect/>
          </a:stretch>
        </p:blipFill>
        <p:spPr>
          <a:xfrm>
            <a:off x="4177075" y="125225"/>
            <a:ext cx="4787125" cy="4893050"/>
          </a:xfrm>
          <a:prstGeom prst="rect">
            <a:avLst/>
          </a:prstGeom>
          <a:noFill/>
          <a:ln>
            <a:noFill/>
          </a:ln>
        </p:spPr>
      </p:pic>
      <p:sp>
        <p:nvSpPr>
          <p:cNvPr id="647" name="Google Shape;647;p74"/>
          <p:cNvSpPr/>
          <p:nvPr/>
        </p:nvSpPr>
        <p:spPr>
          <a:xfrm>
            <a:off x="4944425" y="924675"/>
            <a:ext cx="1425600" cy="411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user@.78</a:t>
            </a:r>
            <a:endParaRPr/>
          </a:p>
        </p:txBody>
      </p:sp>
      <p:sp>
        <p:nvSpPr>
          <p:cNvPr id="648" name="Google Shape;648;p74"/>
          <p:cNvSpPr txBox="1"/>
          <p:nvPr/>
        </p:nvSpPr>
        <p:spPr>
          <a:xfrm>
            <a:off x="115575" y="834775"/>
            <a:ext cx="4061400" cy="39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 From Me:</a:t>
            </a:r>
            <a:endParaRPr>
              <a:solidFill>
                <a:schemeClr val="dk1"/>
              </a:solidFill>
            </a:endParaRPr>
          </a:p>
          <a:p>
            <a:pPr indent="0" lvl="0" marL="0" rtl="0" algn="l">
              <a:spcBef>
                <a:spcPts val="0"/>
              </a:spcBef>
              <a:spcAft>
                <a:spcPts val="0"/>
              </a:spcAft>
              <a:buNone/>
            </a:pPr>
            <a:r>
              <a:rPr lang="en">
                <a:solidFill>
                  <a:schemeClr val="dk1"/>
                </a:solidFill>
              </a:rPr>
              <a:t>ssh user@12.34.56.78 -L2323:192.168.0.2:23</a:t>
            </a:r>
            <a:endParaRPr>
              <a:solidFill>
                <a:schemeClr val="dk1"/>
              </a:solidFill>
            </a:endParaRPr>
          </a:p>
          <a:p>
            <a:pPr indent="0" lvl="0" marL="0" rtl="0" algn="l">
              <a:spcBef>
                <a:spcPts val="0"/>
              </a:spcBef>
              <a:spcAft>
                <a:spcPts val="0"/>
              </a:spcAft>
              <a:buNone/>
            </a:pPr>
            <a:r>
              <a:rPr lang="en">
                <a:solidFill>
                  <a:schemeClr val="dk1"/>
                </a:solidFill>
              </a:rPr>
              <a:t>2. From Me: </a:t>
            </a:r>
            <a:endParaRPr>
              <a:solidFill>
                <a:schemeClr val="dk1"/>
              </a:solidFill>
            </a:endParaRPr>
          </a:p>
          <a:p>
            <a:pPr indent="0" lvl="0" marL="0" rtl="0" algn="l">
              <a:spcBef>
                <a:spcPts val="0"/>
              </a:spcBef>
              <a:spcAft>
                <a:spcPts val="0"/>
              </a:spcAft>
              <a:buNone/>
            </a:pPr>
            <a:r>
              <a:rPr lang="en">
                <a:solidFill>
                  <a:schemeClr val="dk1"/>
                </a:solidFill>
              </a:rPr>
              <a:t>telnet 127.0.0.1 2323</a:t>
            </a:r>
            <a:endParaRPr>
              <a:solidFill>
                <a:schemeClr val="dk1"/>
              </a:solidFill>
            </a:endParaRPr>
          </a:p>
          <a:p>
            <a:pPr indent="0" lvl="0" marL="0" rtl="0" algn="l">
              <a:spcBef>
                <a:spcPts val="0"/>
              </a:spcBef>
              <a:spcAft>
                <a:spcPts val="0"/>
              </a:spcAft>
              <a:buNone/>
            </a:pPr>
            <a:r>
              <a:rPr lang="en">
                <a:solidFill>
                  <a:schemeClr val="dk1"/>
                </a:solidFill>
              </a:rPr>
              <a:t>3. From T2:</a:t>
            </a:r>
            <a:endParaRPr>
              <a:solidFill>
                <a:schemeClr val="dk1"/>
              </a:solidFill>
            </a:endParaRPr>
          </a:p>
          <a:p>
            <a:pPr indent="0" lvl="0" marL="0" rtl="0" algn="l">
              <a:spcBef>
                <a:spcPts val="0"/>
              </a:spcBef>
              <a:spcAft>
                <a:spcPts val="0"/>
              </a:spcAft>
              <a:buNone/>
            </a:pPr>
            <a:r>
              <a:rPr lang="en">
                <a:solidFill>
                  <a:schemeClr val="dk1"/>
                </a:solidFill>
              </a:rPr>
              <a:t>ssh user@192.168.0.1 -R 12022:127.0.0.1:22</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Cool. Now the inside of T1 can talk to the inside of T2. How does that help me?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can set up a tunnel on T1 to point to that inside loopback port on T1, which is pointing back to that inside ssh port on T2</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From Me:</a:t>
            </a:r>
            <a:endParaRPr>
              <a:solidFill>
                <a:schemeClr val="dk1"/>
              </a:solidFill>
            </a:endParaRPr>
          </a:p>
          <a:p>
            <a:pPr indent="0" lvl="0" marL="0" rtl="0" algn="l">
              <a:spcBef>
                <a:spcPts val="0"/>
              </a:spcBef>
              <a:spcAft>
                <a:spcPts val="0"/>
              </a:spcAft>
              <a:buNone/>
            </a:pPr>
            <a:r>
              <a:rPr lang="en">
                <a:solidFill>
                  <a:srgbClr val="FF0000"/>
                </a:solidFill>
              </a:rPr>
              <a:t>ssh user@12.34.56.78 -L12322:127.0.0.1:12022</a:t>
            </a:r>
            <a:endParaRPr>
              <a:solidFill>
                <a:srgbClr val="FF0000"/>
              </a:solidFill>
            </a:endParaRPr>
          </a:p>
          <a:p>
            <a:pPr indent="0" lvl="0" marL="0" rtl="0" algn="l">
              <a:spcBef>
                <a:spcPts val="0"/>
              </a:spcBef>
              <a:spcAft>
                <a:spcPts val="0"/>
              </a:spcAft>
              <a:buNone/>
            </a:pPr>
            <a:r>
              <a:rPr lang="en">
                <a:solidFill>
                  <a:srgbClr val="FF0000"/>
                </a:solidFill>
              </a:rPr>
              <a:t>OR</a:t>
            </a:r>
            <a:endParaRPr>
              <a:solidFill>
                <a:srgbClr val="FF0000"/>
              </a:solidFill>
            </a:endParaRPr>
          </a:p>
          <a:p>
            <a:pPr indent="0" lvl="0" marL="0" rtl="0" algn="l">
              <a:spcBef>
                <a:spcPts val="0"/>
              </a:spcBef>
              <a:spcAft>
                <a:spcPts val="0"/>
              </a:spcAft>
              <a:buNone/>
            </a:pPr>
            <a:r>
              <a:rPr lang="en">
                <a:solidFill>
                  <a:srgbClr val="FF0000"/>
                </a:solidFill>
              </a:rPr>
              <a:t>-O forward </a:t>
            </a:r>
            <a:r>
              <a:rPr lang="en">
                <a:solidFill>
                  <a:srgbClr val="FF0000"/>
                </a:solidFill>
              </a:rPr>
              <a:t>-L12322:127.0.0.1:12022 (If I used master sockets)</a:t>
            </a:r>
            <a:endParaRPr>
              <a:solidFill>
                <a:srgbClr val="FF0000"/>
              </a:solidFill>
            </a:endParaRPr>
          </a:p>
        </p:txBody>
      </p:sp>
      <p:sp>
        <p:nvSpPr>
          <p:cNvPr id="649" name="Google Shape;649;p74"/>
          <p:cNvSpPr/>
          <p:nvPr/>
        </p:nvSpPr>
        <p:spPr>
          <a:xfrm>
            <a:off x="4931600" y="1232900"/>
            <a:ext cx="2208900" cy="120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 2323:192.168.0.2:23</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-L 12322:localhost:12022</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650" name="Google Shape;650;p74"/>
          <p:cNvSpPr txBox="1"/>
          <p:nvPr/>
        </p:nvSpPr>
        <p:spPr>
          <a:xfrm>
            <a:off x="1091625" y="218325"/>
            <a:ext cx="3544500" cy="5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Telnet -R Loop De Loop</a:t>
            </a:r>
            <a:endParaRPr sz="1800"/>
          </a:p>
        </p:txBody>
      </p:sp>
      <p:sp>
        <p:nvSpPr>
          <p:cNvPr id="651" name="Google Shape;651;p74"/>
          <p:cNvSpPr/>
          <p:nvPr/>
        </p:nvSpPr>
        <p:spPr>
          <a:xfrm>
            <a:off x="4879863" y="1381100"/>
            <a:ext cx="3108000" cy="321000"/>
          </a:xfrm>
          <a:prstGeom prst="righ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Telnet 127.0.0.1 2323</a:t>
            </a:r>
            <a:endParaRPr/>
          </a:p>
        </p:txBody>
      </p:sp>
      <p:sp>
        <p:nvSpPr>
          <p:cNvPr id="652" name="Google Shape;652;p74"/>
          <p:cNvSpPr/>
          <p:nvPr/>
        </p:nvSpPr>
        <p:spPr>
          <a:xfrm rot="5400000">
            <a:off x="8469600" y="1474575"/>
            <a:ext cx="346800" cy="411000"/>
          </a:xfrm>
          <a:prstGeom prst="uturnArrow">
            <a:avLst>
              <a:gd fmla="val 25000" name="adj1"/>
              <a:gd fmla="val 25000" name="adj2"/>
              <a:gd fmla="val 25000" name="adj3"/>
              <a:gd fmla="val 43750" name="adj4"/>
              <a:gd fmla="val 75000" name="adj5"/>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74"/>
          <p:cNvSpPr/>
          <p:nvPr/>
        </p:nvSpPr>
        <p:spPr>
          <a:xfrm>
            <a:off x="7140500" y="1956875"/>
            <a:ext cx="1113900" cy="48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-R 12022:lo:22</a:t>
            </a:r>
            <a:endParaRPr sz="1100"/>
          </a:p>
          <a:p>
            <a:pPr indent="0" lvl="0" marL="0" rtl="0" algn="l">
              <a:spcBef>
                <a:spcPts val="0"/>
              </a:spcBef>
              <a:spcAft>
                <a:spcPts val="0"/>
              </a:spcAft>
              <a:buNone/>
            </a:pPr>
            <a:r>
              <a:rPr lang="en" sz="1100"/>
              <a:t>&gt;12022</a:t>
            </a:r>
            <a:endParaRPr sz="1100"/>
          </a:p>
          <a:p>
            <a:pPr indent="0" lvl="0" marL="0" rtl="0" algn="l">
              <a:spcBef>
                <a:spcPts val="0"/>
              </a:spcBef>
              <a:spcAft>
                <a:spcPts val="0"/>
              </a:spcAft>
              <a:buNone/>
            </a:pPr>
            <a:r>
              <a:t/>
            </a:r>
            <a:endParaRPr sz="1100"/>
          </a:p>
        </p:txBody>
      </p:sp>
      <p:sp>
        <p:nvSpPr>
          <p:cNvPr id="654" name="Google Shape;654;p74"/>
          <p:cNvSpPr/>
          <p:nvPr/>
        </p:nvSpPr>
        <p:spPr>
          <a:xfrm>
            <a:off x="7076400" y="1702100"/>
            <a:ext cx="1361100" cy="321000"/>
          </a:xfrm>
          <a:prstGeom prst="lef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user@.1</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pic>
        <p:nvPicPr>
          <p:cNvPr id="659" name="Google Shape;659;p75"/>
          <p:cNvPicPr preferRelativeResize="0"/>
          <p:nvPr/>
        </p:nvPicPr>
        <p:blipFill>
          <a:blip r:embed="rId3">
            <a:alphaModFix/>
          </a:blip>
          <a:stretch>
            <a:fillRect/>
          </a:stretch>
        </p:blipFill>
        <p:spPr>
          <a:xfrm>
            <a:off x="4177075" y="125225"/>
            <a:ext cx="4787125" cy="4893050"/>
          </a:xfrm>
          <a:prstGeom prst="rect">
            <a:avLst/>
          </a:prstGeom>
          <a:noFill/>
          <a:ln>
            <a:noFill/>
          </a:ln>
        </p:spPr>
      </p:pic>
      <p:sp>
        <p:nvSpPr>
          <p:cNvPr id="660" name="Google Shape;660;p75"/>
          <p:cNvSpPr/>
          <p:nvPr/>
        </p:nvSpPr>
        <p:spPr>
          <a:xfrm>
            <a:off x="4944425" y="924675"/>
            <a:ext cx="1425600" cy="411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user@.78</a:t>
            </a:r>
            <a:endParaRPr/>
          </a:p>
        </p:txBody>
      </p:sp>
      <p:sp>
        <p:nvSpPr>
          <p:cNvPr id="661" name="Google Shape;661;p75"/>
          <p:cNvSpPr txBox="1"/>
          <p:nvPr/>
        </p:nvSpPr>
        <p:spPr>
          <a:xfrm>
            <a:off x="115575" y="834775"/>
            <a:ext cx="4061400" cy="39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 From Me:</a:t>
            </a:r>
            <a:endParaRPr>
              <a:solidFill>
                <a:schemeClr val="dk1"/>
              </a:solidFill>
            </a:endParaRPr>
          </a:p>
          <a:p>
            <a:pPr indent="0" lvl="0" marL="0" rtl="0" algn="l">
              <a:spcBef>
                <a:spcPts val="0"/>
              </a:spcBef>
              <a:spcAft>
                <a:spcPts val="0"/>
              </a:spcAft>
              <a:buNone/>
            </a:pPr>
            <a:r>
              <a:rPr lang="en">
                <a:solidFill>
                  <a:schemeClr val="dk1"/>
                </a:solidFill>
              </a:rPr>
              <a:t>ssh user@12.34.56.78 -L2323:192.168.0.2:23</a:t>
            </a:r>
            <a:endParaRPr>
              <a:solidFill>
                <a:schemeClr val="dk1"/>
              </a:solidFill>
            </a:endParaRPr>
          </a:p>
          <a:p>
            <a:pPr indent="0" lvl="0" marL="0" rtl="0" algn="l">
              <a:spcBef>
                <a:spcPts val="0"/>
              </a:spcBef>
              <a:spcAft>
                <a:spcPts val="0"/>
              </a:spcAft>
              <a:buNone/>
            </a:pPr>
            <a:r>
              <a:rPr lang="en">
                <a:solidFill>
                  <a:schemeClr val="dk1"/>
                </a:solidFill>
              </a:rPr>
              <a:t>2. From Me: </a:t>
            </a:r>
            <a:endParaRPr>
              <a:solidFill>
                <a:schemeClr val="dk1"/>
              </a:solidFill>
            </a:endParaRPr>
          </a:p>
          <a:p>
            <a:pPr indent="0" lvl="0" marL="0" rtl="0" algn="l">
              <a:spcBef>
                <a:spcPts val="0"/>
              </a:spcBef>
              <a:spcAft>
                <a:spcPts val="0"/>
              </a:spcAft>
              <a:buNone/>
            </a:pPr>
            <a:r>
              <a:rPr lang="en">
                <a:solidFill>
                  <a:schemeClr val="dk1"/>
                </a:solidFill>
              </a:rPr>
              <a:t>telnet 127.0.0.1 2323</a:t>
            </a:r>
            <a:endParaRPr>
              <a:solidFill>
                <a:schemeClr val="dk1"/>
              </a:solidFill>
            </a:endParaRPr>
          </a:p>
          <a:p>
            <a:pPr indent="0" lvl="0" marL="0" rtl="0" algn="l">
              <a:spcBef>
                <a:spcPts val="0"/>
              </a:spcBef>
              <a:spcAft>
                <a:spcPts val="0"/>
              </a:spcAft>
              <a:buNone/>
            </a:pPr>
            <a:r>
              <a:rPr lang="en">
                <a:solidFill>
                  <a:schemeClr val="dk1"/>
                </a:solidFill>
              </a:rPr>
              <a:t>3. From T2:</a:t>
            </a:r>
            <a:endParaRPr>
              <a:solidFill>
                <a:schemeClr val="dk1"/>
              </a:solidFill>
            </a:endParaRPr>
          </a:p>
          <a:p>
            <a:pPr indent="0" lvl="0" marL="0" rtl="0" algn="l">
              <a:spcBef>
                <a:spcPts val="0"/>
              </a:spcBef>
              <a:spcAft>
                <a:spcPts val="0"/>
              </a:spcAft>
              <a:buNone/>
            </a:pPr>
            <a:r>
              <a:rPr lang="en">
                <a:solidFill>
                  <a:schemeClr val="dk1"/>
                </a:solidFill>
              </a:rPr>
              <a:t>ssh user@192.168.0.1 -R 12022:127.0.0.1:22</a:t>
            </a:r>
            <a:endParaRPr>
              <a:solidFill>
                <a:schemeClr val="dk1"/>
              </a:solidFill>
            </a:endParaRPr>
          </a:p>
          <a:p>
            <a:pPr indent="0" lvl="0" marL="0" rtl="0" algn="l">
              <a:spcBef>
                <a:spcPts val="0"/>
              </a:spcBef>
              <a:spcAft>
                <a:spcPts val="0"/>
              </a:spcAft>
              <a:buNone/>
            </a:pPr>
            <a:r>
              <a:rPr lang="en">
                <a:solidFill>
                  <a:schemeClr val="dk1"/>
                </a:solidFill>
              </a:rPr>
              <a:t>4. From Me: </a:t>
            </a:r>
            <a:endParaRPr>
              <a:solidFill>
                <a:schemeClr val="dk1"/>
              </a:solidFill>
            </a:endParaRPr>
          </a:p>
          <a:p>
            <a:pPr indent="0" lvl="0" marL="0" rtl="0" algn="l">
              <a:spcBef>
                <a:spcPts val="0"/>
              </a:spcBef>
              <a:spcAft>
                <a:spcPts val="0"/>
              </a:spcAft>
              <a:buNone/>
            </a:pPr>
            <a:r>
              <a:rPr lang="en">
                <a:solidFill>
                  <a:schemeClr val="dk1"/>
                </a:solidFill>
              </a:rPr>
              <a:t>ssh user@12.34.56.78 -L12322:127.0.0.1:12022</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Nice! Now I have a -L local listener on me (12322) pointing at a -R remote listener on T1 (12022) which is pointing back to a loopback ssh port on T2. And while I’m there, let’s throw my dynamic tunnel up, which will now come out T2</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From Me:</a:t>
            </a:r>
            <a:endParaRPr>
              <a:solidFill>
                <a:schemeClr val="dk1"/>
              </a:solidFill>
            </a:endParaRPr>
          </a:p>
          <a:p>
            <a:pPr indent="0" lvl="0" marL="0" rtl="0" algn="l">
              <a:spcBef>
                <a:spcPts val="0"/>
              </a:spcBef>
              <a:spcAft>
                <a:spcPts val="0"/>
              </a:spcAft>
              <a:buNone/>
            </a:pPr>
            <a:r>
              <a:rPr lang="en">
                <a:solidFill>
                  <a:srgbClr val="FF0000"/>
                </a:solidFill>
              </a:rPr>
              <a:t>ssh -p 12322 user@127.0.0.1 -D 9050</a:t>
            </a:r>
            <a:endParaRPr>
              <a:solidFill>
                <a:srgbClr val="FF0000"/>
              </a:solidFill>
            </a:endParaRPr>
          </a:p>
        </p:txBody>
      </p:sp>
      <p:sp>
        <p:nvSpPr>
          <p:cNvPr id="662" name="Google Shape;662;p75"/>
          <p:cNvSpPr/>
          <p:nvPr/>
        </p:nvSpPr>
        <p:spPr>
          <a:xfrm>
            <a:off x="4931600" y="1232900"/>
            <a:ext cx="2208900" cy="169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 2323:192.168.0.2:23</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-L 12322:localhost:12022</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663" name="Google Shape;663;p75"/>
          <p:cNvSpPr txBox="1"/>
          <p:nvPr/>
        </p:nvSpPr>
        <p:spPr>
          <a:xfrm>
            <a:off x="1091625" y="218325"/>
            <a:ext cx="3544500" cy="5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Telnet -R Loop De Loop</a:t>
            </a:r>
            <a:endParaRPr sz="1800"/>
          </a:p>
        </p:txBody>
      </p:sp>
      <p:sp>
        <p:nvSpPr>
          <p:cNvPr id="664" name="Google Shape;664;p75"/>
          <p:cNvSpPr/>
          <p:nvPr/>
        </p:nvSpPr>
        <p:spPr>
          <a:xfrm>
            <a:off x="4879863" y="1381100"/>
            <a:ext cx="3108000" cy="321000"/>
          </a:xfrm>
          <a:prstGeom prst="righ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Telnet 127.0.0.1 2323</a:t>
            </a:r>
            <a:endParaRPr/>
          </a:p>
        </p:txBody>
      </p:sp>
      <p:sp>
        <p:nvSpPr>
          <p:cNvPr id="665" name="Google Shape;665;p75"/>
          <p:cNvSpPr/>
          <p:nvPr/>
        </p:nvSpPr>
        <p:spPr>
          <a:xfrm rot="5400000">
            <a:off x="8469600" y="1474575"/>
            <a:ext cx="346800" cy="411000"/>
          </a:xfrm>
          <a:prstGeom prst="uturnArrow">
            <a:avLst>
              <a:gd fmla="val 25000" name="adj1"/>
              <a:gd fmla="val 25000" name="adj2"/>
              <a:gd fmla="val 25000" name="adj3"/>
              <a:gd fmla="val 43750" name="adj4"/>
              <a:gd fmla="val 75000" name="adj5"/>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75"/>
          <p:cNvSpPr/>
          <p:nvPr/>
        </p:nvSpPr>
        <p:spPr>
          <a:xfrm>
            <a:off x="7140500" y="1956875"/>
            <a:ext cx="1113900" cy="9696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-R 12022:lo:22</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667" name="Google Shape;667;p75"/>
          <p:cNvSpPr/>
          <p:nvPr/>
        </p:nvSpPr>
        <p:spPr>
          <a:xfrm>
            <a:off x="7076400" y="1702100"/>
            <a:ext cx="1361100" cy="321000"/>
          </a:xfrm>
          <a:prstGeom prst="lef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user@.1</a:t>
            </a:r>
            <a:endParaRPr/>
          </a:p>
        </p:txBody>
      </p:sp>
      <p:sp>
        <p:nvSpPr>
          <p:cNvPr id="668" name="Google Shape;668;p75"/>
          <p:cNvSpPr/>
          <p:nvPr/>
        </p:nvSpPr>
        <p:spPr>
          <a:xfrm>
            <a:off x="4636125" y="2308500"/>
            <a:ext cx="3751800" cy="5265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 9050</a:t>
            </a:r>
            <a:endParaRPr/>
          </a:p>
        </p:txBody>
      </p:sp>
      <p:sp>
        <p:nvSpPr>
          <p:cNvPr id="669" name="Google Shape;669;p75"/>
          <p:cNvSpPr/>
          <p:nvPr/>
        </p:nvSpPr>
        <p:spPr>
          <a:xfrm>
            <a:off x="7029575" y="2076100"/>
            <a:ext cx="1284300" cy="3210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&gt; 12022</a:t>
            </a:r>
            <a:endParaRPr/>
          </a:p>
        </p:txBody>
      </p:sp>
      <p:sp>
        <p:nvSpPr>
          <p:cNvPr id="670" name="Google Shape;670;p75"/>
          <p:cNvSpPr/>
          <p:nvPr/>
        </p:nvSpPr>
        <p:spPr>
          <a:xfrm>
            <a:off x="4636125" y="2076100"/>
            <a:ext cx="2504400" cy="3210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-p 12322 user@127.1</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pic>
        <p:nvPicPr>
          <p:cNvPr id="675" name="Google Shape;675;p76"/>
          <p:cNvPicPr preferRelativeResize="0"/>
          <p:nvPr/>
        </p:nvPicPr>
        <p:blipFill>
          <a:blip r:embed="rId3">
            <a:alphaModFix/>
          </a:blip>
          <a:stretch>
            <a:fillRect/>
          </a:stretch>
        </p:blipFill>
        <p:spPr>
          <a:xfrm>
            <a:off x="4177075" y="125225"/>
            <a:ext cx="4787125" cy="4893050"/>
          </a:xfrm>
          <a:prstGeom prst="rect">
            <a:avLst/>
          </a:prstGeom>
          <a:noFill/>
          <a:ln>
            <a:noFill/>
          </a:ln>
        </p:spPr>
      </p:pic>
      <p:sp>
        <p:nvSpPr>
          <p:cNvPr id="676" name="Google Shape;676;p76"/>
          <p:cNvSpPr/>
          <p:nvPr/>
        </p:nvSpPr>
        <p:spPr>
          <a:xfrm>
            <a:off x="4944425" y="924675"/>
            <a:ext cx="1425600" cy="411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user@.78</a:t>
            </a:r>
            <a:endParaRPr/>
          </a:p>
        </p:txBody>
      </p:sp>
      <p:sp>
        <p:nvSpPr>
          <p:cNvPr id="677" name="Google Shape;677;p76"/>
          <p:cNvSpPr txBox="1"/>
          <p:nvPr/>
        </p:nvSpPr>
        <p:spPr>
          <a:xfrm>
            <a:off x="115575" y="834775"/>
            <a:ext cx="4061400" cy="39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 From Me:</a:t>
            </a:r>
            <a:endParaRPr>
              <a:solidFill>
                <a:schemeClr val="dk1"/>
              </a:solidFill>
            </a:endParaRPr>
          </a:p>
          <a:p>
            <a:pPr indent="0" lvl="0" marL="0" rtl="0" algn="l">
              <a:spcBef>
                <a:spcPts val="0"/>
              </a:spcBef>
              <a:spcAft>
                <a:spcPts val="0"/>
              </a:spcAft>
              <a:buNone/>
            </a:pPr>
            <a:r>
              <a:rPr lang="en">
                <a:solidFill>
                  <a:schemeClr val="dk1"/>
                </a:solidFill>
              </a:rPr>
              <a:t>ssh user@12.34.56.78 -L2323:192.168.0.2:23</a:t>
            </a:r>
            <a:endParaRPr>
              <a:solidFill>
                <a:schemeClr val="dk1"/>
              </a:solidFill>
            </a:endParaRPr>
          </a:p>
          <a:p>
            <a:pPr indent="0" lvl="0" marL="0" rtl="0" algn="l">
              <a:spcBef>
                <a:spcPts val="0"/>
              </a:spcBef>
              <a:spcAft>
                <a:spcPts val="0"/>
              </a:spcAft>
              <a:buNone/>
            </a:pPr>
            <a:r>
              <a:rPr lang="en">
                <a:solidFill>
                  <a:schemeClr val="dk1"/>
                </a:solidFill>
              </a:rPr>
              <a:t>2. From Me: </a:t>
            </a:r>
            <a:endParaRPr>
              <a:solidFill>
                <a:schemeClr val="dk1"/>
              </a:solidFill>
            </a:endParaRPr>
          </a:p>
          <a:p>
            <a:pPr indent="0" lvl="0" marL="0" rtl="0" algn="l">
              <a:spcBef>
                <a:spcPts val="0"/>
              </a:spcBef>
              <a:spcAft>
                <a:spcPts val="0"/>
              </a:spcAft>
              <a:buNone/>
            </a:pPr>
            <a:r>
              <a:rPr lang="en">
                <a:solidFill>
                  <a:schemeClr val="dk1"/>
                </a:solidFill>
              </a:rPr>
              <a:t>telnet 127.0.0.1 2323</a:t>
            </a:r>
            <a:endParaRPr>
              <a:solidFill>
                <a:schemeClr val="dk1"/>
              </a:solidFill>
            </a:endParaRPr>
          </a:p>
          <a:p>
            <a:pPr indent="0" lvl="0" marL="0" rtl="0" algn="l">
              <a:spcBef>
                <a:spcPts val="0"/>
              </a:spcBef>
              <a:spcAft>
                <a:spcPts val="0"/>
              </a:spcAft>
              <a:buNone/>
            </a:pPr>
            <a:r>
              <a:rPr lang="en">
                <a:solidFill>
                  <a:schemeClr val="dk1"/>
                </a:solidFill>
              </a:rPr>
              <a:t>3. From T2:</a:t>
            </a:r>
            <a:endParaRPr>
              <a:solidFill>
                <a:schemeClr val="dk1"/>
              </a:solidFill>
            </a:endParaRPr>
          </a:p>
          <a:p>
            <a:pPr indent="0" lvl="0" marL="0" rtl="0" algn="l">
              <a:spcBef>
                <a:spcPts val="0"/>
              </a:spcBef>
              <a:spcAft>
                <a:spcPts val="0"/>
              </a:spcAft>
              <a:buNone/>
            </a:pPr>
            <a:r>
              <a:rPr lang="en">
                <a:solidFill>
                  <a:schemeClr val="dk1"/>
                </a:solidFill>
              </a:rPr>
              <a:t>ssh user@192.168.0.1 -R 12022:127.0.0.1:22</a:t>
            </a:r>
            <a:endParaRPr>
              <a:solidFill>
                <a:schemeClr val="dk1"/>
              </a:solidFill>
            </a:endParaRPr>
          </a:p>
          <a:p>
            <a:pPr indent="0" lvl="0" marL="0" rtl="0" algn="l">
              <a:spcBef>
                <a:spcPts val="0"/>
              </a:spcBef>
              <a:spcAft>
                <a:spcPts val="0"/>
              </a:spcAft>
              <a:buNone/>
            </a:pPr>
            <a:r>
              <a:rPr lang="en">
                <a:solidFill>
                  <a:schemeClr val="dk1"/>
                </a:solidFill>
              </a:rPr>
              <a:t>4. From Me: </a:t>
            </a:r>
            <a:endParaRPr>
              <a:solidFill>
                <a:schemeClr val="dk1"/>
              </a:solidFill>
            </a:endParaRPr>
          </a:p>
          <a:p>
            <a:pPr indent="0" lvl="0" marL="0" rtl="0" algn="l">
              <a:spcBef>
                <a:spcPts val="0"/>
              </a:spcBef>
              <a:spcAft>
                <a:spcPts val="0"/>
              </a:spcAft>
              <a:buNone/>
            </a:pPr>
            <a:r>
              <a:rPr lang="en">
                <a:solidFill>
                  <a:schemeClr val="dk1"/>
                </a:solidFill>
              </a:rPr>
              <a:t>ssh user@12.34.56.78 -L12322:127.0.0.1:12022</a:t>
            </a:r>
            <a:endParaRPr>
              <a:solidFill>
                <a:schemeClr val="dk1"/>
              </a:solidFill>
            </a:endParaRPr>
          </a:p>
          <a:p>
            <a:pPr indent="0" lvl="0" marL="0" rtl="0" algn="l">
              <a:spcBef>
                <a:spcPts val="0"/>
              </a:spcBef>
              <a:spcAft>
                <a:spcPts val="0"/>
              </a:spcAft>
              <a:buNone/>
            </a:pPr>
            <a:r>
              <a:rPr lang="en">
                <a:solidFill>
                  <a:schemeClr val="dk1"/>
                </a:solidFill>
              </a:rPr>
              <a:t>5. From Me:</a:t>
            </a:r>
            <a:endParaRPr>
              <a:solidFill>
                <a:schemeClr val="dk1"/>
              </a:solidFill>
            </a:endParaRPr>
          </a:p>
          <a:p>
            <a:pPr indent="0" lvl="0" marL="0" rtl="0" algn="l">
              <a:spcBef>
                <a:spcPts val="0"/>
              </a:spcBef>
              <a:spcAft>
                <a:spcPts val="0"/>
              </a:spcAft>
              <a:buNone/>
            </a:pPr>
            <a:r>
              <a:rPr lang="en">
                <a:solidFill>
                  <a:schemeClr val="dk1"/>
                </a:solidFill>
              </a:rPr>
              <a:t>ssh -p 12322 user@127.0.0.1 -D 9050</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And now begins the scanning.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From me:</a:t>
            </a:r>
            <a:endParaRPr>
              <a:solidFill>
                <a:schemeClr val="dk1"/>
              </a:solidFill>
            </a:endParaRPr>
          </a:p>
          <a:p>
            <a:pPr indent="0" lvl="0" marL="0" rtl="0" algn="l">
              <a:spcBef>
                <a:spcPts val="0"/>
              </a:spcBef>
              <a:spcAft>
                <a:spcPts val="0"/>
              </a:spcAft>
              <a:buNone/>
            </a:pPr>
            <a:r>
              <a:rPr lang="en">
                <a:solidFill>
                  <a:srgbClr val="FF0000"/>
                </a:solidFill>
              </a:rPr>
              <a:t>proxychains nmap -Pn -sT 172.16.0.0/24 -p 21,22,23,80</a:t>
            </a:r>
            <a:endParaRPr>
              <a:solidFill>
                <a:srgbClr val="FF0000"/>
              </a:solidFill>
            </a:endParaRPr>
          </a:p>
        </p:txBody>
      </p:sp>
      <p:sp>
        <p:nvSpPr>
          <p:cNvPr id="678" name="Google Shape;678;p76"/>
          <p:cNvSpPr/>
          <p:nvPr/>
        </p:nvSpPr>
        <p:spPr>
          <a:xfrm>
            <a:off x="4931600" y="1232900"/>
            <a:ext cx="2208900" cy="169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 2323:192.168.0.2:23</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-L 12322:localhost:12022</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679" name="Google Shape;679;p76"/>
          <p:cNvSpPr txBox="1"/>
          <p:nvPr/>
        </p:nvSpPr>
        <p:spPr>
          <a:xfrm>
            <a:off x="1091625" y="218325"/>
            <a:ext cx="3544500" cy="5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Telnet -R Loop De Loop</a:t>
            </a:r>
            <a:endParaRPr sz="1800"/>
          </a:p>
        </p:txBody>
      </p:sp>
      <p:sp>
        <p:nvSpPr>
          <p:cNvPr id="680" name="Google Shape;680;p76"/>
          <p:cNvSpPr/>
          <p:nvPr/>
        </p:nvSpPr>
        <p:spPr>
          <a:xfrm>
            <a:off x="4879863" y="1381100"/>
            <a:ext cx="3108000" cy="321000"/>
          </a:xfrm>
          <a:prstGeom prst="righ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Telnet 127.0.0.1 2323</a:t>
            </a:r>
            <a:endParaRPr/>
          </a:p>
        </p:txBody>
      </p:sp>
      <p:sp>
        <p:nvSpPr>
          <p:cNvPr id="681" name="Google Shape;681;p76"/>
          <p:cNvSpPr/>
          <p:nvPr/>
        </p:nvSpPr>
        <p:spPr>
          <a:xfrm rot="5400000">
            <a:off x="8469600" y="1474575"/>
            <a:ext cx="346800" cy="411000"/>
          </a:xfrm>
          <a:prstGeom prst="uturnArrow">
            <a:avLst>
              <a:gd fmla="val 25000" name="adj1"/>
              <a:gd fmla="val 25000" name="adj2"/>
              <a:gd fmla="val 25000" name="adj3"/>
              <a:gd fmla="val 43750" name="adj4"/>
              <a:gd fmla="val 75000" name="adj5"/>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2" name="Google Shape;682;p76"/>
          <p:cNvSpPr/>
          <p:nvPr/>
        </p:nvSpPr>
        <p:spPr>
          <a:xfrm>
            <a:off x="7140500" y="1956875"/>
            <a:ext cx="1113900" cy="9696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-R 12022:lo:22</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683" name="Google Shape;683;p76"/>
          <p:cNvSpPr/>
          <p:nvPr/>
        </p:nvSpPr>
        <p:spPr>
          <a:xfrm>
            <a:off x="7076400" y="1702100"/>
            <a:ext cx="1361100" cy="321000"/>
          </a:xfrm>
          <a:prstGeom prst="lef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user@.1</a:t>
            </a:r>
            <a:endParaRPr/>
          </a:p>
        </p:txBody>
      </p:sp>
      <p:sp>
        <p:nvSpPr>
          <p:cNvPr id="684" name="Google Shape;684;p76"/>
          <p:cNvSpPr/>
          <p:nvPr/>
        </p:nvSpPr>
        <p:spPr>
          <a:xfrm>
            <a:off x="4636125" y="2308500"/>
            <a:ext cx="3751800" cy="5265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 9050</a:t>
            </a:r>
            <a:endParaRPr/>
          </a:p>
          <a:p>
            <a:pPr indent="0" lvl="0" marL="0" rtl="0" algn="ctr">
              <a:spcBef>
                <a:spcPts val="0"/>
              </a:spcBef>
              <a:spcAft>
                <a:spcPts val="0"/>
              </a:spcAft>
              <a:buNone/>
            </a:pPr>
            <a:r>
              <a:t/>
            </a:r>
            <a:endParaRPr/>
          </a:p>
        </p:txBody>
      </p:sp>
      <p:sp>
        <p:nvSpPr>
          <p:cNvPr id="685" name="Google Shape;685;p76"/>
          <p:cNvSpPr/>
          <p:nvPr/>
        </p:nvSpPr>
        <p:spPr>
          <a:xfrm>
            <a:off x="4636125" y="2076100"/>
            <a:ext cx="2504400" cy="3210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ssh -p 12322 user@127.1</a:t>
            </a:r>
            <a:endParaRPr/>
          </a:p>
        </p:txBody>
      </p:sp>
      <p:sp>
        <p:nvSpPr>
          <p:cNvPr id="686" name="Google Shape;686;p76"/>
          <p:cNvSpPr/>
          <p:nvPr/>
        </p:nvSpPr>
        <p:spPr>
          <a:xfrm>
            <a:off x="7140500" y="2076100"/>
            <a:ext cx="1173300" cy="3210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76"/>
          <p:cNvSpPr/>
          <p:nvPr/>
        </p:nvSpPr>
        <p:spPr>
          <a:xfrm>
            <a:off x="4447475" y="2446125"/>
            <a:ext cx="595800" cy="346800"/>
          </a:xfrm>
          <a:prstGeom prst="righ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a:t>
            </a:r>
            <a:r>
              <a:rPr lang="en" sz="1000">
                <a:solidFill>
                  <a:schemeClr val="lt1"/>
                </a:solidFill>
              </a:rPr>
              <a:t>5:22</a:t>
            </a:r>
            <a:endParaRPr sz="1000">
              <a:solidFill>
                <a:schemeClr val="lt1"/>
              </a:solidFill>
            </a:endParaRPr>
          </a:p>
        </p:txBody>
      </p:sp>
      <p:sp>
        <p:nvSpPr>
          <p:cNvPr id="688" name="Google Shape;688;p76"/>
          <p:cNvSpPr/>
          <p:nvPr/>
        </p:nvSpPr>
        <p:spPr>
          <a:xfrm>
            <a:off x="5240300" y="2349450"/>
            <a:ext cx="595800" cy="346800"/>
          </a:xfrm>
          <a:prstGeom prst="righ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a:t>
            </a:r>
            <a:r>
              <a:rPr lang="en" sz="1000">
                <a:solidFill>
                  <a:schemeClr val="lt1"/>
                </a:solidFill>
              </a:rPr>
              <a:t>1:21</a:t>
            </a:r>
            <a:endParaRPr sz="1000">
              <a:solidFill>
                <a:schemeClr val="lt1"/>
              </a:solidFill>
            </a:endParaRPr>
          </a:p>
        </p:txBody>
      </p:sp>
      <p:sp>
        <p:nvSpPr>
          <p:cNvPr id="689" name="Google Shape;689;p76"/>
          <p:cNvSpPr/>
          <p:nvPr/>
        </p:nvSpPr>
        <p:spPr>
          <a:xfrm>
            <a:off x="6077625" y="2488200"/>
            <a:ext cx="595800" cy="346800"/>
          </a:xfrm>
          <a:prstGeom prst="righ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a:t>
            </a:r>
            <a:r>
              <a:rPr lang="en" sz="1000">
                <a:solidFill>
                  <a:schemeClr val="lt1"/>
                </a:solidFill>
              </a:rPr>
              <a:t>7:80</a:t>
            </a:r>
            <a:endParaRPr sz="1000">
              <a:solidFill>
                <a:schemeClr val="lt1"/>
              </a:solidFill>
            </a:endParaRPr>
          </a:p>
        </p:txBody>
      </p:sp>
      <p:sp>
        <p:nvSpPr>
          <p:cNvPr id="690" name="Google Shape;690;p76"/>
          <p:cNvSpPr/>
          <p:nvPr/>
        </p:nvSpPr>
        <p:spPr>
          <a:xfrm>
            <a:off x="6914950" y="2349450"/>
            <a:ext cx="712200" cy="346800"/>
          </a:xfrm>
          <a:prstGeom prst="righ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a:t>
            </a:r>
            <a:r>
              <a:rPr lang="en" sz="1000">
                <a:solidFill>
                  <a:schemeClr val="lt1"/>
                </a:solidFill>
              </a:rPr>
              <a:t>116:22</a:t>
            </a:r>
            <a:endParaRPr sz="1000">
              <a:solidFill>
                <a:schemeClr val="lt1"/>
              </a:solidFill>
            </a:endParaRPr>
          </a:p>
        </p:txBody>
      </p:sp>
      <p:sp>
        <p:nvSpPr>
          <p:cNvPr id="691" name="Google Shape;691;p76"/>
          <p:cNvSpPr/>
          <p:nvPr/>
        </p:nvSpPr>
        <p:spPr>
          <a:xfrm>
            <a:off x="7681475" y="2488200"/>
            <a:ext cx="666600" cy="346800"/>
          </a:xfrm>
          <a:prstGeom prst="righ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a:t>
            </a:r>
            <a:r>
              <a:rPr lang="en" sz="1000">
                <a:solidFill>
                  <a:schemeClr val="lt1"/>
                </a:solidFill>
              </a:rPr>
              <a:t>24:23</a:t>
            </a:r>
            <a:endParaRPr sz="1000">
              <a:solidFill>
                <a:schemeClr val="lt1"/>
              </a:solidFill>
            </a:endParaRPr>
          </a:p>
        </p:txBody>
      </p:sp>
      <p:sp>
        <p:nvSpPr>
          <p:cNvPr id="692" name="Google Shape;692;p76"/>
          <p:cNvSpPr/>
          <p:nvPr/>
        </p:nvSpPr>
        <p:spPr>
          <a:xfrm>
            <a:off x="8366700" y="2398350"/>
            <a:ext cx="666600" cy="346800"/>
          </a:xfrm>
          <a:prstGeom prst="righ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a:t>
            </a:r>
            <a:r>
              <a:rPr lang="en" sz="1000">
                <a:solidFill>
                  <a:schemeClr val="lt1"/>
                </a:solidFill>
              </a:rPr>
              <a:t>91:80</a:t>
            </a:r>
            <a:endParaRPr sz="1000">
              <a:solidFill>
                <a:schemeClr val="lt1"/>
              </a:solidFill>
            </a:endParaRPr>
          </a:p>
        </p:txBody>
      </p:sp>
      <p:sp>
        <p:nvSpPr>
          <p:cNvPr id="693" name="Google Shape;693;p76"/>
          <p:cNvSpPr/>
          <p:nvPr/>
        </p:nvSpPr>
        <p:spPr>
          <a:xfrm rot="2701224">
            <a:off x="8345059" y="2723009"/>
            <a:ext cx="595879" cy="346836"/>
          </a:xfrm>
          <a:prstGeom prst="righ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a:t>
            </a:r>
            <a:r>
              <a:rPr lang="en" sz="1000">
                <a:solidFill>
                  <a:schemeClr val="lt1"/>
                </a:solidFill>
              </a:rPr>
              <a:t>5:22</a:t>
            </a:r>
            <a:endParaRPr sz="1000">
              <a:solidFill>
                <a:schemeClr val="lt1"/>
              </a:solidFill>
            </a:endParaRPr>
          </a:p>
        </p:txBody>
      </p:sp>
      <p:sp>
        <p:nvSpPr>
          <p:cNvPr id="694" name="Google Shape;694;p76"/>
          <p:cNvSpPr/>
          <p:nvPr/>
        </p:nvSpPr>
        <p:spPr>
          <a:xfrm rot="-2700000">
            <a:off x="8416848" y="2004736"/>
            <a:ext cx="661003" cy="346624"/>
          </a:xfrm>
          <a:prstGeom prst="righ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a:t>
            </a:r>
            <a:r>
              <a:rPr lang="en" sz="1000">
                <a:solidFill>
                  <a:schemeClr val="lt1"/>
                </a:solidFill>
              </a:rPr>
              <a:t>10:21</a:t>
            </a:r>
            <a:endParaRPr sz="1000">
              <a:solidFill>
                <a:schemeClr val="lt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77"/>
          <p:cNvSpPr txBox="1"/>
          <p:nvPr>
            <p:ph type="title"/>
          </p:nvPr>
        </p:nvSpPr>
        <p:spPr>
          <a:xfrm>
            <a:off x="623888" y="996555"/>
            <a:ext cx="7886700" cy="2139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lang="en"/>
              <a:t>netcat</a:t>
            </a:r>
            <a:endParaRPr b="1" i="0" sz="3400" u="none" cap="none" strike="noStrike">
              <a:solidFill>
                <a:schemeClr val="dk1"/>
              </a:solidFill>
              <a:latin typeface="Arial"/>
              <a:ea typeface="Arial"/>
              <a:cs typeface="Arial"/>
              <a:sym typeface="Arial"/>
            </a:endParaRPr>
          </a:p>
        </p:txBody>
      </p:sp>
      <p:sp>
        <p:nvSpPr>
          <p:cNvPr id="700" name="Google Shape;700;p77"/>
          <p:cNvSpPr txBox="1"/>
          <p:nvPr>
            <p:ph idx="1" type="body"/>
          </p:nvPr>
        </p:nvSpPr>
        <p:spPr>
          <a:xfrm>
            <a:off x="623888" y="3156349"/>
            <a:ext cx="7886700" cy="1596300"/>
          </a:xfrm>
          <a:prstGeom prst="rect">
            <a:avLst/>
          </a:prstGeom>
          <a:noFill/>
          <a:ln>
            <a:noFill/>
          </a:ln>
        </p:spPr>
        <p:txBody>
          <a:bodyPr anchorCtr="0" anchor="t" bIns="68575" lIns="68575" spcFirstLastPara="1" rIns="68575" wrap="square" tIns="68575">
            <a:noAutofit/>
          </a:bodyPr>
          <a:lstStyle/>
          <a:p>
            <a:pPr indent="0" lvl="0" marL="0" marR="0" rtl="0" algn="ctr">
              <a:lnSpc>
                <a:spcPct val="90000"/>
              </a:lnSpc>
              <a:spcBef>
                <a:spcPts val="600"/>
              </a:spcBef>
              <a:spcAft>
                <a:spcPts val="0"/>
              </a:spcAft>
              <a:buClr>
                <a:srgbClr val="888888"/>
              </a:buClr>
              <a:buSzPts val="1600"/>
              <a:buFont typeface="Arial"/>
              <a:buNone/>
            </a:pPr>
            <a:r>
              <a:rPr lang="en"/>
              <a:t>Listener vs client; common syntax; Other uses</a:t>
            </a:r>
            <a:endParaRPr b="0" i="0" sz="1400" u="none" cap="none" strike="noStrike">
              <a:solidFill>
                <a:srgbClr val="888888"/>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78"/>
          <p:cNvSpPr txBox="1"/>
          <p:nvPr>
            <p:ph type="title"/>
          </p:nvPr>
        </p:nvSpPr>
        <p:spPr>
          <a:xfrm>
            <a:off x="1063250" y="182300"/>
            <a:ext cx="7813800" cy="4746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NC - As Client</a:t>
            </a:r>
            <a:endParaRPr b="0" i="0" sz="3000" u="none" cap="none" strike="noStrike">
              <a:solidFill>
                <a:schemeClr val="dk1"/>
              </a:solidFill>
              <a:latin typeface="Calibri"/>
              <a:ea typeface="Calibri"/>
              <a:cs typeface="Calibri"/>
              <a:sym typeface="Calibri"/>
            </a:endParaRPr>
          </a:p>
        </p:txBody>
      </p:sp>
      <p:sp>
        <p:nvSpPr>
          <p:cNvPr id="706" name="Google Shape;706;p78"/>
          <p:cNvSpPr txBox="1"/>
          <p:nvPr/>
        </p:nvSpPr>
        <p:spPr>
          <a:xfrm>
            <a:off x="370525" y="761800"/>
            <a:ext cx="8506500" cy="373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100" u="none" cap="none" strike="noStrike">
                <a:solidFill>
                  <a:srgbClr val="000000"/>
                </a:solidFill>
                <a:latin typeface="Calibri"/>
                <a:ea typeface="Calibri"/>
                <a:cs typeface="Calibri"/>
                <a:sym typeface="Calibri"/>
              </a:rPr>
              <a:t>The most common use of netcat is to act as a client for a server process. This is mostly used for troubleshooting network servers and network connections because you can see the raw data of the interaction. So, providing nc with just a hostname or IP address and a port number will make netcat act as the telnet utility:</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100" u="none" cap="none" strike="noStrike">
              <a:solidFill>
                <a:srgbClr val="000000"/>
              </a:solidFill>
              <a:latin typeface="Calibri"/>
              <a:ea typeface="Calibri"/>
              <a:cs typeface="Calibri"/>
              <a:sym typeface="Calibri"/>
            </a:endParaRPr>
          </a:p>
          <a:p>
            <a:pPr indent="457200" lvl="0" marL="0" marR="0" rtl="0" algn="l">
              <a:lnSpc>
                <a:spcPct val="100000"/>
              </a:lnSpc>
              <a:spcBef>
                <a:spcPts val="0"/>
              </a:spcBef>
              <a:spcAft>
                <a:spcPts val="0"/>
              </a:spcAft>
              <a:buClr>
                <a:schemeClr val="dk1"/>
              </a:buClr>
              <a:buSzPts val="1100"/>
              <a:buFont typeface="Arial"/>
              <a:buNone/>
            </a:pPr>
            <a:r>
              <a:rPr b="0" i="0" lang="en" sz="2100" u="none" cap="none" strike="noStrike">
                <a:solidFill>
                  <a:srgbClr val="000000"/>
                </a:solidFill>
                <a:latin typeface="Calibri"/>
                <a:ea typeface="Calibri"/>
                <a:cs typeface="Calibri"/>
                <a:sym typeface="Calibri"/>
              </a:rPr>
              <a:t>nc localhost 22</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2100" u="none" cap="none" strike="noStrike">
                <a:solidFill>
                  <a:srgbClr val="000000"/>
                </a:solidFill>
                <a:latin typeface="Calibri"/>
                <a:ea typeface="Calibri"/>
                <a:cs typeface="Calibri"/>
                <a:sym typeface="Calibri"/>
              </a:rPr>
              <a:t>In the given example, nc tries to connect to TCP port number 22 of the localhost </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rgbClr val="000000"/>
                </a:solidFill>
                <a:latin typeface="Calibri"/>
                <a:ea typeface="Calibri"/>
                <a:cs typeface="Calibri"/>
                <a:sym typeface="Calibri"/>
              </a:rPr>
              <a:t>Notice that as the -u option is not used, nc will use the TCP protocol by default.</a:t>
            </a:r>
            <a:endParaRPr b="0" i="0" sz="2100" u="none" cap="none" strike="noStrike">
              <a:solidFill>
                <a:srgbClr val="000000"/>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79"/>
          <p:cNvSpPr txBox="1"/>
          <p:nvPr>
            <p:ph type="title"/>
          </p:nvPr>
        </p:nvSpPr>
        <p:spPr>
          <a:xfrm>
            <a:off x="1063250" y="172625"/>
            <a:ext cx="7813500" cy="484200"/>
          </a:xfrm>
          <a:prstGeom prst="rect">
            <a:avLst/>
          </a:prstGeom>
          <a:noFill/>
          <a:ln>
            <a:noFill/>
          </a:ln>
        </p:spPr>
        <p:txBody>
          <a:bodyPr anchorCtr="0" anchor="b" bIns="68575" lIns="68575" spcFirstLastPara="1" rIns="68575" wrap="square" tIns="68575">
            <a:noAutofit/>
          </a:bodyPr>
          <a:lstStyle/>
          <a:p>
            <a:pPr indent="0" lvl="0" marL="0" marR="0" rtl="0" algn="ctr">
              <a:lnSpc>
                <a:spcPct val="90000"/>
              </a:lnSpc>
              <a:spcBef>
                <a:spcPts val="0"/>
              </a:spcBef>
              <a:spcAft>
                <a:spcPts val="0"/>
              </a:spcAft>
              <a:buClr>
                <a:schemeClr val="dk1"/>
              </a:buClr>
              <a:buSzPts val="1100"/>
              <a:buFont typeface="Arial"/>
              <a:buNone/>
            </a:pPr>
            <a:r>
              <a:rPr b="0" lang="en" sz="3000">
                <a:latin typeface="Calibri"/>
                <a:ea typeface="Calibri"/>
                <a:cs typeface="Calibri"/>
                <a:sym typeface="Calibri"/>
              </a:rPr>
              <a:t>NC - As Server</a:t>
            </a:r>
            <a:endParaRPr b="0" i="0" sz="3000" u="none" cap="none" strike="noStrike">
              <a:solidFill>
                <a:schemeClr val="dk1"/>
              </a:solidFill>
              <a:latin typeface="Calibri"/>
              <a:ea typeface="Calibri"/>
              <a:cs typeface="Calibri"/>
              <a:sym typeface="Calibri"/>
            </a:endParaRPr>
          </a:p>
        </p:txBody>
      </p:sp>
      <p:sp>
        <p:nvSpPr>
          <p:cNvPr id="712" name="Google Shape;712;p79"/>
          <p:cNvSpPr txBox="1"/>
          <p:nvPr/>
        </p:nvSpPr>
        <p:spPr>
          <a:xfrm>
            <a:off x="292025" y="838000"/>
            <a:ext cx="8584800" cy="409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rgbClr val="000000"/>
                </a:solidFill>
                <a:latin typeface="Calibri"/>
                <a:ea typeface="Calibri"/>
                <a:cs typeface="Calibri"/>
                <a:sym typeface="Calibri"/>
              </a:rPr>
              <a:t>nc will accept connections at a given port (-p) and act as a server when you execute it with the -l (listen) option:</a:t>
            </a:r>
            <a:endParaRPr b="0" i="0" sz="2000" u="none" cap="none" strike="noStrike">
              <a:solidFill>
                <a:srgbClr val="000000"/>
              </a:solidFill>
              <a:latin typeface="Calibri"/>
              <a:ea typeface="Calibri"/>
              <a:cs typeface="Calibri"/>
              <a:sym typeface="Calibri"/>
            </a:endParaRPr>
          </a:p>
          <a:p>
            <a:pPr indent="457200" lvl="0" marL="0" marR="0" rtl="0" algn="l">
              <a:lnSpc>
                <a:spcPct val="100000"/>
              </a:lnSpc>
              <a:spcBef>
                <a:spcPts val="0"/>
              </a:spcBef>
              <a:spcAft>
                <a:spcPts val="0"/>
              </a:spcAft>
              <a:buClr>
                <a:schemeClr val="dk1"/>
              </a:buClr>
              <a:buSzPts val="1100"/>
              <a:buFont typeface="Arial"/>
              <a:buNone/>
            </a:pPr>
            <a:r>
              <a:rPr b="0" i="0" lang="en" sz="2000" u="none" cap="none" strike="noStrike">
                <a:solidFill>
                  <a:srgbClr val="000000"/>
                </a:solidFill>
                <a:latin typeface="Calibri"/>
                <a:ea typeface="Calibri"/>
                <a:cs typeface="Calibri"/>
                <a:sym typeface="Calibri"/>
              </a:rPr>
              <a:t>nc -l -p 1234</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rgbClr val="000000"/>
                </a:solidFill>
                <a:latin typeface="Calibri"/>
                <a:ea typeface="Calibri"/>
                <a:cs typeface="Calibri"/>
                <a:sym typeface="Calibri"/>
              </a:rPr>
              <a:t>In another terminal window, connect a client to the server with nc:</a:t>
            </a:r>
            <a:endParaRPr b="0" i="0" sz="2000" u="none" cap="none" strike="noStrike">
              <a:solidFill>
                <a:srgbClr val="000000"/>
              </a:solidFill>
              <a:latin typeface="Calibri"/>
              <a:ea typeface="Calibri"/>
              <a:cs typeface="Calibri"/>
              <a:sym typeface="Calibri"/>
            </a:endParaRPr>
          </a:p>
          <a:p>
            <a:pPr indent="457200" lvl="0" marL="0" marR="0" rtl="0" algn="l">
              <a:lnSpc>
                <a:spcPct val="100000"/>
              </a:lnSpc>
              <a:spcBef>
                <a:spcPts val="0"/>
              </a:spcBef>
              <a:spcAft>
                <a:spcPts val="0"/>
              </a:spcAft>
              <a:buClr>
                <a:schemeClr val="dk1"/>
              </a:buClr>
              <a:buSzPts val="1100"/>
              <a:buFont typeface="Arial"/>
              <a:buNone/>
            </a:pPr>
            <a:r>
              <a:rPr b="0" i="0" lang="en" sz="2000" u="none" cap="none" strike="noStrike">
                <a:solidFill>
                  <a:srgbClr val="000000"/>
                </a:solidFill>
                <a:latin typeface="Calibri"/>
                <a:ea typeface="Calibri"/>
                <a:cs typeface="Calibri"/>
                <a:sym typeface="Calibri"/>
              </a:rPr>
              <a:t>nc 127.0.01 1234</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rgbClr val="000000"/>
                </a:solidFill>
                <a:latin typeface="Calibri"/>
                <a:ea typeface="Calibri"/>
                <a:cs typeface="Calibri"/>
                <a:sym typeface="Calibri"/>
              </a:rPr>
              <a:t>You can now send messages between the two machines with nc.</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rgbClr val="000000"/>
                </a:solidFill>
                <a:latin typeface="Calibri"/>
                <a:ea typeface="Calibri"/>
                <a:cs typeface="Calibri"/>
                <a:sym typeface="Calibri"/>
              </a:rPr>
              <a:t>The first command tells netcat to listen on TCP port number 1234 for incoming connections - you can also see that netcat automatically reads data from the client and that you can send your response to the TCP client just by typing it.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rgbClr val="000000"/>
                </a:solidFill>
                <a:latin typeface="Calibri"/>
                <a:ea typeface="Calibri"/>
                <a:cs typeface="Calibri"/>
                <a:sym typeface="Calibri"/>
              </a:rPr>
              <a:t>Once again, as the -u option is not used, nc will use the TCP protocol.</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80"/>
          <p:cNvSpPr txBox="1"/>
          <p:nvPr>
            <p:ph type="title"/>
          </p:nvPr>
        </p:nvSpPr>
        <p:spPr>
          <a:xfrm>
            <a:off x="898575" y="162925"/>
            <a:ext cx="7881900" cy="493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1100"/>
              <a:buNone/>
            </a:pPr>
            <a:r>
              <a:rPr b="0" lang="en" sz="3000">
                <a:latin typeface="Calibri"/>
                <a:ea typeface="Calibri"/>
                <a:cs typeface="Calibri"/>
                <a:sym typeface="Calibri"/>
              </a:rPr>
              <a:t>netcat Exercise</a:t>
            </a:r>
            <a:endParaRPr b="0" sz="3000">
              <a:latin typeface="Calibri"/>
              <a:ea typeface="Calibri"/>
              <a:cs typeface="Calibri"/>
              <a:sym typeface="Calibri"/>
            </a:endParaRPr>
          </a:p>
        </p:txBody>
      </p:sp>
      <p:sp>
        <p:nvSpPr>
          <p:cNvPr id="718" name="Google Shape;718;p80"/>
          <p:cNvSpPr txBox="1"/>
          <p:nvPr>
            <p:ph idx="1" type="body"/>
          </p:nvPr>
        </p:nvSpPr>
        <p:spPr>
          <a:xfrm>
            <a:off x="311700" y="1152475"/>
            <a:ext cx="8520600" cy="38148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60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On your Ops box, run </a:t>
            </a:r>
            <a:endParaRPr sz="2000">
              <a:solidFill>
                <a:schemeClr val="dk1"/>
              </a:solidFill>
              <a:latin typeface="Calibri"/>
              <a:ea typeface="Calibri"/>
              <a:cs typeface="Calibri"/>
              <a:sym typeface="Calibri"/>
            </a:endParaRPr>
          </a:p>
          <a:p>
            <a:pPr indent="457200" lvl="0" marL="457200" rtl="0" algn="l">
              <a:lnSpc>
                <a:spcPct val="90000"/>
              </a:lnSpc>
              <a:spcBef>
                <a:spcPts val="600"/>
              </a:spcBef>
              <a:spcAft>
                <a:spcPts val="0"/>
              </a:spcAft>
              <a:buClr>
                <a:schemeClr val="dk1"/>
              </a:buClr>
              <a:buSzPts val="1100"/>
              <a:buFont typeface="Arial"/>
              <a:buNone/>
            </a:pPr>
            <a:r>
              <a:rPr lang="en" sz="2000">
                <a:solidFill>
                  <a:schemeClr val="dk1"/>
                </a:solidFill>
                <a:latin typeface="Calibri"/>
                <a:ea typeface="Calibri"/>
                <a:cs typeface="Calibri"/>
                <a:sym typeface="Calibri"/>
              </a:rPr>
              <a:t>nc -nvlp 1980 -e /bin/bash</a:t>
            </a:r>
            <a:endParaRPr sz="2000">
              <a:solidFill>
                <a:schemeClr val="dk1"/>
              </a:solidFill>
              <a:latin typeface="Calibri"/>
              <a:ea typeface="Calibri"/>
              <a:cs typeface="Calibri"/>
              <a:sym typeface="Calibri"/>
            </a:endParaRPr>
          </a:p>
          <a:p>
            <a:pPr indent="-355600" lvl="0" marL="457200" rtl="0" algn="l">
              <a:lnSpc>
                <a:spcPct val="90000"/>
              </a:lnSpc>
              <a:spcBef>
                <a:spcPts val="60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On you host box, run </a:t>
            </a:r>
            <a:endParaRPr sz="2000">
              <a:solidFill>
                <a:schemeClr val="dk1"/>
              </a:solidFill>
              <a:latin typeface="Calibri"/>
              <a:ea typeface="Calibri"/>
              <a:cs typeface="Calibri"/>
              <a:sym typeface="Calibri"/>
            </a:endParaRPr>
          </a:p>
          <a:p>
            <a:pPr indent="457200" lvl="0" marL="457200" rtl="0" algn="l">
              <a:lnSpc>
                <a:spcPct val="90000"/>
              </a:lnSpc>
              <a:spcBef>
                <a:spcPts val="600"/>
              </a:spcBef>
              <a:spcAft>
                <a:spcPts val="0"/>
              </a:spcAft>
              <a:buSzPts val="1600"/>
              <a:buNone/>
            </a:pPr>
            <a:r>
              <a:rPr lang="en" sz="2000">
                <a:solidFill>
                  <a:schemeClr val="dk1"/>
                </a:solidFill>
                <a:latin typeface="Calibri"/>
                <a:ea typeface="Calibri"/>
                <a:cs typeface="Calibri"/>
                <a:sym typeface="Calibri"/>
              </a:rPr>
              <a:t>nc &lt;Ops_IP&gt; 1980</a:t>
            </a:r>
            <a:endParaRPr sz="2000">
              <a:solidFill>
                <a:schemeClr val="dk1"/>
              </a:solidFill>
              <a:latin typeface="Calibri"/>
              <a:ea typeface="Calibri"/>
              <a:cs typeface="Calibri"/>
              <a:sym typeface="Calibri"/>
            </a:endParaRPr>
          </a:p>
          <a:p>
            <a:pPr indent="-355600" lvl="0" marL="457200" rtl="0" algn="l">
              <a:lnSpc>
                <a:spcPct val="90000"/>
              </a:lnSpc>
              <a:spcBef>
                <a:spcPts val="60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Run</a:t>
            </a:r>
            <a:endParaRPr sz="2000">
              <a:solidFill>
                <a:schemeClr val="dk1"/>
              </a:solidFill>
              <a:latin typeface="Calibri"/>
              <a:ea typeface="Calibri"/>
              <a:cs typeface="Calibri"/>
              <a:sym typeface="Calibri"/>
            </a:endParaRPr>
          </a:p>
          <a:p>
            <a:pPr indent="0" lvl="0" marL="0" rtl="0" algn="l">
              <a:lnSpc>
                <a:spcPct val="90000"/>
              </a:lnSpc>
              <a:spcBef>
                <a:spcPts val="600"/>
              </a:spcBef>
              <a:spcAft>
                <a:spcPts val="0"/>
              </a:spcAft>
              <a:buClr>
                <a:schemeClr val="dk1"/>
              </a:buClr>
              <a:buSzPts val="1100"/>
              <a:buFont typeface="Arial"/>
              <a:buNone/>
            </a:pPr>
            <a:r>
              <a:rPr lang="en" sz="2000">
                <a:solidFill>
                  <a:schemeClr val="dk1"/>
                </a:solidFill>
                <a:latin typeface="Calibri"/>
                <a:ea typeface="Calibri"/>
                <a:cs typeface="Calibri"/>
                <a:sym typeface="Calibri"/>
              </a:rPr>
              <a:t>		Ifconfig -a</a:t>
            </a:r>
            <a:endParaRPr sz="2000">
              <a:solidFill>
                <a:schemeClr val="dk1"/>
              </a:solidFill>
              <a:latin typeface="Calibri"/>
              <a:ea typeface="Calibri"/>
              <a:cs typeface="Calibri"/>
              <a:sym typeface="Calibri"/>
            </a:endParaRPr>
          </a:p>
          <a:p>
            <a:pPr indent="0" lvl="0" marL="0" rtl="0" algn="l">
              <a:lnSpc>
                <a:spcPct val="90000"/>
              </a:lnSpc>
              <a:spcBef>
                <a:spcPts val="600"/>
              </a:spcBef>
              <a:spcAft>
                <a:spcPts val="0"/>
              </a:spcAft>
              <a:buSzPts val="1600"/>
              <a:buNone/>
            </a:pPr>
            <a:r>
              <a:rPr lang="en" sz="2000">
                <a:solidFill>
                  <a:schemeClr val="dk1"/>
                </a:solidFill>
                <a:latin typeface="Calibri"/>
                <a:ea typeface="Calibri"/>
                <a:cs typeface="Calibri"/>
                <a:sym typeface="Calibri"/>
              </a:rPr>
              <a:t>	and verify it is your Ops box</a:t>
            </a:r>
            <a:endParaRPr sz="2000">
              <a:solidFill>
                <a:schemeClr val="dk1"/>
              </a:solidFill>
              <a:latin typeface="Calibri"/>
              <a:ea typeface="Calibri"/>
              <a:cs typeface="Calibri"/>
              <a:sym typeface="Calibri"/>
            </a:endParaRPr>
          </a:p>
          <a:p>
            <a:pPr indent="0" lvl="0" marL="0" rtl="0" algn="l">
              <a:lnSpc>
                <a:spcPct val="90000"/>
              </a:lnSpc>
              <a:spcBef>
                <a:spcPts val="600"/>
              </a:spcBef>
              <a:spcAft>
                <a:spcPts val="0"/>
              </a:spcAft>
              <a:buSzPts val="1600"/>
              <a:buNone/>
            </a:pPr>
            <a:r>
              <a:t/>
            </a:r>
            <a:endParaRPr sz="2000">
              <a:solidFill>
                <a:schemeClr val="dk1"/>
              </a:solidFill>
              <a:latin typeface="Calibri"/>
              <a:ea typeface="Calibri"/>
              <a:cs typeface="Calibri"/>
              <a:sym typeface="Calibri"/>
            </a:endParaRPr>
          </a:p>
          <a:p>
            <a:pPr indent="-355600" lvl="0" marL="457200" rtl="0" algn="l">
              <a:lnSpc>
                <a:spcPct val="90000"/>
              </a:lnSpc>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-n	Skip all DNS or service lookups on addresses, hostnames or ports</a:t>
            </a:r>
            <a:endParaRPr sz="2000">
              <a:solidFill>
                <a:schemeClr val="dk1"/>
              </a:solidFill>
              <a:latin typeface="Calibri"/>
              <a:ea typeface="Calibri"/>
              <a:cs typeface="Calibri"/>
              <a:sym typeface="Calibri"/>
            </a:endParaRPr>
          </a:p>
          <a:p>
            <a:pPr indent="-355600" lvl="0" marL="457200" rtl="0" algn="l">
              <a:lnSpc>
                <a:spcPct val="90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-v	Give more verbose output</a:t>
            </a:r>
            <a:endParaRPr sz="2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